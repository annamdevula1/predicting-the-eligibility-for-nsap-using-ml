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png" ContentType="image/png"/>
  <Default Extension="jpg" ContentType="image/jp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0058400" cy="7772400"/>
  <p:notesSz cx="10058400" cy="7772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14334" y="2441034"/>
            <a:ext cx="7980045" cy="16040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95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4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95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95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03547" y="1471710"/>
            <a:ext cx="2908935" cy="3238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66064" y="1841963"/>
            <a:ext cx="9072880" cy="29641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jp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ithub.com/Annamdevula1/PREDICTING-THE-ELIGIBILITY-FOR-NSAP-USING-" TargetMode="Externa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jp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jpg"/><Relationship Id="rId3" Type="http://schemas.openxmlformats.org/officeDocument/2006/relationships/image" Target="../media/image9.jpg"/><Relationship Id="rId4" Type="http://schemas.openxmlformats.org/officeDocument/2006/relationships/image" Target="../media/image10.jpg"/><Relationship Id="rId5" Type="http://schemas.openxmlformats.org/officeDocument/2006/relationships/image" Target="../media/image11.jpg"/><Relationship Id="rId6" Type="http://schemas.openxmlformats.org/officeDocument/2006/relationships/image" Target="../media/image12.png"/><Relationship Id="rId7" Type="http://schemas.openxmlformats.org/officeDocument/2006/relationships/image" Target="../media/image13.jpg"/><Relationship Id="rId8" Type="http://schemas.openxmlformats.org/officeDocument/2006/relationships/image" Target="../media/image14.jpg"/><Relationship Id="rId9" Type="http://schemas.openxmlformats.org/officeDocument/2006/relationships/image" Target="../media/image15.jpg"/><Relationship Id="rId10" Type="http://schemas.openxmlformats.org/officeDocument/2006/relationships/image" Target="../media/image16.jpg"/><Relationship Id="rId11" Type="http://schemas.openxmlformats.org/officeDocument/2006/relationships/image" Target="../media/image17.jpg"/><Relationship Id="rId12" Type="http://schemas.openxmlformats.org/officeDocument/2006/relationships/image" Target="../media/image18.jpg"/><Relationship Id="rId13" Type="http://schemas.openxmlformats.org/officeDocument/2006/relationships/image" Target="../media/image19.jp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0.jpg"/><Relationship Id="rId3" Type="http://schemas.openxmlformats.org/officeDocument/2006/relationships/image" Target="../media/image21.jpg"/><Relationship Id="rId4" Type="http://schemas.openxmlformats.org/officeDocument/2006/relationships/image" Target="../media/image22.jpg"/><Relationship Id="rId5" Type="http://schemas.openxmlformats.org/officeDocument/2006/relationships/image" Target="../media/image23.jpg"/><Relationship Id="rId6" Type="http://schemas.openxmlformats.org/officeDocument/2006/relationships/image" Target="../media/image24.jpg"/><Relationship Id="rId7" Type="http://schemas.openxmlformats.org/officeDocument/2006/relationships/image" Target="../media/image25.png"/><Relationship Id="rId8" Type="http://schemas.openxmlformats.org/officeDocument/2006/relationships/image" Target="../media/image26.png"/><Relationship Id="rId9" Type="http://schemas.openxmlformats.org/officeDocument/2006/relationships/image" Target="../media/image27.jpg"/><Relationship Id="rId10" Type="http://schemas.openxmlformats.org/officeDocument/2006/relationships/image" Target="../media/image28.jpg"/><Relationship Id="rId11" Type="http://schemas.openxmlformats.org/officeDocument/2006/relationships/image" Target="../media/image29.png"/><Relationship Id="rId12" Type="http://schemas.openxmlformats.org/officeDocument/2006/relationships/image" Target="../media/image30.png"/><Relationship Id="rId13" Type="http://schemas.openxmlformats.org/officeDocument/2006/relationships/image" Target="../media/image31.jpg"/><Relationship Id="rId14" Type="http://schemas.openxmlformats.org/officeDocument/2006/relationships/image" Target="../media/image32.png"/><Relationship Id="rId15" Type="http://schemas.openxmlformats.org/officeDocument/2006/relationships/image" Target="../media/image33.png"/><Relationship Id="rId16" Type="http://schemas.openxmlformats.org/officeDocument/2006/relationships/image" Target="../media/image34.jpg"/><Relationship Id="rId17" Type="http://schemas.openxmlformats.org/officeDocument/2006/relationships/image" Target="../media/image35.jpg"/><Relationship Id="rId18" Type="http://schemas.openxmlformats.org/officeDocument/2006/relationships/image" Target="../media/image36.jpg"/><Relationship Id="rId19" Type="http://schemas.openxmlformats.org/officeDocument/2006/relationships/image" Target="../media/image37.jpg"/><Relationship Id="rId20" Type="http://schemas.openxmlformats.org/officeDocument/2006/relationships/image" Target="../media/image38.jpg"/><Relationship Id="rId21" Type="http://schemas.openxmlformats.org/officeDocument/2006/relationships/image" Target="../media/image39.jpg"/><Relationship Id="rId22" Type="http://schemas.openxmlformats.org/officeDocument/2006/relationships/image" Target="../media/image40.jpg"/><Relationship Id="rId23" Type="http://schemas.openxmlformats.org/officeDocument/2006/relationships/image" Target="../media/image41.jp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2.jp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3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06045" rIns="0" bIns="0" rtlCol="0" vert="horz">
            <a:spAutoFit/>
          </a:bodyPr>
          <a:lstStyle/>
          <a:p>
            <a:pPr marL="1275715" marR="5080" indent="-1263650">
              <a:lnSpc>
                <a:spcPts val="5890"/>
              </a:lnSpc>
              <a:spcBef>
                <a:spcPts val="835"/>
              </a:spcBef>
            </a:pPr>
            <a:r>
              <a:rPr dirty="0" sz="5450">
                <a:latin typeface="Calibri"/>
                <a:cs typeface="Calibri"/>
              </a:rPr>
              <a:t>IBM</a:t>
            </a:r>
            <a:r>
              <a:rPr dirty="0" sz="5450" spc="-160">
                <a:latin typeface="Calibri"/>
                <a:cs typeface="Calibri"/>
              </a:rPr>
              <a:t> </a:t>
            </a:r>
            <a:r>
              <a:rPr dirty="0" sz="5450" spc="-10">
                <a:latin typeface="Calibri"/>
                <a:cs typeface="Calibri"/>
              </a:rPr>
              <a:t>University</a:t>
            </a:r>
            <a:r>
              <a:rPr dirty="0" sz="5450" spc="-204">
                <a:latin typeface="Calibri"/>
                <a:cs typeface="Calibri"/>
              </a:rPr>
              <a:t> </a:t>
            </a:r>
            <a:r>
              <a:rPr dirty="0" sz="5450" spc="-10">
                <a:latin typeface="Calibri"/>
                <a:cs typeface="Calibri"/>
              </a:rPr>
              <a:t>Engagement </a:t>
            </a:r>
            <a:r>
              <a:rPr dirty="0" sz="5450">
                <a:latin typeface="Calibri"/>
                <a:cs typeface="Calibri"/>
              </a:rPr>
              <a:t>Project</a:t>
            </a:r>
            <a:r>
              <a:rPr dirty="0" sz="5450" spc="-204">
                <a:latin typeface="Calibri"/>
                <a:cs typeface="Calibri"/>
              </a:rPr>
              <a:t> </a:t>
            </a:r>
            <a:r>
              <a:rPr dirty="0" sz="5450" spc="-10">
                <a:latin typeface="Calibri"/>
                <a:cs typeface="Calibri"/>
              </a:rPr>
              <a:t>Submission</a:t>
            </a:r>
            <a:endParaRPr sz="545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17090" y="4348952"/>
            <a:ext cx="7025005" cy="3238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950" b="1" i="1">
                <a:solidFill>
                  <a:srgbClr val="878787"/>
                </a:solidFill>
                <a:latin typeface="Calibri"/>
                <a:cs typeface="Calibri"/>
              </a:rPr>
              <a:t>“Exploring</a:t>
            </a:r>
            <a:r>
              <a:rPr dirty="0" sz="1950" spc="-45" b="1" i="1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950" b="1" i="1">
                <a:solidFill>
                  <a:srgbClr val="878787"/>
                </a:solidFill>
                <a:latin typeface="Calibri"/>
                <a:cs typeface="Calibri"/>
              </a:rPr>
              <a:t>the</a:t>
            </a:r>
            <a:r>
              <a:rPr dirty="0" sz="1950" spc="35" b="1" i="1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950" b="1" i="1">
                <a:solidFill>
                  <a:srgbClr val="878787"/>
                </a:solidFill>
                <a:latin typeface="Calibri"/>
                <a:cs typeface="Calibri"/>
              </a:rPr>
              <a:t>Power</a:t>
            </a:r>
            <a:r>
              <a:rPr dirty="0" sz="1950" spc="10" b="1" i="1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950" b="1" i="1">
                <a:solidFill>
                  <a:srgbClr val="878787"/>
                </a:solidFill>
                <a:latin typeface="Calibri"/>
                <a:cs typeface="Calibri"/>
              </a:rPr>
              <a:t>of</a:t>
            </a:r>
            <a:r>
              <a:rPr dirty="0" sz="1950" spc="-15" b="1" i="1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950" b="1" i="1">
                <a:solidFill>
                  <a:srgbClr val="878787"/>
                </a:solidFill>
                <a:latin typeface="Calibri"/>
                <a:cs typeface="Calibri"/>
              </a:rPr>
              <a:t>Agentic</a:t>
            </a:r>
            <a:r>
              <a:rPr dirty="0" sz="1950" spc="-30" b="1" i="1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950" b="1" i="1">
                <a:solidFill>
                  <a:srgbClr val="878787"/>
                </a:solidFill>
                <a:latin typeface="Calibri"/>
                <a:cs typeface="Calibri"/>
              </a:rPr>
              <a:t>AI</a:t>
            </a:r>
            <a:r>
              <a:rPr dirty="0" sz="1950" spc="5" b="1" i="1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950" b="1" i="1">
                <a:solidFill>
                  <a:srgbClr val="878787"/>
                </a:solidFill>
                <a:latin typeface="Calibri"/>
                <a:cs typeface="Calibri"/>
              </a:rPr>
              <a:t>with</a:t>
            </a:r>
            <a:r>
              <a:rPr dirty="0" sz="1950" spc="20" b="1" i="1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950" b="1" i="1">
                <a:solidFill>
                  <a:srgbClr val="878787"/>
                </a:solidFill>
                <a:latin typeface="Calibri"/>
                <a:cs typeface="Calibri"/>
              </a:rPr>
              <a:t>IBM</a:t>
            </a:r>
            <a:r>
              <a:rPr dirty="0" sz="1950" spc="10" b="1" i="1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950" b="1" i="1">
                <a:solidFill>
                  <a:srgbClr val="878787"/>
                </a:solidFill>
                <a:latin typeface="Calibri"/>
                <a:cs typeface="Calibri"/>
              </a:rPr>
              <a:t>Granite</a:t>
            </a:r>
            <a:r>
              <a:rPr dirty="0" sz="1950" spc="-30" b="1" i="1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950" b="1" i="1">
                <a:solidFill>
                  <a:srgbClr val="878787"/>
                </a:solidFill>
                <a:latin typeface="Calibri"/>
                <a:cs typeface="Calibri"/>
              </a:rPr>
              <a:t>and </a:t>
            </a:r>
            <a:r>
              <a:rPr dirty="0" sz="1950" spc="-10" b="1" i="1">
                <a:solidFill>
                  <a:srgbClr val="878787"/>
                </a:solidFill>
                <a:latin typeface="Calibri"/>
                <a:cs typeface="Calibri"/>
              </a:rPr>
              <a:t>LangFlow”</a:t>
            </a:r>
            <a:endParaRPr sz="19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8324" y="3200400"/>
            <a:ext cx="7760207" cy="1796795"/>
          </a:xfrm>
          <a:prstGeom prst="rect">
            <a:avLst/>
          </a:prstGeom>
        </p:spPr>
      </p:pic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062227" y="3192779"/>
          <a:ext cx="7839709" cy="17849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03705"/>
                <a:gridCol w="2014855"/>
                <a:gridCol w="2016125"/>
                <a:gridCol w="2016124"/>
              </a:tblGrid>
              <a:tr h="8026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L="246379">
                        <a:lnSpc>
                          <a:spcPct val="100000"/>
                        </a:lnSpc>
                      </a:pPr>
                      <a:r>
                        <a:rPr dirty="0" sz="1450">
                          <a:latin typeface="Arial MT"/>
                          <a:cs typeface="Arial MT"/>
                        </a:rPr>
                        <a:t>Student</a:t>
                      </a:r>
                      <a:r>
                        <a:rPr dirty="0" sz="1450" spc="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50" spc="-20">
                          <a:latin typeface="Arial MT"/>
                          <a:cs typeface="Arial MT"/>
                        </a:rPr>
                        <a:t>Name</a:t>
                      </a:r>
                      <a:endParaRPr sz="1450">
                        <a:latin typeface="Arial MT"/>
                        <a:cs typeface="Arial MT"/>
                      </a:endParaRPr>
                    </a:p>
                  </a:txBody>
                  <a:tcPr marL="0" marR="0" marB="0" marT="793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8825" marR="335280" indent="-449580">
                        <a:lnSpc>
                          <a:spcPct val="102800"/>
                        </a:lnSpc>
                        <a:spcBef>
                          <a:spcPts val="1165"/>
                        </a:spcBef>
                      </a:pPr>
                      <a:r>
                        <a:rPr dirty="0" sz="1450">
                          <a:latin typeface="Arial MT"/>
                          <a:cs typeface="Arial MT"/>
                        </a:rPr>
                        <a:t>Recent</a:t>
                      </a:r>
                      <a:r>
                        <a:rPr dirty="0" sz="1450" spc="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50" spc="-20">
                          <a:latin typeface="Arial MT"/>
                          <a:cs typeface="Arial MT"/>
                        </a:rPr>
                        <a:t>Passport </a:t>
                      </a:r>
                      <a:r>
                        <a:rPr dirty="0" sz="1450" spc="-10">
                          <a:latin typeface="Arial MT"/>
                          <a:cs typeface="Arial MT"/>
                        </a:rPr>
                        <a:t>Photo</a:t>
                      </a:r>
                      <a:endParaRPr sz="1450">
                        <a:latin typeface="Arial MT"/>
                        <a:cs typeface="Arial MT"/>
                      </a:endParaRPr>
                    </a:p>
                  </a:txBody>
                  <a:tcPr marL="0" marR="0" marB="0" marT="1479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L="650240">
                        <a:lnSpc>
                          <a:spcPct val="100000"/>
                        </a:lnSpc>
                      </a:pPr>
                      <a:r>
                        <a:rPr dirty="0" sz="1450">
                          <a:latin typeface="Arial MT"/>
                          <a:cs typeface="Arial MT"/>
                        </a:rPr>
                        <a:t>Email</a:t>
                      </a:r>
                      <a:r>
                        <a:rPr dirty="0" sz="1450" spc="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50" spc="-25">
                          <a:latin typeface="Arial MT"/>
                          <a:cs typeface="Arial MT"/>
                        </a:rPr>
                        <a:t>ID</a:t>
                      </a:r>
                      <a:endParaRPr sz="1450">
                        <a:latin typeface="Arial MT"/>
                        <a:cs typeface="Arial MT"/>
                      </a:endParaRPr>
                    </a:p>
                  </a:txBody>
                  <a:tcPr marL="0" marR="0" marB="0" marT="793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16255" marR="407670" indent="-135890">
                        <a:lnSpc>
                          <a:spcPct val="102800"/>
                        </a:lnSpc>
                        <a:spcBef>
                          <a:spcPts val="1165"/>
                        </a:spcBef>
                      </a:pPr>
                      <a:r>
                        <a:rPr dirty="0" sz="1450">
                          <a:latin typeface="Arial MT"/>
                          <a:cs typeface="Arial MT"/>
                        </a:rPr>
                        <a:t>Mobile</a:t>
                      </a:r>
                      <a:r>
                        <a:rPr dirty="0" sz="145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50" spc="-25">
                          <a:latin typeface="Arial MT"/>
                          <a:cs typeface="Arial MT"/>
                        </a:rPr>
                        <a:t>number </a:t>
                      </a:r>
                      <a:r>
                        <a:rPr dirty="0" sz="1450" spc="-10">
                          <a:latin typeface="Arial MT"/>
                          <a:cs typeface="Arial MT"/>
                        </a:rPr>
                        <a:t>[WhatsApp]</a:t>
                      </a:r>
                      <a:endParaRPr sz="1450">
                        <a:latin typeface="Arial MT"/>
                        <a:cs typeface="Arial MT"/>
                      </a:endParaRPr>
                    </a:p>
                  </a:txBody>
                  <a:tcPr marL="0" marR="0" marB="0" marT="1479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982344">
                <a:tc>
                  <a:txBody>
                    <a:bodyPr/>
                    <a:lstStyle/>
                    <a:p>
                      <a:pPr marL="74295" marR="461009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150">
                          <a:latin typeface="Arial MT"/>
                          <a:cs typeface="Arial MT"/>
                        </a:rPr>
                        <a:t>DURGA</a:t>
                      </a:r>
                      <a:r>
                        <a:rPr dirty="0" sz="115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50" spc="-10">
                          <a:latin typeface="Arial MT"/>
                          <a:cs typeface="Arial MT"/>
                        </a:rPr>
                        <a:t>PRASAD ANNAMDEVULA</a:t>
                      </a:r>
                      <a:endParaRPr sz="1150">
                        <a:latin typeface="Arial MT"/>
                        <a:cs typeface="Arial MT"/>
                      </a:endParaRPr>
                    </a:p>
                  </a:txBody>
                  <a:tcPr marL="0" marR="0" marB="0" marT="2920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 marR="11303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150" spc="-20">
                          <a:latin typeface="Arial MT"/>
                          <a:cs typeface="Arial MT"/>
                        </a:rPr>
                        <a:t>annamdevuladurgaprasad88 </a:t>
                      </a:r>
                      <a:r>
                        <a:rPr dirty="0" sz="1150" spc="-10">
                          <a:latin typeface="Arial MT"/>
                          <a:cs typeface="Arial MT"/>
                        </a:rPr>
                        <a:t>@gmail.com</a:t>
                      </a:r>
                      <a:endParaRPr sz="1150">
                        <a:latin typeface="Arial MT"/>
                        <a:cs typeface="Arial MT"/>
                      </a:endParaRPr>
                    </a:p>
                  </a:txBody>
                  <a:tcPr marL="0" marR="0" marB="0" marT="2920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150" spc="-10">
                          <a:latin typeface="Arial MT"/>
                          <a:cs typeface="Arial MT"/>
                        </a:rPr>
                        <a:t>9618762533</a:t>
                      </a:r>
                      <a:endParaRPr sz="1150">
                        <a:latin typeface="Arial MT"/>
                        <a:cs typeface="Arial MT"/>
                      </a:endParaRPr>
                    </a:p>
                    <a:p>
                      <a:pPr marL="74295">
                        <a:lnSpc>
                          <a:spcPct val="100000"/>
                        </a:lnSpc>
                      </a:pPr>
                      <a:r>
                        <a:rPr dirty="0" sz="1150" spc="-10">
                          <a:latin typeface="Arial MT"/>
                          <a:cs typeface="Arial MT"/>
                        </a:rPr>
                        <a:t>9618762533</a:t>
                      </a:r>
                      <a:endParaRPr sz="1150">
                        <a:latin typeface="Arial MT"/>
                        <a:cs typeface="Arial MT"/>
                      </a:endParaRPr>
                    </a:p>
                  </a:txBody>
                  <a:tcPr marL="0" marR="0" marB="0" marT="2920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1058700" y="2277837"/>
            <a:ext cx="2434590" cy="3238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950" b="1">
                <a:latin typeface="Arial"/>
                <a:cs typeface="Arial"/>
              </a:rPr>
              <a:t>Domain</a:t>
            </a:r>
            <a:r>
              <a:rPr dirty="0" sz="1950" spc="-5" b="1">
                <a:latin typeface="Arial"/>
                <a:cs typeface="Arial"/>
              </a:rPr>
              <a:t> </a:t>
            </a:r>
            <a:r>
              <a:rPr dirty="0" sz="1950" b="1">
                <a:latin typeface="Arial"/>
                <a:cs typeface="Arial"/>
              </a:rPr>
              <a:t>of</a:t>
            </a:r>
            <a:r>
              <a:rPr dirty="0" sz="1950" spc="20" b="1">
                <a:latin typeface="Arial"/>
                <a:cs typeface="Arial"/>
              </a:rPr>
              <a:t>  </a:t>
            </a:r>
            <a:r>
              <a:rPr dirty="0" sz="1950" b="1">
                <a:latin typeface="Arial"/>
                <a:cs typeface="Arial"/>
              </a:rPr>
              <a:t>Project</a:t>
            </a:r>
            <a:r>
              <a:rPr dirty="0" sz="1950" spc="-15" b="1">
                <a:latin typeface="Arial"/>
                <a:cs typeface="Arial"/>
              </a:rPr>
              <a:t> </a:t>
            </a:r>
            <a:r>
              <a:rPr dirty="0" sz="1950" spc="-50" b="1">
                <a:latin typeface="Arial"/>
                <a:cs typeface="Arial"/>
              </a:rPr>
              <a:t>–</a:t>
            </a:r>
            <a:endParaRPr sz="19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70732" y="2321051"/>
            <a:ext cx="5628640" cy="281940"/>
          </a:xfrm>
          <a:prstGeom prst="rect">
            <a:avLst/>
          </a:prstGeom>
          <a:solidFill>
            <a:srgbClr val="FFFF00"/>
          </a:solidFill>
        </p:spPr>
        <p:txBody>
          <a:bodyPr wrap="square" lIns="0" tIns="0" rIns="0" bIns="0" rtlCol="0" vert="horz">
            <a:spAutoFit/>
          </a:bodyPr>
          <a:lstStyle/>
          <a:p>
            <a:pPr marL="1270">
              <a:lnSpc>
                <a:spcPts val="2155"/>
              </a:lnSpc>
            </a:pPr>
            <a:r>
              <a:rPr dirty="0" sz="1950" b="1">
                <a:latin typeface="Arial"/>
                <a:cs typeface="Arial"/>
              </a:rPr>
              <a:t>[</a:t>
            </a:r>
            <a:r>
              <a:rPr dirty="0" sz="1950" spc="25" b="1">
                <a:latin typeface="Arial"/>
                <a:cs typeface="Arial"/>
              </a:rPr>
              <a:t> </a:t>
            </a:r>
            <a:r>
              <a:rPr dirty="0" sz="1950" b="1">
                <a:latin typeface="Arial"/>
                <a:cs typeface="Arial"/>
              </a:rPr>
              <a:t>Machine</a:t>
            </a:r>
            <a:r>
              <a:rPr dirty="0" sz="1950" spc="5" b="1">
                <a:latin typeface="Arial"/>
                <a:cs typeface="Arial"/>
              </a:rPr>
              <a:t> </a:t>
            </a:r>
            <a:r>
              <a:rPr dirty="0" sz="1950" b="1">
                <a:latin typeface="Arial"/>
                <a:cs typeface="Arial"/>
              </a:rPr>
              <a:t>Learning</a:t>
            </a:r>
            <a:r>
              <a:rPr dirty="0" sz="1950" spc="-5" b="1">
                <a:latin typeface="Arial"/>
                <a:cs typeface="Arial"/>
              </a:rPr>
              <a:t> </a:t>
            </a:r>
            <a:r>
              <a:rPr dirty="0" sz="1950" b="1">
                <a:latin typeface="Arial"/>
                <a:cs typeface="Arial"/>
              </a:rPr>
              <a:t>/</a:t>
            </a:r>
            <a:r>
              <a:rPr dirty="0" sz="1950" spc="15" b="1">
                <a:latin typeface="Arial"/>
                <a:cs typeface="Arial"/>
              </a:rPr>
              <a:t> </a:t>
            </a:r>
            <a:r>
              <a:rPr dirty="0" sz="1950" b="1">
                <a:latin typeface="Arial"/>
                <a:cs typeface="Arial"/>
              </a:rPr>
              <a:t>Social</a:t>
            </a:r>
            <a:r>
              <a:rPr dirty="0" sz="1950" spc="-35" b="1">
                <a:latin typeface="Arial"/>
                <a:cs typeface="Arial"/>
              </a:rPr>
              <a:t> </a:t>
            </a:r>
            <a:r>
              <a:rPr dirty="0" sz="1950" b="1">
                <a:latin typeface="Arial"/>
                <a:cs typeface="Arial"/>
              </a:rPr>
              <a:t>Welfare</a:t>
            </a:r>
            <a:r>
              <a:rPr dirty="0" sz="1950" spc="25" b="1">
                <a:latin typeface="Arial"/>
                <a:cs typeface="Arial"/>
              </a:rPr>
              <a:t> </a:t>
            </a:r>
            <a:r>
              <a:rPr dirty="0" sz="1950" b="1">
                <a:latin typeface="Arial"/>
                <a:cs typeface="Arial"/>
              </a:rPr>
              <a:t>Analytics</a:t>
            </a:r>
            <a:r>
              <a:rPr dirty="0" sz="1950" spc="30" b="1">
                <a:latin typeface="Arial"/>
                <a:cs typeface="Arial"/>
              </a:rPr>
              <a:t>  </a:t>
            </a:r>
            <a:r>
              <a:rPr dirty="0" sz="1950" spc="-50" b="1">
                <a:latin typeface="Arial"/>
                <a:cs typeface="Arial"/>
              </a:rPr>
              <a:t>]</a:t>
            </a:r>
            <a:endParaRPr sz="19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58700" y="1528112"/>
            <a:ext cx="1577340" cy="3238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950" b="1">
                <a:latin typeface="Arial"/>
                <a:cs typeface="Arial"/>
              </a:rPr>
              <a:t>Project</a:t>
            </a:r>
            <a:r>
              <a:rPr dirty="0" sz="1950" spc="10" b="1">
                <a:latin typeface="Arial"/>
                <a:cs typeface="Arial"/>
              </a:rPr>
              <a:t> </a:t>
            </a:r>
            <a:r>
              <a:rPr dirty="0" sz="1950" b="1">
                <a:latin typeface="Arial"/>
                <a:cs typeface="Arial"/>
              </a:rPr>
              <a:t>Tile</a:t>
            </a:r>
            <a:r>
              <a:rPr dirty="0" sz="1950" spc="5" b="1">
                <a:latin typeface="Arial"/>
                <a:cs typeface="Arial"/>
              </a:rPr>
              <a:t> </a:t>
            </a:r>
            <a:r>
              <a:rPr dirty="0" sz="1950" spc="-50" b="1">
                <a:latin typeface="Arial"/>
                <a:cs typeface="Arial"/>
              </a:rPr>
              <a:t>–</a:t>
            </a:r>
            <a:endParaRPr sz="19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705100" y="1571244"/>
            <a:ext cx="5652770" cy="281940"/>
          </a:xfrm>
          <a:prstGeom prst="rect">
            <a:avLst/>
          </a:prstGeom>
          <a:solidFill>
            <a:srgbClr val="FFFF00"/>
          </a:solidFill>
        </p:spPr>
        <p:txBody>
          <a:bodyPr wrap="square" lIns="0" tIns="0" rIns="0" bIns="0" rtlCol="0" vert="horz">
            <a:spAutoFit/>
          </a:bodyPr>
          <a:lstStyle/>
          <a:p>
            <a:pPr marL="1270">
              <a:lnSpc>
                <a:spcPts val="2155"/>
              </a:lnSpc>
            </a:pPr>
            <a:r>
              <a:rPr dirty="0" sz="1950" b="1">
                <a:latin typeface="Arial"/>
                <a:cs typeface="Arial"/>
              </a:rPr>
              <a:t>[Predicting</a:t>
            </a:r>
            <a:r>
              <a:rPr dirty="0" sz="1950" spc="-30" b="1">
                <a:latin typeface="Arial"/>
                <a:cs typeface="Arial"/>
              </a:rPr>
              <a:t> </a:t>
            </a:r>
            <a:r>
              <a:rPr dirty="0" sz="1950" b="1">
                <a:latin typeface="Arial"/>
                <a:cs typeface="Arial"/>
              </a:rPr>
              <a:t>Eligibility</a:t>
            </a:r>
            <a:r>
              <a:rPr dirty="0" sz="1950" spc="-15" b="1">
                <a:latin typeface="Arial"/>
                <a:cs typeface="Arial"/>
              </a:rPr>
              <a:t> </a:t>
            </a:r>
            <a:r>
              <a:rPr dirty="0" sz="1950" b="1">
                <a:latin typeface="Arial"/>
                <a:cs typeface="Arial"/>
              </a:rPr>
              <a:t>For</a:t>
            </a:r>
            <a:r>
              <a:rPr dirty="0" sz="1950" spc="15" b="1">
                <a:latin typeface="Arial"/>
                <a:cs typeface="Arial"/>
              </a:rPr>
              <a:t> </a:t>
            </a:r>
            <a:r>
              <a:rPr dirty="0" sz="1950" b="1">
                <a:latin typeface="Arial"/>
                <a:cs typeface="Arial"/>
              </a:rPr>
              <a:t>NSAP</a:t>
            </a:r>
            <a:r>
              <a:rPr dirty="0" sz="1950" spc="45" b="1">
                <a:latin typeface="Arial"/>
                <a:cs typeface="Arial"/>
              </a:rPr>
              <a:t> </a:t>
            </a:r>
            <a:r>
              <a:rPr dirty="0" sz="1950" b="1">
                <a:latin typeface="Arial"/>
                <a:cs typeface="Arial"/>
              </a:rPr>
              <a:t>Using</a:t>
            </a:r>
            <a:r>
              <a:rPr dirty="0" sz="1950" spc="-10" b="1">
                <a:latin typeface="Arial"/>
                <a:cs typeface="Arial"/>
              </a:rPr>
              <a:t> Machine</a:t>
            </a:r>
            <a:endParaRPr sz="19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71372" y="1872995"/>
            <a:ext cx="1149350" cy="281940"/>
          </a:xfrm>
          <a:prstGeom prst="rect">
            <a:avLst/>
          </a:prstGeom>
          <a:solidFill>
            <a:srgbClr val="FFFF00"/>
          </a:solidFill>
        </p:spPr>
        <p:txBody>
          <a:bodyPr wrap="square" lIns="0" tIns="0" rIns="0" bIns="0" rtlCol="0" vert="horz">
            <a:spAutoFit/>
          </a:bodyPr>
          <a:lstStyle/>
          <a:p>
            <a:pPr marL="1270">
              <a:lnSpc>
                <a:spcPts val="2155"/>
              </a:lnSpc>
            </a:pPr>
            <a:r>
              <a:rPr dirty="0" sz="1950" spc="-10" b="1">
                <a:latin typeface="Arial"/>
                <a:cs typeface="Arial"/>
              </a:rPr>
              <a:t>Learning]</a:t>
            </a:r>
            <a:endParaRPr sz="1950">
              <a:latin typeface="Arial"/>
              <a:cs typeface="Arial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00044" y="4037076"/>
            <a:ext cx="646175" cy="95402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440" y="2093491"/>
            <a:ext cx="8498840" cy="36868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b="1">
                <a:latin typeface="Arial"/>
                <a:cs typeface="Arial"/>
              </a:rPr>
              <a:t>Problem</a:t>
            </a:r>
            <a:r>
              <a:rPr dirty="0" sz="1150" spc="-20" b="1">
                <a:latin typeface="Arial"/>
                <a:cs typeface="Arial"/>
              </a:rPr>
              <a:t> </a:t>
            </a:r>
            <a:r>
              <a:rPr dirty="0" sz="1150" spc="-10" b="1">
                <a:latin typeface="Arial"/>
                <a:cs typeface="Arial"/>
              </a:rPr>
              <a:t>Statement</a:t>
            </a:r>
            <a:r>
              <a:rPr dirty="0" sz="1150" spc="-25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:</a:t>
            </a:r>
            <a:r>
              <a:rPr dirty="0" sz="1150" spc="-20" b="1">
                <a:latin typeface="Arial"/>
                <a:cs typeface="Arial"/>
              </a:rPr>
              <a:t> </a:t>
            </a:r>
            <a:r>
              <a:rPr dirty="0" sz="1150" spc="-10" b="1">
                <a:latin typeface="Arial"/>
                <a:cs typeface="Arial"/>
              </a:rPr>
              <a:t>Predicting</a:t>
            </a:r>
            <a:r>
              <a:rPr dirty="0" sz="1150" spc="-45" b="1">
                <a:latin typeface="Arial"/>
                <a:cs typeface="Arial"/>
              </a:rPr>
              <a:t> </a:t>
            </a:r>
            <a:r>
              <a:rPr dirty="0" sz="1150" spc="-10" b="1">
                <a:latin typeface="Arial"/>
                <a:cs typeface="Arial"/>
              </a:rPr>
              <a:t>Eligibility</a:t>
            </a:r>
            <a:r>
              <a:rPr dirty="0" sz="1150" spc="-75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For</a:t>
            </a:r>
            <a:r>
              <a:rPr dirty="0" sz="1150" spc="-50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NSAP</a:t>
            </a:r>
            <a:r>
              <a:rPr dirty="0" sz="1150" spc="15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Using</a:t>
            </a:r>
            <a:r>
              <a:rPr dirty="0" sz="1150" spc="-35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Machine</a:t>
            </a:r>
            <a:r>
              <a:rPr dirty="0" sz="1150" spc="-15" b="1">
                <a:latin typeface="Arial"/>
                <a:cs typeface="Arial"/>
              </a:rPr>
              <a:t> </a:t>
            </a:r>
            <a:r>
              <a:rPr dirty="0" sz="1150" spc="-10" b="1">
                <a:latin typeface="Arial"/>
                <a:cs typeface="Arial"/>
              </a:rPr>
              <a:t>Learning.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65"/>
              </a:spcBef>
            </a:pPr>
            <a:endParaRPr sz="1150">
              <a:latin typeface="Arial"/>
              <a:cs typeface="Arial"/>
            </a:endParaRPr>
          </a:p>
          <a:p>
            <a:pPr marL="12700">
              <a:lnSpc>
                <a:spcPts val="1345"/>
              </a:lnSpc>
            </a:pPr>
            <a:r>
              <a:rPr dirty="0" sz="1150" b="1">
                <a:latin typeface="Arial"/>
                <a:cs typeface="Arial"/>
              </a:rPr>
              <a:t>The</a:t>
            </a:r>
            <a:r>
              <a:rPr dirty="0" sz="1150" spc="-30" b="1">
                <a:latin typeface="Arial"/>
                <a:cs typeface="Arial"/>
              </a:rPr>
              <a:t> </a:t>
            </a:r>
            <a:r>
              <a:rPr dirty="0" sz="1150" spc="-10" b="1">
                <a:latin typeface="Arial"/>
                <a:cs typeface="Arial"/>
              </a:rPr>
              <a:t>Challenge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ts val="1345"/>
              </a:lnSpc>
            </a:pPr>
            <a:r>
              <a:rPr dirty="0" sz="1150">
                <a:latin typeface="Arial MT"/>
                <a:cs typeface="Arial MT"/>
              </a:rPr>
              <a:t>The</a:t>
            </a:r>
            <a:r>
              <a:rPr dirty="0" sz="1150" spc="-8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National</a:t>
            </a:r>
            <a:r>
              <a:rPr dirty="0" sz="1150" spc="-3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Social</a:t>
            </a:r>
            <a:r>
              <a:rPr dirty="0" sz="1150" spc="-6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Assistance</a:t>
            </a:r>
            <a:r>
              <a:rPr dirty="0" sz="1150" spc="-40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Programme</a:t>
            </a:r>
            <a:r>
              <a:rPr dirty="0" sz="1150" spc="-10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(NSAP)</a:t>
            </a:r>
            <a:r>
              <a:rPr dirty="0" sz="1150" spc="-5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provides financial</a:t>
            </a:r>
            <a:r>
              <a:rPr dirty="0" sz="1150" spc="-6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assistance</a:t>
            </a:r>
            <a:r>
              <a:rPr dirty="0" sz="1150" spc="-4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to</a:t>
            </a:r>
            <a:r>
              <a:rPr dirty="0" sz="1150" spc="-6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elderly</a:t>
            </a:r>
            <a:r>
              <a:rPr dirty="0" sz="1150" spc="-3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persons,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widows,</a:t>
            </a:r>
            <a:r>
              <a:rPr dirty="0" sz="1150" spc="5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and</a:t>
            </a:r>
            <a:r>
              <a:rPr dirty="0" sz="1150" spc="-5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persons</a:t>
            </a:r>
            <a:r>
              <a:rPr dirty="0" sz="1150" spc="-35">
                <a:latin typeface="Arial MT"/>
                <a:cs typeface="Arial MT"/>
              </a:rPr>
              <a:t> </a:t>
            </a:r>
            <a:r>
              <a:rPr dirty="0" sz="1150" spc="-20">
                <a:latin typeface="Arial MT"/>
                <a:cs typeface="Arial MT"/>
              </a:rPr>
              <a:t>with</a:t>
            </a:r>
            <a:endParaRPr sz="11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1150">
                <a:latin typeface="Arial MT"/>
                <a:cs typeface="Arial MT"/>
              </a:rPr>
              <a:t>disabilities</a:t>
            </a:r>
            <a:r>
              <a:rPr dirty="0" sz="1150" spc="-3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belonging</a:t>
            </a:r>
            <a:r>
              <a:rPr dirty="0" sz="1150" spc="-1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to</a:t>
            </a:r>
            <a:r>
              <a:rPr dirty="0" sz="1150" spc="-8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Below</a:t>
            </a:r>
            <a:r>
              <a:rPr dirty="0" sz="1150" spc="-3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Poverty</a:t>
            </a:r>
            <a:r>
              <a:rPr dirty="0" sz="1150" spc="-4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Line</a:t>
            </a:r>
            <a:r>
              <a:rPr dirty="0" sz="1150" spc="-5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(BPL)</a:t>
            </a:r>
            <a:r>
              <a:rPr dirty="0" sz="1150" spc="-45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households.</a:t>
            </a:r>
            <a:endParaRPr sz="115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</a:pPr>
            <a:r>
              <a:rPr dirty="0" sz="1150">
                <a:latin typeface="Arial MT"/>
                <a:cs typeface="Arial MT"/>
              </a:rPr>
              <a:t>The</a:t>
            </a:r>
            <a:r>
              <a:rPr dirty="0" sz="1150" spc="-8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current</a:t>
            </a:r>
            <a:r>
              <a:rPr dirty="0" sz="1150" spc="-1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process</a:t>
            </a:r>
            <a:r>
              <a:rPr dirty="0" sz="1150" spc="-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of</a:t>
            </a:r>
            <a:r>
              <a:rPr dirty="0" sz="1150" spc="-2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Data</a:t>
            </a:r>
            <a:r>
              <a:rPr dirty="0" sz="1150" spc="-4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Analysis</a:t>
            </a:r>
            <a:r>
              <a:rPr dirty="0" sz="1150" spc="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f</a:t>
            </a:r>
            <a:r>
              <a:rPr dirty="0" sz="1150" spc="-3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verifying</a:t>
            </a:r>
            <a:r>
              <a:rPr dirty="0" sz="1150" spc="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applications</a:t>
            </a:r>
            <a:r>
              <a:rPr dirty="0" sz="1150" spc="-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and</a:t>
            </a:r>
            <a:r>
              <a:rPr dirty="0" sz="1150" spc="-4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assigning</a:t>
            </a:r>
            <a:r>
              <a:rPr dirty="0" sz="1150" spc="-3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the</a:t>
            </a:r>
            <a:r>
              <a:rPr dirty="0" sz="1150" spc="-4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correct</a:t>
            </a:r>
            <a:r>
              <a:rPr dirty="0" sz="1150" spc="-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welfare</a:t>
            </a:r>
            <a:r>
              <a:rPr dirty="0" sz="1150" spc="-2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scheme</a:t>
            </a:r>
            <a:r>
              <a:rPr dirty="0" sz="1150" spc="-8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is</a:t>
            </a:r>
            <a:r>
              <a:rPr dirty="0" sz="1150" spc="-40">
                <a:latin typeface="Arial MT"/>
                <a:cs typeface="Arial MT"/>
              </a:rPr>
              <a:t> </a:t>
            </a:r>
            <a:r>
              <a:rPr dirty="0" sz="1150" spc="-20">
                <a:latin typeface="Arial MT"/>
                <a:cs typeface="Arial MT"/>
              </a:rPr>
              <a:t>time-</a:t>
            </a:r>
            <a:r>
              <a:rPr dirty="0" sz="1150" spc="-10">
                <a:latin typeface="Arial MT"/>
                <a:cs typeface="Arial MT"/>
              </a:rPr>
              <a:t>consuming</a:t>
            </a:r>
            <a:r>
              <a:rPr dirty="0" sz="1150" spc="-7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and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prone </a:t>
            </a:r>
            <a:r>
              <a:rPr dirty="0" sz="1150">
                <a:latin typeface="Arial MT"/>
                <a:cs typeface="Arial MT"/>
              </a:rPr>
              <a:t>to</a:t>
            </a:r>
            <a:r>
              <a:rPr dirty="0" sz="1150" spc="-8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errors.</a:t>
            </a:r>
            <a:r>
              <a:rPr dirty="0" sz="1150" spc="-5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Incorrect</a:t>
            </a:r>
            <a:r>
              <a:rPr dirty="0" sz="1150" spc="-3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classification</a:t>
            </a:r>
            <a:r>
              <a:rPr dirty="0" sz="1150" spc="-6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can</a:t>
            </a:r>
            <a:r>
              <a:rPr dirty="0" sz="1150" spc="-6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delay</a:t>
            </a:r>
            <a:r>
              <a:rPr dirty="0" sz="1150" spc="-5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or</a:t>
            </a:r>
            <a:r>
              <a:rPr dirty="0" sz="1150" spc="-5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prevent</a:t>
            </a:r>
            <a:r>
              <a:rPr dirty="0" sz="1150" spc="-3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deserving</a:t>
            </a:r>
            <a:r>
              <a:rPr dirty="0" sz="1150" spc="-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beneficiaries</a:t>
            </a:r>
            <a:r>
              <a:rPr dirty="0" sz="1150" spc="-4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from</a:t>
            </a:r>
            <a:r>
              <a:rPr dirty="0" sz="1150" spc="-8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receiving</a:t>
            </a:r>
            <a:r>
              <a:rPr dirty="0" sz="1150" spc="-30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assistance.</a:t>
            </a:r>
            <a:endParaRPr sz="11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150" b="1">
                <a:latin typeface="Arial"/>
                <a:cs typeface="Arial"/>
              </a:rPr>
              <a:t>The</a:t>
            </a:r>
            <a:r>
              <a:rPr dirty="0" sz="1150" spc="-20" b="1">
                <a:latin typeface="Arial"/>
                <a:cs typeface="Arial"/>
              </a:rPr>
              <a:t> </a:t>
            </a:r>
            <a:r>
              <a:rPr dirty="0" sz="1150" spc="-10" b="1">
                <a:latin typeface="Arial"/>
                <a:cs typeface="Arial"/>
              </a:rPr>
              <a:t>Objective</a:t>
            </a:r>
            <a:endParaRPr sz="1150">
              <a:latin typeface="Arial"/>
              <a:cs typeface="Arial"/>
            </a:endParaRPr>
          </a:p>
          <a:p>
            <a:pPr marL="12700" marR="130810">
              <a:lnSpc>
                <a:spcPct val="100000"/>
              </a:lnSpc>
            </a:pPr>
            <a:r>
              <a:rPr dirty="0" sz="1150">
                <a:latin typeface="Arial MT"/>
                <a:cs typeface="Arial MT"/>
              </a:rPr>
              <a:t>Build</a:t>
            </a:r>
            <a:r>
              <a:rPr dirty="0" sz="1150" spc="-3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</a:t>
            </a:r>
            <a:r>
              <a:rPr dirty="0" sz="1150" spc="-5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Machine </a:t>
            </a:r>
            <a:r>
              <a:rPr dirty="0" sz="1150" spc="-25">
                <a:latin typeface="Arial MT"/>
                <a:cs typeface="Arial MT"/>
              </a:rPr>
              <a:t>Learning-</a:t>
            </a:r>
            <a:r>
              <a:rPr dirty="0" sz="1150">
                <a:latin typeface="Arial MT"/>
                <a:cs typeface="Arial MT"/>
              </a:rPr>
              <a:t>based</a:t>
            </a:r>
            <a:r>
              <a:rPr dirty="0" sz="1150" spc="3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system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that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predicts</a:t>
            </a:r>
            <a:r>
              <a:rPr dirty="0" sz="1150" spc="-1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the</a:t>
            </a:r>
            <a:r>
              <a:rPr dirty="0" sz="1150" spc="-4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most</a:t>
            </a:r>
            <a:r>
              <a:rPr dirty="0" sz="1150" spc="-6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appropriate</a:t>
            </a:r>
            <a:r>
              <a:rPr dirty="0" sz="1150" spc="-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NSAP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scheme</a:t>
            </a:r>
            <a:r>
              <a:rPr dirty="0" sz="1150" spc="-7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for</a:t>
            </a:r>
            <a:r>
              <a:rPr dirty="0" sz="1150" spc="-4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an</a:t>
            </a:r>
            <a:r>
              <a:rPr dirty="0" sz="1150" spc="-3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applicant</a:t>
            </a:r>
            <a:r>
              <a:rPr dirty="0" sz="1150" spc="-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using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demographic</a:t>
            </a:r>
            <a:r>
              <a:rPr dirty="0" sz="1150" spc="-45">
                <a:latin typeface="Arial MT"/>
                <a:cs typeface="Arial MT"/>
              </a:rPr>
              <a:t> </a:t>
            </a:r>
            <a:r>
              <a:rPr dirty="0" sz="1150" spc="-25">
                <a:latin typeface="Arial MT"/>
                <a:cs typeface="Arial MT"/>
              </a:rPr>
              <a:t>and socio-</a:t>
            </a:r>
            <a:r>
              <a:rPr dirty="0" sz="1150">
                <a:latin typeface="Arial MT"/>
                <a:cs typeface="Arial MT"/>
              </a:rPr>
              <a:t>economic</a:t>
            </a:r>
            <a:r>
              <a:rPr dirty="0" sz="1150" spc="65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information.</a:t>
            </a:r>
            <a:endParaRPr sz="1150">
              <a:latin typeface="Arial MT"/>
              <a:cs typeface="Arial MT"/>
            </a:endParaRPr>
          </a:p>
          <a:p>
            <a:pPr marL="12700">
              <a:lnSpc>
                <a:spcPts val="1375"/>
              </a:lnSpc>
            </a:pPr>
            <a:r>
              <a:rPr dirty="0" sz="1150">
                <a:latin typeface="Arial MT"/>
                <a:cs typeface="Arial MT"/>
              </a:rPr>
              <a:t>The</a:t>
            </a:r>
            <a:r>
              <a:rPr dirty="0" sz="1150" spc="-5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solution</a:t>
            </a:r>
            <a:r>
              <a:rPr dirty="0" sz="1150" spc="-30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should:</a:t>
            </a:r>
            <a:endParaRPr sz="1150">
              <a:latin typeface="Arial MT"/>
              <a:cs typeface="Arial MT"/>
            </a:endParaRPr>
          </a:p>
          <a:p>
            <a:pPr marL="104139" indent="-91440">
              <a:lnSpc>
                <a:spcPts val="1735"/>
              </a:lnSpc>
              <a:buSzPct val="79310"/>
              <a:buChar char="•"/>
              <a:tabLst>
                <a:tab pos="104139" algn="l"/>
              </a:tabLst>
            </a:pPr>
            <a:r>
              <a:rPr dirty="0" sz="1450">
                <a:latin typeface="Arial MT"/>
                <a:cs typeface="Arial MT"/>
              </a:rPr>
              <a:t>Applicant</a:t>
            </a:r>
            <a:r>
              <a:rPr dirty="0" sz="1450" spc="-15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Classification</a:t>
            </a:r>
            <a:r>
              <a:rPr dirty="0" sz="1450" spc="-5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–</a:t>
            </a:r>
            <a:r>
              <a:rPr dirty="0" sz="1150" spc="-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Classify</a:t>
            </a:r>
            <a:r>
              <a:rPr dirty="0" sz="1150" spc="1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applicants</a:t>
            </a:r>
            <a:r>
              <a:rPr dirty="0" sz="1150" spc="5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into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the</a:t>
            </a:r>
            <a:r>
              <a:rPr dirty="0" sz="1150" spc="-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correct</a:t>
            </a:r>
            <a:r>
              <a:rPr dirty="0" sz="1150" spc="3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NSAP</a:t>
            </a:r>
            <a:r>
              <a:rPr dirty="0" sz="1150" spc="-10">
                <a:latin typeface="Arial MT"/>
                <a:cs typeface="Arial MT"/>
              </a:rPr>
              <a:t> scheme.</a:t>
            </a:r>
            <a:endParaRPr sz="1150">
              <a:latin typeface="Arial MT"/>
              <a:cs typeface="Arial MT"/>
            </a:endParaRPr>
          </a:p>
          <a:p>
            <a:pPr marL="104139" indent="-91440">
              <a:lnSpc>
                <a:spcPct val="100000"/>
              </a:lnSpc>
              <a:buSzPct val="79310"/>
              <a:buChar char="•"/>
              <a:tabLst>
                <a:tab pos="104139" algn="l"/>
              </a:tabLst>
            </a:pPr>
            <a:r>
              <a:rPr dirty="0" sz="1450">
                <a:latin typeface="Arial MT"/>
                <a:cs typeface="Arial MT"/>
              </a:rPr>
              <a:t>Eligibility</a:t>
            </a:r>
            <a:r>
              <a:rPr dirty="0" sz="1450" spc="-6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Prediction</a:t>
            </a:r>
            <a:r>
              <a:rPr dirty="0" sz="1450" spc="-6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–</a:t>
            </a:r>
            <a:r>
              <a:rPr dirty="0" sz="1150" spc="-4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Predict</a:t>
            </a:r>
            <a:r>
              <a:rPr dirty="0" sz="1150" spc="-1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eligibility</a:t>
            </a:r>
            <a:r>
              <a:rPr dirty="0" sz="1150" spc="-1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based</a:t>
            </a:r>
            <a:r>
              <a:rPr dirty="0" sz="1150" spc="-3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on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age,</a:t>
            </a:r>
            <a:r>
              <a:rPr dirty="0" sz="1150" spc="-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gender,</a:t>
            </a:r>
            <a:r>
              <a:rPr dirty="0" sz="1150" spc="-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disability</a:t>
            </a:r>
            <a:r>
              <a:rPr dirty="0" sz="1150" spc="-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status,</a:t>
            </a:r>
            <a:r>
              <a:rPr dirty="0" sz="1150" spc="-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income,</a:t>
            </a:r>
            <a:r>
              <a:rPr dirty="0" sz="1150" spc="-3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and</a:t>
            </a:r>
            <a:r>
              <a:rPr dirty="0" sz="1150" spc="-4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other</a:t>
            </a:r>
            <a:r>
              <a:rPr dirty="0" sz="1150" spc="-10">
                <a:latin typeface="Arial MT"/>
                <a:cs typeface="Arial MT"/>
              </a:rPr>
              <a:t> </a:t>
            </a:r>
            <a:r>
              <a:rPr dirty="0" sz="1150" spc="-25">
                <a:latin typeface="Arial MT"/>
                <a:cs typeface="Arial MT"/>
              </a:rPr>
              <a:t>socio-</a:t>
            </a:r>
            <a:r>
              <a:rPr dirty="0" sz="1150">
                <a:latin typeface="Arial MT"/>
                <a:cs typeface="Arial MT"/>
              </a:rPr>
              <a:t>economic</a:t>
            </a:r>
            <a:r>
              <a:rPr dirty="0" sz="1150" spc="-15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factors.</a:t>
            </a:r>
            <a:endParaRPr sz="1150">
              <a:latin typeface="Arial MT"/>
              <a:cs typeface="Arial MT"/>
            </a:endParaRPr>
          </a:p>
          <a:p>
            <a:pPr marL="104139" indent="-91440">
              <a:lnSpc>
                <a:spcPct val="100000"/>
              </a:lnSpc>
              <a:buSzPct val="79310"/>
              <a:buChar char="•"/>
              <a:tabLst>
                <a:tab pos="104139" algn="l"/>
              </a:tabLst>
            </a:pPr>
            <a:r>
              <a:rPr dirty="0" sz="1450">
                <a:latin typeface="Arial MT"/>
                <a:cs typeface="Arial MT"/>
              </a:rPr>
              <a:t>Data</a:t>
            </a:r>
            <a:r>
              <a:rPr dirty="0" sz="1450" spc="-5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Analysis</a:t>
            </a:r>
            <a:r>
              <a:rPr dirty="0" sz="1150">
                <a:latin typeface="Arial MT"/>
                <a:cs typeface="Arial MT"/>
              </a:rPr>
              <a:t>–</a:t>
            </a:r>
            <a:r>
              <a:rPr dirty="0" sz="1150" spc="-3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Analyze</a:t>
            </a:r>
            <a:r>
              <a:rPr dirty="0" sz="1150" spc="3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beneficiary</a:t>
            </a:r>
            <a:r>
              <a:rPr dirty="0" sz="1150" spc="-3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data</a:t>
            </a:r>
            <a:r>
              <a:rPr dirty="0" sz="1150" spc="-5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and</a:t>
            </a:r>
            <a:r>
              <a:rPr dirty="0" sz="1150" spc="-2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identify</a:t>
            </a:r>
            <a:r>
              <a:rPr dirty="0" sz="1150" spc="-3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patterns</a:t>
            </a:r>
            <a:r>
              <a:rPr dirty="0" sz="1150" spc="-3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in</a:t>
            </a:r>
            <a:r>
              <a:rPr dirty="0" sz="1150" spc="-5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scheme</a:t>
            </a:r>
            <a:r>
              <a:rPr dirty="0" sz="1150" spc="-80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allocation.</a:t>
            </a:r>
            <a:endParaRPr sz="1150">
              <a:latin typeface="Arial MT"/>
              <a:cs typeface="Arial MT"/>
            </a:endParaRPr>
          </a:p>
          <a:p>
            <a:pPr marL="104139" indent="-91440">
              <a:lnSpc>
                <a:spcPts val="1700"/>
              </a:lnSpc>
              <a:buSzPct val="79310"/>
              <a:buChar char="•"/>
              <a:tabLst>
                <a:tab pos="104139" algn="l"/>
              </a:tabLst>
            </a:pPr>
            <a:r>
              <a:rPr dirty="0" sz="1450">
                <a:latin typeface="Arial MT"/>
                <a:cs typeface="Arial MT"/>
              </a:rPr>
              <a:t>Automated</a:t>
            </a:r>
            <a:r>
              <a:rPr dirty="0" sz="1450" spc="-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Decision</a:t>
            </a:r>
            <a:r>
              <a:rPr dirty="0" sz="1450" spc="-7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Support</a:t>
            </a:r>
            <a:r>
              <a:rPr dirty="0" sz="1450" spc="-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–</a:t>
            </a:r>
            <a:r>
              <a:rPr dirty="0" sz="1150" spc="-4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Assist</a:t>
            </a:r>
            <a:r>
              <a:rPr dirty="0" sz="1150" spc="-1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government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agencies</a:t>
            </a:r>
            <a:r>
              <a:rPr dirty="0" sz="1150" spc="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in</a:t>
            </a:r>
            <a:r>
              <a:rPr dirty="0" sz="1150" spc="-2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reducing</a:t>
            </a:r>
            <a:r>
              <a:rPr dirty="0" sz="1150" spc="-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manual</a:t>
            </a:r>
            <a:r>
              <a:rPr dirty="0" sz="1150" spc="-6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verification</a:t>
            </a:r>
            <a:r>
              <a:rPr dirty="0" sz="1150" spc="5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efforts.</a:t>
            </a:r>
            <a:endParaRPr sz="1150">
              <a:latin typeface="Arial MT"/>
              <a:cs typeface="Arial MT"/>
            </a:endParaRPr>
          </a:p>
          <a:p>
            <a:pPr marL="12700" marR="608965" indent="91440">
              <a:lnSpc>
                <a:spcPts val="1490"/>
              </a:lnSpc>
              <a:spcBef>
                <a:spcPts val="215"/>
              </a:spcBef>
              <a:buSzPct val="79310"/>
              <a:buChar char="•"/>
              <a:tabLst>
                <a:tab pos="104139" algn="l"/>
              </a:tabLst>
            </a:pPr>
            <a:r>
              <a:rPr dirty="0" sz="1450" spc="-10">
                <a:latin typeface="Arial MT"/>
                <a:cs typeface="Arial MT"/>
              </a:rPr>
              <a:t>Multi-</a:t>
            </a:r>
            <a:r>
              <a:rPr dirty="0" sz="1450">
                <a:latin typeface="Arial MT"/>
                <a:cs typeface="Arial MT"/>
              </a:rPr>
              <a:t>Class</a:t>
            </a:r>
            <a:r>
              <a:rPr dirty="0" sz="1450" spc="-4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Classification</a:t>
            </a:r>
            <a:r>
              <a:rPr dirty="0" sz="1450" spc="-5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Model</a:t>
            </a:r>
            <a:r>
              <a:rPr dirty="0" sz="1450" spc="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–</a:t>
            </a:r>
            <a:r>
              <a:rPr dirty="0" sz="1150" spc="-3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Use</a:t>
            </a:r>
            <a:r>
              <a:rPr dirty="0" sz="1150" spc="-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ML</a:t>
            </a:r>
            <a:r>
              <a:rPr dirty="0" sz="1150" spc="-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algorithms</a:t>
            </a:r>
            <a:r>
              <a:rPr dirty="0" sz="1150" spc="-4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such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as</a:t>
            </a:r>
            <a:r>
              <a:rPr dirty="0" sz="1150" spc="-1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Linear</a:t>
            </a:r>
            <a:r>
              <a:rPr dirty="0" sz="1150" spc="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Regression,</a:t>
            </a:r>
            <a:r>
              <a:rPr dirty="0" sz="1150" spc="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Ridge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Regression</a:t>
            </a:r>
            <a:r>
              <a:rPr dirty="0" sz="1150" spc="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for</a:t>
            </a:r>
            <a:r>
              <a:rPr dirty="0" sz="1150" spc="-55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scheme prediction.</a:t>
            </a:r>
            <a:endParaRPr sz="1150">
              <a:latin typeface="Arial MT"/>
              <a:cs typeface="Arial MT"/>
            </a:endParaRPr>
          </a:p>
          <a:p>
            <a:pPr marL="104139" indent="-91440">
              <a:lnSpc>
                <a:spcPct val="100000"/>
              </a:lnSpc>
              <a:spcBef>
                <a:spcPts val="5"/>
              </a:spcBef>
              <a:buSzPct val="79310"/>
              <a:buChar char="•"/>
              <a:tabLst>
                <a:tab pos="104139" algn="l"/>
              </a:tabLst>
            </a:pPr>
            <a:r>
              <a:rPr dirty="0" sz="1450">
                <a:latin typeface="Arial MT"/>
                <a:cs typeface="Arial MT"/>
              </a:rPr>
              <a:t>Performance</a:t>
            </a:r>
            <a:r>
              <a:rPr dirty="0" sz="1450" spc="-4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Evaluation</a:t>
            </a:r>
            <a:r>
              <a:rPr dirty="0" sz="1450" spc="-1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–</a:t>
            </a:r>
            <a:r>
              <a:rPr dirty="0" sz="1150" spc="-6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Evaluate</a:t>
            </a:r>
            <a:r>
              <a:rPr dirty="0" sz="1150" spc="-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model</a:t>
            </a:r>
            <a:r>
              <a:rPr dirty="0" sz="1150" spc="-7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Mean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absolute</a:t>
            </a:r>
            <a:r>
              <a:rPr dirty="0" sz="1150" spc="-3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error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(MAE),</a:t>
            </a:r>
            <a:r>
              <a:rPr dirty="0" sz="1150" spc="-1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MSE,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RMSE.</a:t>
            </a:r>
            <a:endParaRPr sz="1150">
              <a:latin typeface="Arial MT"/>
              <a:cs typeface="Arial MT"/>
            </a:endParaRPr>
          </a:p>
          <a:p>
            <a:pPr marL="104139" indent="-91440">
              <a:lnSpc>
                <a:spcPct val="100000"/>
              </a:lnSpc>
              <a:buSzPct val="79310"/>
              <a:buChar char="•"/>
              <a:tabLst>
                <a:tab pos="104139" algn="l"/>
              </a:tabLst>
            </a:pPr>
            <a:r>
              <a:rPr dirty="0" sz="1450">
                <a:latin typeface="Arial MT"/>
                <a:cs typeface="Arial MT"/>
              </a:rPr>
              <a:t>Visualization</a:t>
            </a:r>
            <a:r>
              <a:rPr dirty="0" sz="1450" spc="-6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Dashboard</a:t>
            </a:r>
            <a:r>
              <a:rPr dirty="0" sz="1450" spc="-1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–</a:t>
            </a:r>
            <a:r>
              <a:rPr dirty="0" sz="1150" spc="-3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Display</a:t>
            </a:r>
            <a:r>
              <a:rPr dirty="0" sz="1150" spc="5">
                <a:latin typeface="Arial MT"/>
                <a:cs typeface="Arial MT"/>
              </a:rPr>
              <a:t> </a:t>
            </a:r>
            <a:r>
              <a:rPr dirty="0" sz="1150" spc="-25">
                <a:latin typeface="Arial MT"/>
                <a:cs typeface="Arial MT"/>
              </a:rPr>
              <a:t>district-</a:t>
            </a:r>
            <a:r>
              <a:rPr dirty="0" sz="1150">
                <a:latin typeface="Arial MT"/>
                <a:cs typeface="Arial MT"/>
              </a:rPr>
              <a:t>wise</a:t>
            </a:r>
            <a:r>
              <a:rPr dirty="0" sz="1150" spc="5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beneficiary</a:t>
            </a:r>
            <a:r>
              <a:rPr dirty="0" sz="1150" spc="-4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statistics,</a:t>
            </a:r>
            <a:r>
              <a:rPr dirty="0" sz="1150" spc="-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scheme</a:t>
            </a:r>
            <a:r>
              <a:rPr dirty="0" sz="1150" spc="-4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distribution, and</a:t>
            </a:r>
            <a:r>
              <a:rPr dirty="0" sz="1150" spc="-2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prediction</a:t>
            </a:r>
            <a:r>
              <a:rPr dirty="0" sz="1150" spc="-10">
                <a:latin typeface="Arial MT"/>
                <a:cs typeface="Arial MT"/>
              </a:rPr>
              <a:t> results.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37494" y="1653046"/>
            <a:ext cx="2453640" cy="3238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Problem</a:t>
            </a:r>
            <a:r>
              <a:rPr dirty="0" spc="20"/>
              <a:t> </a:t>
            </a:r>
            <a:r>
              <a:rPr dirty="0"/>
              <a:t>Statement</a:t>
            </a:r>
            <a:r>
              <a:rPr dirty="0" spc="30"/>
              <a:t> </a:t>
            </a:r>
            <a:r>
              <a:rPr dirty="0" spc="-50"/>
              <a:t>-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3663" y="2212363"/>
            <a:ext cx="3830954" cy="9023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b="1">
                <a:latin typeface="Arial"/>
                <a:cs typeface="Arial"/>
              </a:rPr>
              <a:t>Tech</a:t>
            </a:r>
            <a:r>
              <a:rPr dirty="0" sz="1150" spc="-40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Stack</a:t>
            </a:r>
            <a:r>
              <a:rPr dirty="0" sz="1150" spc="-45" b="1">
                <a:latin typeface="Arial"/>
                <a:cs typeface="Arial"/>
              </a:rPr>
              <a:t> </a:t>
            </a:r>
            <a:r>
              <a:rPr dirty="0" sz="1150" spc="-10" b="1">
                <a:latin typeface="Arial"/>
                <a:cs typeface="Arial"/>
              </a:rPr>
              <a:t>(Mandatory)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>
                <a:latin typeface="Arial MT"/>
                <a:cs typeface="Arial MT"/>
              </a:rPr>
              <a:t>Use</a:t>
            </a:r>
            <a:r>
              <a:rPr dirty="0" sz="1150" spc="-30">
                <a:latin typeface="Arial MT"/>
                <a:cs typeface="Arial MT"/>
              </a:rPr>
              <a:t> </a:t>
            </a:r>
            <a:r>
              <a:rPr dirty="0" sz="1150" b="1">
                <a:latin typeface="Arial"/>
                <a:cs typeface="Arial"/>
              </a:rPr>
              <a:t>any</a:t>
            </a:r>
            <a:r>
              <a:rPr dirty="0" sz="1150" spc="-55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one</a:t>
            </a:r>
            <a:r>
              <a:rPr dirty="0" sz="1150" spc="-50" b="1">
                <a:latin typeface="Arial"/>
                <a:cs typeface="Arial"/>
              </a:rPr>
              <a:t> </a:t>
            </a:r>
            <a:r>
              <a:rPr dirty="0" sz="1150">
                <a:latin typeface="Arial MT"/>
                <a:cs typeface="Arial MT"/>
              </a:rPr>
              <a:t>of</a:t>
            </a:r>
            <a:r>
              <a:rPr dirty="0" sz="1150" spc="-2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the</a:t>
            </a:r>
            <a:r>
              <a:rPr dirty="0" sz="1150" spc="-1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following</a:t>
            </a:r>
            <a:r>
              <a:rPr dirty="0" sz="1150" spc="25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approaches:</a:t>
            </a:r>
            <a:endParaRPr sz="1150">
              <a:latin typeface="Arial MT"/>
              <a:cs typeface="Arial MT"/>
            </a:endParaRPr>
          </a:p>
          <a:p>
            <a:pPr marL="247650" indent="-234950">
              <a:lnSpc>
                <a:spcPct val="100000"/>
              </a:lnSpc>
              <a:buChar char="•"/>
              <a:tabLst>
                <a:tab pos="247650" algn="l"/>
              </a:tabLst>
            </a:pPr>
            <a:r>
              <a:rPr dirty="0" sz="1150">
                <a:latin typeface="Arial MT"/>
                <a:cs typeface="Arial MT"/>
              </a:rPr>
              <a:t>LangFlow</a:t>
            </a:r>
            <a:r>
              <a:rPr dirty="0" sz="1150" spc="-5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+</a:t>
            </a:r>
            <a:r>
              <a:rPr dirty="0" sz="1150" spc="-7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IBM</a:t>
            </a:r>
            <a:r>
              <a:rPr dirty="0" sz="1150" spc="-5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watsonx.ai</a:t>
            </a:r>
            <a:r>
              <a:rPr dirty="0" sz="1150" spc="1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+</a:t>
            </a:r>
            <a:r>
              <a:rPr dirty="0" sz="1150" spc="-5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Granite</a:t>
            </a:r>
            <a:r>
              <a:rPr dirty="0" sz="1150" spc="-60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Models</a:t>
            </a:r>
            <a:endParaRPr sz="1150">
              <a:latin typeface="Arial MT"/>
              <a:cs typeface="Arial MT"/>
            </a:endParaRPr>
          </a:p>
          <a:p>
            <a:pPr marL="247650" indent="-234950">
              <a:lnSpc>
                <a:spcPct val="100000"/>
              </a:lnSpc>
              <a:buChar char="•"/>
              <a:tabLst>
                <a:tab pos="247650" algn="l"/>
              </a:tabLst>
            </a:pPr>
            <a:r>
              <a:rPr dirty="0" sz="1150">
                <a:latin typeface="Arial MT"/>
                <a:cs typeface="Arial MT"/>
              </a:rPr>
              <a:t>IBM</a:t>
            </a:r>
            <a:r>
              <a:rPr dirty="0" sz="1150" spc="-4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Cloud</a:t>
            </a:r>
            <a:r>
              <a:rPr dirty="0" sz="1150" spc="-4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Agentic</a:t>
            </a:r>
            <a:r>
              <a:rPr dirty="0" sz="1150" spc="-4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Lab</a:t>
            </a:r>
            <a:r>
              <a:rPr dirty="0" sz="1150" spc="-4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with</a:t>
            </a:r>
            <a:r>
              <a:rPr dirty="0" sz="1150" spc="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IBM</a:t>
            </a:r>
            <a:r>
              <a:rPr dirty="0" sz="1150" spc="-6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Granite</a:t>
            </a:r>
            <a:r>
              <a:rPr dirty="0" sz="1150" spc="-45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Models</a:t>
            </a:r>
            <a:endParaRPr sz="1150">
              <a:latin typeface="Arial MT"/>
              <a:cs typeface="Arial MT"/>
            </a:endParaRPr>
          </a:p>
          <a:p>
            <a:pPr marL="247650" indent="-234950">
              <a:lnSpc>
                <a:spcPct val="100000"/>
              </a:lnSpc>
              <a:buChar char="•"/>
              <a:tabLst>
                <a:tab pos="247650" algn="l"/>
              </a:tabLst>
            </a:pPr>
            <a:r>
              <a:rPr dirty="0" sz="1150">
                <a:latin typeface="Arial MT"/>
                <a:cs typeface="Arial MT"/>
              </a:rPr>
              <a:t>Replicate</a:t>
            </a:r>
            <a:r>
              <a:rPr dirty="0" sz="1150" spc="-4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with</a:t>
            </a:r>
            <a:r>
              <a:rPr dirty="0" sz="1150" spc="-1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LangChain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+</a:t>
            </a:r>
            <a:r>
              <a:rPr dirty="0" sz="1150" spc="-5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RAG</a:t>
            </a:r>
            <a:r>
              <a:rPr dirty="0" sz="1150" spc="-4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+</a:t>
            </a:r>
            <a:r>
              <a:rPr dirty="0" sz="1150" spc="-4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IBM</a:t>
            </a:r>
            <a:r>
              <a:rPr dirty="0" sz="1150" spc="-5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Granite</a:t>
            </a:r>
            <a:r>
              <a:rPr dirty="0" sz="1150" spc="-55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Models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3663" y="3268495"/>
            <a:ext cx="411480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>
                <a:latin typeface="Arial MT"/>
                <a:cs typeface="Arial MT"/>
              </a:rPr>
              <a:t>I</a:t>
            </a:r>
            <a:r>
              <a:rPr dirty="0" sz="1150" spc="-30">
                <a:latin typeface="Arial MT"/>
                <a:cs typeface="Arial MT"/>
              </a:rPr>
              <a:t> </a:t>
            </a:r>
            <a:r>
              <a:rPr dirty="0" sz="1150" spc="-20">
                <a:latin typeface="Arial MT"/>
                <a:cs typeface="Arial MT"/>
              </a:rPr>
              <a:t>used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22604" y="3300984"/>
            <a:ext cx="1478280" cy="166370"/>
          </a:xfrm>
          <a:prstGeom prst="rect">
            <a:avLst/>
          </a:prstGeom>
          <a:solidFill>
            <a:srgbClr val="FFFF00"/>
          </a:solidFill>
        </p:spPr>
        <p:txBody>
          <a:bodyPr wrap="square" lIns="0" tIns="0" rIns="0" bIns="0" rtlCol="0" vert="horz">
            <a:spAutoFit/>
          </a:bodyPr>
          <a:lstStyle/>
          <a:p>
            <a:pPr marL="42545">
              <a:lnSpc>
                <a:spcPts val="1275"/>
              </a:lnSpc>
            </a:pPr>
            <a:r>
              <a:rPr dirty="0" sz="1150">
                <a:latin typeface="Arial MT"/>
                <a:cs typeface="Arial MT"/>
              </a:rPr>
              <a:t>IBM</a:t>
            </a:r>
            <a:r>
              <a:rPr dirty="0" sz="1150" spc="-8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watsonx.ai</a:t>
            </a:r>
            <a:r>
              <a:rPr dirty="0" sz="1150" spc="-40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studio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537494" y="1653046"/>
            <a:ext cx="2090420" cy="3238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Technology</a:t>
            </a:r>
            <a:r>
              <a:rPr dirty="0" spc="-5"/>
              <a:t> </a:t>
            </a:r>
            <a:r>
              <a:rPr dirty="0" spc="-20"/>
              <a:t>Used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440" y="2268727"/>
            <a:ext cx="8443595" cy="3710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10" b="1">
                <a:latin typeface="Arial"/>
                <a:cs typeface="Arial"/>
              </a:rPr>
              <a:t>Proposed</a:t>
            </a:r>
            <a:r>
              <a:rPr dirty="0" sz="1150" spc="-50" b="1">
                <a:latin typeface="Arial"/>
                <a:cs typeface="Arial"/>
              </a:rPr>
              <a:t> </a:t>
            </a:r>
            <a:r>
              <a:rPr dirty="0" sz="1150" spc="-10" b="1">
                <a:latin typeface="Arial"/>
                <a:cs typeface="Arial"/>
              </a:rPr>
              <a:t>Solution:</a:t>
            </a:r>
            <a:r>
              <a:rPr dirty="0" sz="1150" spc="-70" b="1">
                <a:latin typeface="Arial"/>
                <a:cs typeface="Arial"/>
              </a:rPr>
              <a:t> </a:t>
            </a:r>
            <a:r>
              <a:rPr dirty="0" sz="1150" spc="-10" b="1">
                <a:latin typeface="Arial"/>
                <a:cs typeface="Arial"/>
              </a:rPr>
              <a:t>Predicting</a:t>
            </a:r>
            <a:r>
              <a:rPr dirty="0" sz="1150" spc="-30" b="1">
                <a:latin typeface="Arial"/>
                <a:cs typeface="Arial"/>
              </a:rPr>
              <a:t> </a:t>
            </a:r>
            <a:r>
              <a:rPr dirty="0" sz="1150" spc="-10" b="1">
                <a:latin typeface="Arial"/>
                <a:cs typeface="Arial"/>
              </a:rPr>
              <a:t>Eligibility</a:t>
            </a:r>
            <a:r>
              <a:rPr dirty="0" sz="1150" spc="-55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for</a:t>
            </a:r>
            <a:r>
              <a:rPr dirty="0" sz="1150" spc="-30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NSAP</a:t>
            </a:r>
            <a:r>
              <a:rPr dirty="0" sz="1150" spc="20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Schemes</a:t>
            </a:r>
            <a:r>
              <a:rPr dirty="0" sz="1150" spc="-15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using</a:t>
            </a:r>
            <a:r>
              <a:rPr dirty="0" sz="1150" spc="-30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Machine</a:t>
            </a:r>
            <a:r>
              <a:rPr dirty="0" sz="1150" spc="-5" b="1">
                <a:latin typeface="Arial"/>
                <a:cs typeface="Arial"/>
              </a:rPr>
              <a:t> </a:t>
            </a:r>
            <a:r>
              <a:rPr dirty="0" sz="1150" spc="-10" b="1">
                <a:latin typeface="Arial"/>
                <a:cs typeface="Arial"/>
              </a:rPr>
              <a:t>Learning</a:t>
            </a:r>
            <a:endParaRPr sz="115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dirty="0" sz="1150">
                <a:latin typeface="Arial MT"/>
                <a:cs typeface="Arial MT"/>
              </a:rPr>
              <a:t>The</a:t>
            </a:r>
            <a:r>
              <a:rPr dirty="0" sz="1150" spc="-6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proposed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solution</a:t>
            </a:r>
            <a:r>
              <a:rPr dirty="0" sz="1150" spc="-4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is</a:t>
            </a:r>
            <a:r>
              <a:rPr dirty="0" sz="1150" spc="-3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</a:t>
            </a:r>
            <a:r>
              <a:rPr dirty="0" sz="1150" spc="-4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Machine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 spc="-25">
                <a:latin typeface="Arial MT"/>
                <a:cs typeface="Arial MT"/>
              </a:rPr>
              <a:t>Learning-</a:t>
            </a:r>
            <a:r>
              <a:rPr dirty="0" sz="1150">
                <a:latin typeface="Arial MT"/>
                <a:cs typeface="Arial MT"/>
              </a:rPr>
              <a:t>based</a:t>
            </a:r>
            <a:r>
              <a:rPr dirty="0" sz="1150" spc="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eligibility</a:t>
            </a:r>
            <a:r>
              <a:rPr dirty="0" sz="1150" spc="-2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prediction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system</a:t>
            </a:r>
            <a:r>
              <a:rPr dirty="0" sz="1150" spc="-1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built</a:t>
            </a:r>
            <a:r>
              <a:rPr dirty="0" sz="1150" spc="-3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using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Python,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IBM</a:t>
            </a:r>
            <a:r>
              <a:rPr dirty="0" sz="1150" spc="-5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Cloud</a:t>
            </a:r>
            <a:r>
              <a:rPr dirty="0" sz="1150" spc="-3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Lite</a:t>
            </a:r>
            <a:r>
              <a:rPr dirty="0" sz="1150" spc="-4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Services,</a:t>
            </a:r>
            <a:r>
              <a:rPr dirty="0" sz="1150" spc="-1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and</a:t>
            </a:r>
            <a:r>
              <a:rPr dirty="0" sz="1150" spc="-50">
                <a:latin typeface="Arial MT"/>
                <a:cs typeface="Arial MT"/>
              </a:rPr>
              <a:t> </a:t>
            </a:r>
            <a:r>
              <a:rPr dirty="0" sz="1150" spc="-25">
                <a:latin typeface="Arial MT"/>
                <a:cs typeface="Arial MT"/>
              </a:rPr>
              <a:t>AI </a:t>
            </a:r>
            <a:r>
              <a:rPr dirty="0" sz="1150">
                <a:latin typeface="Arial MT"/>
                <a:cs typeface="Arial MT"/>
              </a:rPr>
              <a:t>Kosh</a:t>
            </a:r>
            <a:r>
              <a:rPr dirty="0" sz="1150" spc="-4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NSAP</a:t>
            </a:r>
            <a:r>
              <a:rPr dirty="0" sz="1150" spc="-4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datasets.</a:t>
            </a:r>
            <a:r>
              <a:rPr dirty="0" sz="1150" spc="-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The</a:t>
            </a:r>
            <a:r>
              <a:rPr dirty="0" sz="1150" spc="-4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system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helps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government</a:t>
            </a:r>
            <a:r>
              <a:rPr dirty="0" sz="1150" spc="-3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agencies</a:t>
            </a:r>
            <a:r>
              <a:rPr dirty="0" sz="1150" spc="-10">
                <a:latin typeface="Arial MT"/>
                <a:cs typeface="Arial MT"/>
              </a:rPr>
              <a:t> automatically</a:t>
            </a:r>
            <a:r>
              <a:rPr dirty="0" sz="1150" spc="-6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identify</a:t>
            </a:r>
            <a:r>
              <a:rPr dirty="0" sz="1150" spc="-4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the</a:t>
            </a:r>
            <a:r>
              <a:rPr dirty="0" sz="1150" spc="-4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most</a:t>
            </a:r>
            <a:r>
              <a:rPr dirty="0" sz="1150" spc="-6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suitable</a:t>
            </a:r>
            <a:r>
              <a:rPr dirty="0" sz="1150" spc="-3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National</a:t>
            </a:r>
            <a:r>
              <a:rPr dirty="0" sz="1150" spc="-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Social</a:t>
            </a:r>
            <a:r>
              <a:rPr dirty="0" sz="1150" spc="-40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Assistance Programme</a:t>
            </a:r>
            <a:r>
              <a:rPr dirty="0" sz="1150" spc="-10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(NSAP)</a:t>
            </a:r>
            <a:r>
              <a:rPr dirty="0" sz="1150" spc="-3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scheme</a:t>
            </a:r>
            <a:r>
              <a:rPr dirty="0" sz="1150" spc="-6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for</a:t>
            </a:r>
            <a:r>
              <a:rPr dirty="0" sz="1150" spc="-6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applicants based</a:t>
            </a:r>
            <a:r>
              <a:rPr dirty="0" sz="1150" spc="-1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on</a:t>
            </a:r>
            <a:r>
              <a:rPr dirty="0" sz="1150" spc="-1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their</a:t>
            </a:r>
            <a:r>
              <a:rPr dirty="0" sz="1150" spc="-3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demographic</a:t>
            </a:r>
            <a:r>
              <a:rPr dirty="0" sz="1150" spc="-3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and</a:t>
            </a:r>
            <a:r>
              <a:rPr dirty="0" sz="1150" spc="-30">
                <a:latin typeface="Arial MT"/>
                <a:cs typeface="Arial MT"/>
              </a:rPr>
              <a:t> </a:t>
            </a:r>
            <a:r>
              <a:rPr dirty="0" sz="1150" spc="-20">
                <a:latin typeface="Arial MT"/>
                <a:cs typeface="Arial MT"/>
              </a:rPr>
              <a:t>socio-</a:t>
            </a:r>
            <a:r>
              <a:rPr dirty="0" sz="1150">
                <a:latin typeface="Arial MT"/>
                <a:cs typeface="Arial MT"/>
              </a:rPr>
              <a:t>economic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information.</a:t>
            </a:r>
            <a:endParaRPr sz="1150">
              <a:latin typeface="Arial MT"/>
              <a:cs typeface="Arial MT"/>
            </a:endParaRPr>
          </a:p>
          <a:p>
            <a:pPr marL="12700" marR="120650">
              <a:lnSpc>
                <a:spcPct val="100000"/>
              </a:lnSpc>
            </a:pPr>
            <a:r>
              <a:rPr dirty="0" sz="1150">
                <a:latin typeface="Arial MT"/>
                <a:cs typeface="Arial MT"/>
              </a:rPr>
              <a:t>The</a:t>
            </a:r>
            <a:r>
              <a:rPr dirty="0" sz="1150" spc="-6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solution</a:t>
            </a:r>
            <a:r>
              <a:rPr dirty="0" sz="1150" spc="-3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uses</a:t>
            </a:r>
            <a:r>
              <a:rPr dirty="0" sz="1150" spc="-3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historical</a:t>
            </a:r>
            <a:r>
              <a:rPr dirty="0" sz="1150" spc="-4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beneficiary</a:t>
            </a:r>
            <a:r>
              <a:rPr dirty="0" sz="1150" spc="-4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data</a:t>
            </a:r>
            <a:r>
              <a:rPr dirty="0" sz="1150" spc="-4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from</a:t>
            </a:r>
            <a:r>
              <a:rPr dirty="0" sz="1150" spc="-5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the</a:t>
            </a:r>
            <a:r>
              <a:rPr dirty="0" sz="1150" spc="-5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AI</a:t>
            </a:r>
            <a:r>
              <a:rPr dirty="0" sz="1150" spc="-3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Kosh</a:t>
            </a:r>
            <a:r>
              <a:rPr dirty="0" sz="1150" spc="-3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dataset,</a:t>
            </a:r>
            <a:r>
              <a:rPr dirty="0" sz="1150" spc="-3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including</a:t>
            </a:r>
            <a:r>
              <a:rPr dirty="0" sz="1150" spc="-3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factors</a:t>
            </a:r>
            <a:r>
              <a:rPr dirty="0" sz="1150" spc="-6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such</a:t>
            </a:r>
            <a:r>
              <a:rPr dirty="0" sz="1150" spc="-5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as</a:t>
            </a:r>
            <a:r>
              <a:rPr dirty="0" sz="1150" spc="-4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age,</a:t>
            </a:r>
            <a:r>
              <a:rPr dirty="0" sz="1150" spc="-3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gender,</a:t>
            </a:r>
            <a:r>
              <a:rPr dirty="0" sz="1150" spc="-1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disability</a:t>
            </a:r>
            <a:r>
              <a:rPr dirty="0" sz="1150" spc="-35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status, </a:t>
            </a:r>
            <a:r>
              <a:rPr dirty="0" sz="1150">
                <a:latin typeface="Arial MT"/>
                <a:cs typeface="Arial MT"/>
              </a:rPr>
              <a:t>income</a:t>
            </a:r>
            <a:r>
              <a:rPr dirty="0" sz="1150" spc="-7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level, BPL</a:t>
            </a:r>
            <a:r>
              <a:rPr dirty="0" sz="1150" spc="-3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status,</a:t>
            </a:r>
            <a:r>
              <a:rPr dirty="0" sz="1150" spc="-3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and</a:t>
            </a:r>
            <a:r>
              <a:rPr dirty="0" sz="1150" spc="-1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district</a:t>
            </a:r>
            <a:r>
              <a:rPr dirty="0" sz="1150" spc="-10">
                <a:latin typeface="Arial MT"/>
                <a:cs typeface="Arial MT"/>
              </a:rPr>
              <a:t> information.</a:t>
            </a:r>
            <a:r>
              <a:rPr dirty="0" sz="1150" spc="-6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The</a:t>
            </a:r>
            <a:r>
              <a:rPr dirty="0" sz="1150" spc="-5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data</a:t>
            </a:r>
            <a:r>
              <a:rPr dirty="0" sz="1150" spc="-1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is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cleaned,</a:t>
            </a:r>
            <a:r>
              <a:rPr dirty="0" sz="1150" spc="-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preprocessed,</a:t>
            </a:r>
            <a:r>
              <a:rPr dirty="0" sz="1150" spc="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and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used</a:t>
            </a:r>
            <a:r>
              <a:rPr dirty="0" sz="1150" spc="-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to</a:t>
            </a:r>
            <a:r>
              <a:rPr dirty="0" sz="1150" spc="-4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train</a:t>
            </a:r>
            <a:r>
              <a:rPr dirty="0" sz="1150" spc="-3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</a:t>
            </a:r>
            <a:r>
              <a:rPr dirty="0" sz="1150" spc="-40">
                <a:latin typeface="Arial MT"/>
                <a:cs typeface="Arial MT"/>
              </a:rPr>
              <a:t> </a:t>
            </a:r>
            <a:r>
              <a:rPr dirty="0" sz="1150" spc="-20">
                <a:latin typeface="Arial MT"/>
                <a:cs typeface="Arial MT"/>
              </a:rPr>
              <a:t>multi-</a:t>
            </a:r>
            <a:r>
              <a:rPr dirty="0" sz="1150">
                <a:latin typeface="Arial MT"/>
                <a:cs typeface="Arial MT"/>
              </a:rPr>
              <a:t>class</a:t>
            </a:r>
            <a:r>
              <a:rPr dirty="0" sz="1150" spc="-45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classification model.</a:t>
            </a:r>
            <a:endParaRPr sz="1150">
              <a:latin typeface="Arial MT"/>
              <a:cs typeface="Arial MT"/>
            </a:endParaRPr>
          </a:p>
          <a:p>
            <a:pPr marL="12700">
              <a:lnSpc>
                <a:spcPts val="1375"/>
              </a:lnSpc>
            </a:pPr>
            <a:r>
              <a:rPr dirty="0" sz="1150">
                <a:latin typeface="Arial MT"/>
                <a:cs typeface="Arial MT"/>
              </a:rPr>
              <a:t>The</a:t>
            </a:r>
            <a:r>
              <a:rPr dirty="0" sz="1150" spc="-5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system</a:t>
            </a:r>
            <a:r>
              <a:rPr dirty="0" sz="1150" spc="-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consists</a:t>
            </a:r>
            <a:r>
              <a:rPr dirty="0" sz="1150" spc="-3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of</a:t>
            </a:r>
            <a:r>
              <a:rPr dirty="0" sz="1150" spc="-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four</a:t>
            </a:r>
            <a:r>
              <a:rPr dirty="0" sz="1150" spc="-4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key</a:t>
            </a:r>
            <a:r>
              <a:rPr dirty="0" sz="1150" spc="-30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modules:</a:t>
            </a:r>
            <a:endParaRPr sz="1150">
              <a:latin typeface="Arial MT"/>
              <a:cs typeface="Arial MT"/>
            </a:endParaRPr>
          </a:p>
          <a:p>
            <a:pPr marL="248285" indent="-235585">
              <a:lnSpc>
                <a:spcPts val="1689"/>
              </a:lnSpc>
              <a:buChar char="•"/>
              <a:tabLst>
                <a:tab pos="248285" algn="l"/>
              </a:tabLst>
            </a:pPr>
            <a:r>
              <a:rPr dirty="0" sz="1450">
                <a:latin typeface="Arial MT"/>
                <a:cs typeface="Arial MT"/>
              </a:rPr>
              <a:t>Data</a:t>
            </a:r>
            <a:r>
              <a:rPr dirty="0" sz="1450" spc="-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Processing</a:t>
            </a:r>
            <a:r>
              <a:rPr dirty="0" sz="1450" spc="-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Module </a:t>
            </a:r>
            <a:r>
              <a:rPr dirty="0" sz="1150">
                <a:latin typeface="Arial MT"/>
                <a:cs typeface="Arial MT"/>
              </a:rPr>
              <a:t>:</a:t>
            </a:r>
            <a:r>
              <a:rPr dirty="0" sz="1150" spc="-3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cleans</a:t>
            </a:r>
            <a:r>
              <a:rPr dirty="0" sz="1150" spc="-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and</a:t>
            </a:r>
            <a:r>
              <a:rPr dirty="0" sz="1150" spc="10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transforms</a:t>
            </a:r>
            <a:r>
              <a:rPr dirty="0" sz="1150" spc="-7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applicant</a:t>
            </a:r>
            <a:r>
              <a:rPr dirty="0" sz="1150" spc="4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data</a:t>
            </a:r>
            <a:r>
              <a:rPr dirty="0" sz="1150" spc="-1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for</a:t>
            </a:r>
            <a:r>
              <a:rPr dirty="0" sz="1150" spc="-3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model</a:t>
            </a:r>
            <a:r>
              <a:rPr dirty="0" sz="1150" spc="-6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training</a:t>
            </a:r>
            <a:r>
              <a:rPr dirty="0" sz="1150" spc="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and</a:t>
            </a:r>
            <a:r>
              <a:rPr dirty="0" sz="1150" spc="-25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prediction.</a:t>
            </a:r>
            <a:endParaRPr sz="1150">
              <a:latin typeface="Arial MT"/>
              <a:cs typeface="Arial MT"/>
            </a:endParaRPr>
          </a:p>
          <a:p>
            <a:pPr marL="248920" marR="57150" indent="-236854">
              <a:lnSpc>
                <a:spcPts val="1490"/>
              </a:lnSpc>
              <a:spcBef>
                <a:spcPts val="215"/>
              </a:spcBef>
              <a:buChar char="•"/>
              <a:tabLst>
                <a:tab pos="248920" algn="l"/>
              </a:tabLst>
            </a:pPr>
            <a:r>
              <a:rPr dirty="0" sz="1450">
                <a:latin typeface="Arial MT"/>
                <a:cs typeface="Arial MT"/>
              </a:rPr>
              <a:t>Eligibility</a:t>
            </a:r>
            <a:r>
              <a:rPr dirty="0" sz="1450" spc="-8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Prediction</a:t>
            </a:r>
            <a:r>
              <a:rPr dirty="0" sz="1450" spc="-55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Module:</a:t>
            </a:r>
            <a:r>
              <a:rPr dirty="0" sz="1450" spc="-9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uses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Machine</a:t>
            </a:r>
            <a:r>
              <a:rPr dirty="0" sz="1150" spc="1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Learning algorithms</a:t>
            </a:r>
            <a:r>
              <a:rPr dirty="0" sz="1150" spc="-6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such</a:t>
            </a:r>
            <a:r>
              <a:rPr dirty="0" sz="1150" spc="-1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as</a:t>
            </a:r>
            <a:r>
              <a:rPr dirty="0" sz="1150" spc="-4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Random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Forest,</a:t>
            </a:r>
            <a:r>
              <a:rPr dirty="0" sz="1150" spc="-1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Decision</a:t>
            </a:r>
            <a:r>
              <a:rPr dirty="0" sz="1150" spc="-2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Tree,</a:t>
            </a:r>
            <a:r>
              <a:rPr dirty="0" sz="1150" spc="-1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or</a:t>
            </a:r>
            <a:r>
              <a:rPr dirty="0" sz="1150" spc="-4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XGBoost</a:t>
            </a:r>
            <a:r>
              <a:rPr dirty="0" sz="1150" spc="-25">
                <a:latin typeface="Arial MT"/>
                <a:cs typeface="Arial MT"/>
              </a:rPr>
              <a:t> to </a:t>
            </a:r>
            <a:r>
              <a:rPr dirty="0" sz="1150">
                <a:latin typeface="Arial MT"/>
                <a:cs typeface="Arial MT"/>
              </a:rPr>
              <a:t>predict</a:t>
            </a:r>
            <a:r>
              <a:rPr dirty="0" sz="1150" spc="-4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the</a:t>
            </a:r>
            <a:r>
              <a:rPr dirty="0" sz="1150" spc="-6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most</a:t>
            </a:r>
            <a:r>
              <a:rPr dirty="0" sz="1150" spc="-7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appropriate</a:t>
            </a:r>
            <a:r>
              <a:rPr dirty="0" sz="1150" spc="-2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NSAP</a:t>
            </a:r>
            <a:r>
              <a:rPr dirty="0" sz="1150" spc="-60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scheme.</a:t>
            </a:r>
            <a:endParaRPr sz="1150">
              <a:latin typeface="Arial MT"/>
              <a:cs typeface="Arial MT"/>
            </a:endParaRPr>
          </a:p>
          <a:p>
            <a:pPr marL="248285" indent="-235585">
              <a:lnSpc>
                <a:spcPts val="1700"/>
              </a:lnSpc>
              <a:spcBef>
                <a:spcPts val="5"/>
              </a:spcBef>
              <a:buChar char="•"/>
              <a:tabLst>
                <a:tab pos="248285" algn="l"/>
              </a:tabLst>
            </a:pPr>
            <a:r>
              <a:rPr dirty="0" sz="1450">
                <a:latin typeface="Arial MT"/>
                <a:cs typeface="Arial MT"/>
              </a:rPr>
              <a:t>Beneficiary</a:t>
            </a:r>
            <a:r>
              <a:rPr dirty="0" sz="1450" spc="-6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Analysis</a:t>
            </a:r>
            <a:r>
              <a:rPr dirty="0" sz="1450" spc="-2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Module</a:t>
            </a:r>
            <a:r>
              <a:rPr dirty="0" sz="1150">
                <a:latin typeface="Arial MT"/>
                <a:cs typeface="Arial MT"/>
              </a:rPr>
              <a:t>: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analyzes</a:t>
            </a:r>
            <a:r>
              <a:rPr dirty="0" sz="1150" spc="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trends</a:t>
            </a:r>
            <a:r>
              <a:rPr dirty="0" sz="1150" spc="-1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and</a:t>
            </a:r>
            <a:r>
              <a:rPr dirty="0" sz="1150" spc="-5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patterns</a:t>
            </a:r>
            <a:r>
              <a:rPr dirty="0" sz="1150" spc="-2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in</a:t>
            </a:r>
            <a:r>
              <a:rPr dirty="0" sz="1150" spc="-3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beneficiary</a:t>
            </a:r>
            <a:r>
              <a:rPr dirty="0" sz="1150" spc="-4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data</a:t>
            </a:r>
            <a:r>
              <a:rPr dirty="0" sz="1150" spc="-4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across</a:t>
            </a:r>
            <a:r>
              <a:rPr dirty="0" sz="1150" spc="-3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different</a:t>
            </a:r>
            <a:r>
              <a:rPr dirty="0" sz="1150" spc="-6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districts</a:t>
            </a:r>
            <a:r>
              <a:rPr dirty="0" sz="1150" spc="-3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and</a:t>
            </a:r>
            <a:r>
              <a:rPr dirty="0" sz="1150" spc="-35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categories.</a:t>
            </a:r>
            <a:endParaRPr sz="1150">
              <a:latin typeface="Arial MT"/>
              <a:cs typeface="Arial MT"/>
            </a:endParaRPr>
          </a:p>
          <a:p>
            <a:pPr marL="248920" marR="389890" indent="-236854">
              <a:lnSpc>
                <a:spcPts val="1480"/>
              </a:lnSpc>
              <a:spcBef>
                <a:spcPts val="225"/>
              </a:spcBef>
              <a:buChar char="•"/>
              <a:tabLst>
                <a:tab pos="248920" algn="l"/>
              </a:tabLst>
            </a:pPr>
            <a:r>
              <a:rPr dirty="0" sz="1450">
                <a:latin typeface="Arial MT"/>
                <a:cs typeface="Arial MT"/>
              </a:rPr>
              <a:t>Visualization</a:t>
            </a:r>
            <a:r>
              <a:rPr dirty="0" sz="1450" spc="-2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Dashboard</a:t>
            </a:r>
            <a:r>
              <a:rPr dirty="0" sz="1450" spc="-2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Module</a:t>
            </a:r>
            <a:r>
              <a:rPr dirty="0" sz="1150">
                <a:latin typeface="Arial MT"/>
                <a:cs typeface="Arial MT"/>
              </a:rPr>
              <a:t>:</a:t>
            </a:r>
            <a:r>
              <a:rPr dirty="0" sz="1150" spc="-1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displays</a:t>
            </a:r>
            <a:r>
              <a:rPr dirty="0" sz="1150" spc="25">
                <a:latin typeface="Arial MT"/>
                <a:cs typeface="Arial MT"/>
              </a:rPr>
              <a:t> </a:t>
            </a:r>
            <a:r>
              <a:rPr dirty="0" sz="1150" spc="-20">
                <a:latin typeface="Arial MT"/>
                <a:cs typeface="Arial MT"/>
              </a:rPr>
              <a:t>scheme-</a:t>
            </a:r>
            <a:r>
              <a:rPr dirty="0" sz="1150">
                <a:latin typeface="Arial MT"/>
                <a:cs typeface="Arial MT"/>
              </a:rPr>
              <a:t>wise statistics,</a:t>
            </a:r>
            <a:r>
              <a:rPr dirty="0" sz="1150" spc="-10">
                <a:latin typeface="Arial MT"/>
                <a:cs typeface="Arial MT"/>
              </a:rPr>
              <a:t> </a:t>
            </a:r>
            <a:r>
              <a:rPr dirty="0" sz="1150" spc="-25">
                <a:latin typeface="Arial MT"/>
                <a:cs typeface="Arial MT"/>
              </a:rPr>
              <a:t>district-</a:t>
            </a:r>
            <a:r>
              <a:rPr dirty="0" sz="1150">
                <a:latin typeface="Arial MT"/>
                <a:cs typeface="Arial MT"/>
              </a:rPr>
              <a:t>wise</a:t>
            </a:r>
            <a:r>
              <a:rPr dirty="0" sz="1150" spc="5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beneficiary</a:t>
            </a:r>
            <a:r>
              <a:rPr dirty="0" sz="1150" spc="-2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distribution,</a:t>
            </a:r>
            <a:r>
              <a:rPr dirty="0" sz="1150" spc="10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prediction </a:t>
            </a:r>
            <a:r>
              <a:rPr dirty="0" sz="1150">
                <a:latin typeface="Arial MT"/>
                <a:cs typeface="Arial MT"/>
              </a:rPr>
              <a:t>results,</a:t>
            </a:r>
            <a:r>
              <a:rPr dirty="0" sz="1150" spc="-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and model</a:t>
            </a:r>
            <a:r>
              <a:rPr dirty="0" sz="1150" spc="-60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performance</a:t>
            </a:r>
            <a:r>
              <a:rPr dirty="0" sz="1150" spc="-75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metrics.</a:t>
            </a:r>
            <a:endParaRPr sz="1150">
              <a:latin typeface="Arial MT"/>
              <a:cs typeface="Arial MT"/>
            </a:endParaRPr>
          </a:p>
          <a:p>
            <a:pPr marL="247650" indent="-234950">
              <a:lnSpc>
                <a:spcPts val="1335"/>
              </a:lnSpc>
              <a:buChar char="•"/>
              <a:tabLst>
                <a:tab pos="247650" algn="l"/>
              </a:tabLst>
            </a:pPr>
            <a:r>
              <a:rPr dirty="0" sz="1150">
                <a:latin typeface="Arial MT"/>
                <a:cs typeface="Arial MT"/>
              </a:rPr>
              <a:t>The</a:t>
            </a:r>
            <a:r>
              <a:rPr dirty="0" sz="1150" spc="-6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solution</a:t>
            </a:r>
            <a:r>
              <a:rPr dirty="0" sz="1150" spc="-4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includes</a:t>
            </a:r>
            <a:r>
              <a:rPr dirty="0" sz="1150" spc="-3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</a:t>
            </a:r>
            <a:r>
              <a:rPr dirty="0" sz="1150" spc="-45">
                <a:latin typeface="Arial MT"/>
                <a:cs typeface="Arial MT"/>
              </a:rPr>
              <a:t> </a:t>
            </a:r>
            <a:r>
              <a:rPr dirty="0" sz="1150" spc="-25">
                <a:latin typeface="Arial MT"/>
                <a:cs typeface="Arial MT"/>
              </a:rPr>
              <a:t>user-</a:t>
            </a:r>
            <a:r>
              <a:rPr dirty="0" sz="1150">
                <a:latin typeface="Arial MT"/>
                <a:cs typeface="Arial MT"/>
              </a:rPr>
              <a:t>friendly</a:t>
            </a:r>
            <a:r>
              <a:rPr dirty="0" sz="1150" spc="-3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dashboard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built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using</a:t>
            </a:r>
            <a:r>
              <a:rPr dirty="0" sz="1150" spc="-4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Streamlit</a:t>
            </a:r>
            <a:r>
              <a:rPr dirty="0" sz="1150" spc="-7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that</a:t>
            </a:r>
            <a:r>
              <a:rPr dirty="0" sz="1150" spc="-3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allows</a:t>
            </a:r>
            <a:r>
              <a:rPr dirty="0" sz="1150" spc="4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users</a:t>
            </a:r>
            <a:r>
              <a:rPr dirty="0" sz="1150" spc="-4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to</a:t>
            </a:r>
            <a:r>
              <a:rPr dirty="0" sz="1150" spc="-5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enter</a:t>
            </a:r>
            <a:r>
              <a:rPr dirty="0" sz="1150" spc="-5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applicant</a:t>
            </a:r>
            <a:r>
              <a:rPr dirty="0" sz="1150" spc="-1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details</a:t>
            </a:r>
            <a:r>
              <a:rPr dirty="0" sz="1150" spc="-2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and</a:t>
            </a:r>
            <a:r>
              <a:rPr dirty="0" sz="1150" spc="-40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instantly</a:t>
            </a:r>
            <a:endParaRPr sz="1150">
              <a:latin typeface="Arial MT"/>
              <a:cs typeface="Arial MT"/>
            </a:endParaRPr>
          </a:p>
          <a:p>
            <a:pPr marL="248920">
              <a:lnSpc>
                <a:spcPct val="100000"/>
              </a:lnSpc>
              <a:spcBef>
                <a:spcPts val="10"/>
              </a:spcBef>
            </a:pPr>
            <a:r>
              <a:rPr dirty="0" sz="1150">
                <a:latin typeface="Arial MT"/>
                <a:cs typeface="Arial MT"/>
              </a:rPr>
              <a:t>receive</a:t>
            </a:r>
            <a:r>
              <a:rPr dirty="0" sz="1150" spc="-4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eligibility</a:t>
            </a:r>
            <a:r>
              <a:rPr dirty="0" sz="1150" spc="-45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predictions.</a:t>
            </a:r>
            <a:endParaRPr sz="1150">
              <a:latin typeface="Arial MT"/>
              <a:cs typeface="Arial MT"/>
            </a:endParaRPr>
          </a:p>
          <a:p>
            <a:pPr marL="247650" marR="57150" indent="-235585">
              <a:lnSpc>
                <a:spcPct val="100000"/>
              </a:lnSpc>
              <a:spcBef>
                <a:spcPts val="10"/>
              </a:spcBef>
              <a:buChar char="•"/>
              <a:tabLst>
                <a:tab pos="248920" algn="l"/>
              </a:tabLst>
            </a:pPr>
            <a:r>
              <a:rPr dirty="0" sz="1150">
                <a:latin typeface="Arial MT"/>
                <a:cs typeface="Arial MT"/>
              </a:rPr>
              <a:t>IBM</a:t>
            </a:r>
            <a:r>
              <a:rPr dirty="0" sz="1150" spc="-6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Cloud</a:t>
            </a:r>
            <a:r>
              <a:rPr dirty="0" sz="1150" spc="-4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Lite</a:t>
            </a:r>
            <a:r>
              <a:rPr dirty="0" sz="1150" spc="-3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services</a:t>
            </a:r>
            <a:r>
              <a:rPr dirty="0" sz="1150" spc="-1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are</a:t>
            </a:r>
            <a:r>
              <a:rPr dirty="0" sz="1150" spc="-4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used</a:t>
            </a:r>
            <a:r>
              <a:rPr dirty="0" sz="1150" spc="-5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for</a:t>
            </a:r>
            <a:r>
              <a:rPr dirty="0" sz="1150" spc="-55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model</a:t>
            </a:r>
            <a:r>
              <a:rPr dirty="0" sz="1150" spc="-8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deployment,</a:t>
            </a:r>
            <a:r>
              <a:rPr dirty="0" sz="1150" spc="-3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data</a:t>
            </a:r>
            <a:r>
              <a:rPr dirty="0" sz="1150" spc="-4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storage,</a:t>
            </a:r>
            <a:r>
              <a:rPr dirty="0" sz="1150" spc="-3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and</a:t>
            </a:r>
            <a:r>
              <a:rPr dirty="0" sz="1150" spc="-5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application</a:t>
            </a:r>
            <a:r>
              <a:rPr dirty="0" sz="1150" spc="-2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hosting.</a:t>
            </a:r>
            <a:r>
              <a:rPr dirty="0" sz="1150" spc="-3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The</a:t>
            </a:r>
            <a:r>
              <a:rPr dirty="0" sz="1150" spc="-6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trained</a:t>
            </a:r>
            <a:r>
              <a:rPr dirty="0" sz="1150" spc="-4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model</a:t>
            </a:r>
            <a:r>
              <a:rPr dirty="0" sz="1150" spc="-7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provides</a:t>
            </a:r>
            <a:r>
              <a:rPr dirty="0" sz="1150" spc="-15">
                <a:latin typeface="Arial MT"/>
                <a:cs typeface="Arial MT"/>
              </a:rPr>
              <a:t> </a:t>
            </a:r>
            <a:r>
              <a:rPr dirty="0" sz="1150" spc="-20">
                <a:latin typeface="Arial MT"/>
                <a:cs typeface="Arial MT"/>
              </a:rPr>
              <a:t>fast </a:t>
            </a:r>
            <a:r>
              <a:rPr dirty="0" sz="1150" spc="-20">
                <a:latin typeface="Arial MT"/>
                <a:cs typeface="Arial MT"/>
              </a:rPr>
              <a:t>	</a:t>
            </a:r>
            <a:r>
              <a:rPr dirty="0" sz="1150">
                <a:latin typeface="Arial MT"/>
                <a:cs typeface="Arial MT"/>
              </a:rPr>
              <a:t>and</a:t>
            </a:r>
            <a:r>
              <a:rPr dirty="0" sz="1150" spc="-8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accurate</a:t>
            </a:r>
            <a:r>
              <a:rPr dirty="0" sz="1150" spc="-5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predictions,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reducing</a:t>
            </a:r>
            <a:r>
              <a:rPr dirty="0" sz="1150" spc="-3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manual</a:t>
            </a:r>
            <a:r>
              <a:rPr dirty="0" sz="1150" spc="-8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effort</a:t>
            </a:r>
            <a:r>
              <a:rPr dirty="0" sz="1150" spc="-8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and</a:t>
            </a:r>
            <a:r>
              <a:rPr dirty="0" sz="1150" spc="-5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improving</a:t>
            </a:r>
            <a:r>
              <a:rPr dirty="0" sz="1150" spc="-6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transparency</a:t>
            </a:r>
            <a:r>
              <a:rPr dirty="0" sz="1150" spc="-3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in</a:t>
            </a:r>
            <a:r>
              <a:rPr dirty="0" sz="1150" spc="-7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welfare</a:t>
            </a:r>
            <a:r>
              <a:rPr dirty="0" sz="1150" spc="-4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scheme</a:t>
            </a:r>
            <a:r>
              <a:rPr dirty="0" sz="1150" spc="-80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allocation.</a:t>
            </a:r>
            <a:endParaRPr sz="1150">
              <a:latin typeface="Arial MT"/>
              <a:cs typeface="Arial MT"/>
            </a:endParaRPr>
          </a:p>
          <a:p>
            <a:pPr marL="247650" indent="-234950">
              <a:lnSpc>
                <a:spcPts val="1310"/>
              </a:lnSpc>
              <a:buChar char="•"/>
              <a:tabLst>
                <a:tab pos="247650" algn="l"/>
              </a:tabLst>
            </a:pPr>
            <a:r>
              <a:rPr dirty="0" sz="1150">
                <a:latin typeface="Arial MT"/>
                <a:cs typeface="Arial MT"/>
              </a:rPr>
              <a:t>Overall,</a:t>
            </a:r>
            <a:r>
              <a:rPr dirty="0" sz="1150" spc="-1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the</a:t>
            </a:r>
            <a:r>
              <a:rPr dirty="0" sz="1150" spc="-6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solution</a:t>
            </a:r>
            <a:r>
              <a:rPr dirty="0" sz="1150" spc="-3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delivers</a:t>
            </a:r>
            <a:r>
              <a:rPr dirty="0" sz="1150" spc="-2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an</a:t>
            </a:r>
            <a:r>
              <a:rPr dirty="0" sz="1150" spc="-4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intelligent</a:t>
            </a:r>
            <a:r>
              <a:rPr dirty="0" sz="1150" spc="-25">
                <a:latin typeface="Arial MT"/>
                <a:cs typeface="Arial MT"/>
              </a:rPr>
              <a:t> decision-</a:t>
            </a:r>
            <a:r>
              <a:rPr dirty="0" sz="1150">
                <a:latin typeface="Arial MT"/>
                <a:cs typeface="Arial MT"/>
              </a:rPr>
              <a:t>support</a:t>
            </a:r>
            <a:r>
              <a:rPr dirty="0" sz="1150" spc="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system</a:t>
            </a:r>
            <a:r>
              <a:rPr dirty="0" sz="1150" spc="-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that</a:t>
            </a:r>
            <a:r>
              <a:rPr dirty="0" sz="1150" spc="-4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helps</a:t>
            </a:r>
            <a:r>
              <a:rPr dirty="0" sz="1150" spc="-4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ensure</a:t>
            </a:r>
            <a:r>
              <a:rPr dirty="0" sz="1150" spc="-5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eligible</a:t>
            </a:r>
            <a:r>
              <a:rPr dirty="0" sz="1150" spc="-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citizens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receive</a:t>
            </a:r>
            <a:r>
              <a:rPr dirty="0" sz="1150" spc="-3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the</a:t>
            </a:r>
            <a:r>
              <a:rPr dirty="0" sz="1150" spc="-5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correct</a:t>
            </a:r>
            <a:r>
              <a:rPr dirty="0" sz="1150" spc="-35">
                <a:latin typeface="Arial MT"/>
                <a:cs typeface="Arial MT"/>
              </a:rPr>
              <a:t> </a:t>
            </a:r>
            <a:r>
              <a:rPr dirty="0" sz="1150" spc="-20">
                <a:latin typeface="Arial MT"/>
                <a:cs typeface="Arial MT"/>
              </a:rPr>
              <a:t>NSAP</a:t>
            </a:r>
            <a:endParaRPr sz="1150">
              <a:latin typeface="Arial MT"/>
              <a:cs typeface="Arial MT"/>
            </a:endParaRPr>
          </a:p>
          <a:p>
            <a:pPr marL="248920">
              <a:lnSpc>
                <a:spcPct val="100000"/>
              </a:lnSpc>
              <a:spcBef>
                <a:spcPts val="25"/>
              </a:spcBef>
            </a:pPr>
            <a:r>
              <a:rPr dirty="0" sz="1150">
                <a:latin typeface="Arial MT"/>
                <a:cs typeface="Arial MT"/>
              </a:rPr>
              <a:t>benefits</a:t>
            </a:r>
            <a:r>
              <a:rPr dirty="0" sz="1150" spc="-6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efficiently</a:t>
            </a:r>
            <a:r>
              <a:rPr dirty="0" sz="1150" spc="-6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and</a:t>
            </a:r>
            <a:r>
              <a:rPr dirty="0" sz="1150" spc="-45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accurately.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37494" y="1653046"/>
            <a:ext cx="2388870" cy="3238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Proposed</a:t>
            </a:r>
            <a:r>
              <a:rPr dirty="0" spc="-20"/>
              <a:t> </a:t>
            </a:r>
            <a:r>
              <a:rPr dirty="0"/>
              <a:t>Solution </a:t>
            </a:r>
            <a:r>
              <a:rPr dirty="0" spc="-50"/>
              <a:t>-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30755" y="1409243"/>
            <a:ext cx="4264660" cy="3238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051C3A"/>
                </a:solidFill>
                <a:latin typeface="Times New Roman"/>
                <a:cs typeface="Times New Roman"/>
              </a:rPr>
              <a:t>Machine</a:t>
            </a:r>
            <a:r>
              <a:rPr dirty="0" spc="25">
                <a:solidFill>
                  <a:srgbClr val="051C3A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051C3A"/>
                </a:solidFill>
                <a:latin typeface="Times New Roman"/>
                <a:cs typeface="Times New Roman"/>
              </a:rPr>
              <a:t>Learning</a:t>
            </a:r>
            <a:r>
              <a:rPr dirty="0" spc="265">
                <a:solidFill>
                  <a:srgbClr val="051C3A"/>
                </a:solidFill>
                <a:latin typeface="Times New Roman"/>
                <a:cs typeface="Times New Roman"/>
              </a:rPr>
              <a:t> </a:t>
            </a:r>
            <a:r>
              <a:rPr dirty="0"/>
              <a:t>component</a:t>
            </a:r>
            <a:r>
              <a:rPr dirty="0" spc="-20"/>
              <a:t> </a:t>
            </a:r>
            <a:r>
              <a:rPr dirty="0"/>
              <a:t>Used</a:t>
            </a:r>
            <a:r>
              <a:rPr dirty="0" spc="15"/>
              <a:t> </a:t>
            </a:r>
            <a:r>
              <a:rPr dirty="0" spc="-50"/>
              <a:t>-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7007" y="1770356"/>
            <a:ext cx="7091680" cy="1565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07645" indent="-194945">
              <a:lnSpc>
                <a:spcPct val="100000"/>
              </a:lnSpc>
              <a:spcBef>
                <a:spcPts val="100"/>
              </a:spcBef>
              <a:buSzPct val="79310"/>
              <a:buAutoNum type="arabicParenR"/>
              <a:tabLst>
                <a:tab pos="207645" algn="l"/>
              </a:tabLst>
            </a:pPr>
            <a:r>
              <a:rPr dirty="0" sz="1450">
                <a:latin typeface="Arial MT"/>
                <a:cs typeface="Arial MT"/>
              </a:rPr>
              <a:t>Data</a:t>
            </a:r>
            <a:r>
              <a:rPr dirty="0" sz="1450" spc="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Input</a:t>
            </a:r>
            <a:r>
              <a:rPr dirty="0" sz="1450" spc="10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Component</a:t>
            </a:r>
            <a:endParaRPr sz="1450">
              <a:latin typeface="Arial MT"/>
              <a:cs typeface="Arial MT"/>
            </a:endParaRPr>
          </a:p>
          <a:p>
            <a:pPr lvl="1" marL="247650" indent="-234950">
              <a:lnSpc>
                <a:spcPct val="100000"/>
              </a:lnSpc>
              <a:spcBef>
                <a:spcPts val="15"/>
              </a:spcBef>
              <a:buChar char="•"/>
              <a:tabLst>
                <a:tab pos="247650" algn="l"/>
              </a:tabLst>
            </a:pPr>
            <a:r>
              <a:rPr dirty="0" sz="1150">
                <a:latin typeface="Arial MT"/>
                <a:cs typeface="Arial MT"/>
              </a:rPr>
              <a:t>Collects</a:t>
            </a:r>
            <a:r>
              <a:rPr dirty="0" sz="1150" spc="-2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NSAP</a:t>
            </a:r>
            <a:r>
              <a:rPr dirty="0" sz="1150" spc="-4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beneficiary</a:t>
            </a:r>
            <a:r>
              <a:rPr dirty="0" sz="1150" spc="-4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data</a:t>
            </a:r>
            <a:r>
              <a:rPr dirty="0" sz="1150" spc="-4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from</a:t>
            </a:r>
            <a:r>
              <a:rPr dirty="0" sz="1150" spc="-7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the</a:t>
            </a:r>
            <a:r>
              <a:rPr dirty="0" sz="1150" spc="-40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dataset.</a:t>
            </a:r>
            <a:endParaRPr sz="1150">
              <a:latin typeface="Arial MT"/>
              <a:cs typeface="Arial MT"/>
            </a:endParaRPr>
          </a:p>
          <a:p>
            <a:pPr lvl="1" marL="247650" indent="-234950">
              <a:lnSpc>
                <a:spcPts val="1375"/>
              </a:lnSpc>
              <a:buChar char="•"/>
              <a:tabLst>
                <a:tab pos="247650" algn="l"/>
              </a:tabLst>
            </a:pPr>
            <a:r>
              <a:rPr dirty="0" sz="1150">
                <a:latin typeface="Arial MT"/>
                <a:cs typeface="Arial MT"/>
              </a:rPr>
              <a:t>Inputs</a:t>
            </a:r>
            <a:r>
              <a:rPr dirty="0" sz="1150" spc="-5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include</a:t>
            </a:r>
            <a:r>
              <a:rPr dirty="0" sz="1150" spc="-5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District,</a:t>
            </a:r>
            <a:r>
              <a:rPr dirty="0" sz="1150" spc="-3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State,</a:t>
            </a:r>
            <a:r>
              <a:rPr dirty="0" sz="1150" spc="-5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Scheme</a:t>
            </a:r>
            <a:r>
              <a:rPr dirty="0" sz="1150" spc="-8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Code,</a:t>
            </a:r>
            <a:r>
              <a:rPr dirty="0" sz="1150" spc="-5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Aadhaar</a:t>
            </a:r>
            <a:r>
              <a:rPr dirty="0" sz="1150" spc="-3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Status,</a:t>
            </a:r>
            <a:r>
              <a:rPr dirty="0" sz="1150" spc="-4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Beneficiary</a:t>
            </a:r>
            <a:r>
              <a:rPr dirty="0" sz="1150" spc="-5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Count,</a:t>
            </a:r>
            <a:r>
              <a:rPr dirty="0" sz="1150" spc="-2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OBC,</a:t>
            </a:r>
            <a:r>
              <a:rPr dirty="0" sz="1150" spc="-4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SC,</a:t>
            </a:r>
            <a:r>
              <a:rPr dirty="0" sz="1150" spc="-5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and</a:t>
            </a:r>
            <a:r>
              <a:rPr dirty="0" sz="1150" spc="-5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ST</a:t>
            </a:r>
            <a:r>
              <a:rPr dirty="0" sz="1150" spc="-65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details.</a:t>
            </a:r>
            <a:endParaRPr sz="1150">
              <a:latin typeface="Arial MT"/>
              <a:cs typeface="Arial MT"/>
            </a:endParaRPr>
          </a:p>
          <a:p>
            <a:pPr marL="12700">
              <a:lnSpc>
                <a:spcPts val="1735"/>
              </a:lnSpc>
            </a:pPr>
            <a:r>
              <a:rPr dirty="0" sz="1150">
                <a:latin typeface="Arial MT"/>
                <a:cs typeface="Arial MT"/>
              </a:rPr>
              <a:t>2)</a:t>
            </a:r>
            <a:r>
              <a:rPr dirty="0" sz="1150" spc="2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Data</a:t>
            </a:r>
            <a:r>
              <a:rPr dirty="0" sz="1450" spc="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Preprocessing</a:t>
            </a:r>
            <a:r>
              <a:rPr dirty="0" sz="1450" spc="-10">
                <a:latin typeface="Arial MT"/>
                <a:cs typeface="Arial MT"/>
              </a:rPr>
              <a:t> Component</a:t>
            </a:r>
            <a:endParaRPr sz="1450">
              <a:latin typeface="Arial MT"/>
              <a:cs typeface="Arial MT"/>
            </a:endParaRPr>
          </a:p>
          <a:p>
            <a:pPr marL="247650" indent="-234950">
              <a:lnSpc>
                <a:spcPct val="100000"/>
              </a:lnSpc>
              <a:spcBef>
                <a:spcPts val="10"/>
              </a:spcBef>
              <a:buChar char="•"/>
              <a:tabLst>
                <a:tab pos="247650" algn="l"/>
              </a:tabLst>
            </a:pPr>
            <a:r>
              <a:rPr dirty="0" sz="1150">
                <a:latin typeface="Arial MT"/>
                <a:cs typeface="Arial MT"/>
              </a:rPr>
              <a:t>Handles</a:t>
            </a:r>
            <a:r>
              <a:rPr dirty="0" sz="1150" spc="-4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missing</a:t>
            </a:r>
            <a:r>
              <a:rPr dirty="0" sz="1150" spc="-8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values</a:t>
            </a:r>
            <a:r>
              <a:rPr dirty="0" sz="1150" spc="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and</a:t>
            </a:r>
            <a:r>
              <a:rPr dirty="0" sz="1150" spc="-5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duplicate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records.</a:t>
            </a:r>
            <a:endParaRPr sz="1150">
              <a:latin typeface="Arial MT"/>
              <a:cs typeface="Arial MT"/>
            </a:endParaRPr>
          </a:p>
          <a:p>
            <a:pPr marL="247650" indent="-234950">
              <a:lnSpc>
                <a:spcPct val="100000"/>
              </a:lnSpc>
              <a:buChar char="•"/>
              <a:tabLst>
                <a:tab pos="247650" algn="l"/>
              </a:tabLst>
            </a:pPr>
            <a:r>
              <a:rPr dirty="0" sz="1150">
                <a:latin typeface="Arial MT"/>
                <a:cs typeface="Arial MT"/>
              </a:rPr>
              <a:t>Converts</a:t>
            </a:r>
            <a:r>
              <a:rPr dirty="0" sz="1150" spc="-2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categorical</a:t>
            </a:r>
            <a:r>
              <a:rPr dirty="0" sz="1150" spc="-4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data</a:t>
            </a:r>
            <a:r>
              <a:rPr dirty="0" sz="1150" spc="-4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(District,</a:t>
            </a:r>
            <a:r>
              <a:rPr dirty="0" sz="1150" spc="-3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State,</a:t>
            </a:r>
            <a:r>
              <a:rPr dirty="0" sz="1150" spc="-55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Scheme</a:t>
            </a:r>
            <a:r>
              <a:rPr dirty="0" sz="1150" spc="-7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Code)</a:t>
            </a:r>
            <a:r>
              <a:rPr dirty="0" sz="1150" spc="-4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into</a:t>
            </a:r>
            <a:r>
              <a:rPr dirty="0" sz="1150" spc="-5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numerical</a:t>
            </a:r>
            <a:r>
              <a:rPr dirty="0" sz="1150" spc="-70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format.</a:t>
            </a:r>
            <a:endParaRPr sz="1150">
              <a:latin typeface="Arial MT"/>
              <a:cs typeface="Arial MT"/>
            </a:endParaRPr>
          </a:p>
          <a:p>
            <a:pPr marL="247650" indent="-234950">
              <a:lnSpc>
                <a:spcPts val="1375"/>
              </a:lnSpc>
              <a:buChar char="•"/>
              <a:tabLst>
                <a:tab pos="247650" algn="l"/>
              </a:tabLst>
            </a:pPr>
            <a:r>
              <a:rPr dirty="0" sz="1150">
                <a:latin typeface="Arial MT"/>
                <a:cs typeface="Arial MT"/>
              </a:rPr>
              <a:t>Normalizes</a:t>
            </a:r>
            <a:r>
              <a:rPr dirty="0" sz="1150" spc="-4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and</a:t>
            </a:r>
            <a:r>
              <a:rPr dirty="0" sz="1150" spc="-4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prepares</a:t>
            </a:r>
            <a:r>
              <a:rPr dirty="0" sz="1150" spc="-3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data</a:t>
            </a:r>
            <a:r>
              <a:rPr dirty="0" sz="1150" spc="-5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for</a:t>
            </a:r>
            <a:r>
              <a:rPr dirty="0" sz="1150" spc="-5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model</a:t>
            </a:r>
            <a:r>
              <a:rPr dirty="0" sz="1150" spc="-80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training.</a:t>
            </a:r>
            <a:endParaRPr sz="1150">
              <a:latin typeface="Arial MT"/>
              <a:cs typeface="Arial MT"/>
            </a:endParaRPr>
          </a:p>
          <a:p>
            <a:pPr marL="12700">
              <a:lnSpc>
                <a:spcPts val="1735"/>
              </a:lnSpc>
            </a:pPr>
            <a:r>
              <a:rPr dirty="0" sz="1150">
                <a:latin typeface="Arial MT"/>
                <a:cs typeface="Arial MT"/>
              </a:rPr>
              <a:t>3)</a:t>
            </a:r>
            <a:r>
              <a:rPr dirty="0" sz="1150" spc="1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Feature Selection</a:t>
            </a:r>
            <a:r>
              <a:rPr dirty="0" sz="1450" spc="-10">
                <a:latin typeface="Arial MT"/>
                <a:cs typeface="Arial MT"/>
              </a:rPr>
              <a:t> Component</a:t>
            </a:r>
            <a:endParaRPr sz="145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98282" y="3486380"/>
            <a:ext cx="1910714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34745" algn="l"/>
              </a:tabLst>
            </a:pPr>
            <a:r>
              <a:rPr dirty="0" sz="1150">
                <a:latin typeface="Arial MT"/>
                <a:cs typeface="Arial MT"/>
              </a:rPr>
              <a:t>District</a:t>
            </a:r>
            <a:r>
              <a:rPr dirty="0" sz="1150" spc="-25">
                <a:latin typeface="Arial MT"/>
                <a:cs typeface="Arial MT"/>
              </a:rPr>
              <a:t> </a:t>
            </a:r>
            <a:r>
              <a:rPr dirty="0" sz="1150" spc="-20">
                <a:latin typeface="Arial MT"/>
                <a:cs typeface="Arial MT"/>
              </a:rPr>
              <a:t>Name</a:t>
            </a:r>
            <a:r>
              <a:rPr dirty="0" sz="1150">
                <a:latin typeface="Arial MT"/>
                <a:cs typeface="Arial MT"/>
              </a:rPr>
              <a:t>	State</a:t>
            </a:r>
            <a:r>
              <a:rPr dirty="0" sz="1150" spc="-55">
                <a:latin typeface="Arial MT"/>
                <a:cs typeface="Arial MT"/>
              </a:rPr>
              <a:t> </a:t>
            </a:r>
            <a:r>
              <a:rPr dirty="0" sz="1150" spc="-20">
                <a:latin typeface="Arial MT"/>
                <a:cs typeface="Arial MT"/>
              </a:rPr>
              <a:t>Name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31931" y="3661688"/>
            <a:ext cx="1964689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>
                <a:latin typeface="Arial MT"/>
                <a:cs typeface="Arial MT"/>
              </a:rPr>
              <a:t>Social</a:t>
            </a:r>
            <a:r>
              <a:rPr dirty="0" sz="1150" spc="-6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Category</a:t>
            </a:r>
            <a:r>
              <a:rPr dirty="0" sz="1150" spc="-35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(OBC/SC/ST)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07007" y="3311144"/>
            <a:ext cx="3895090" cy="727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7650" indent="-234950">
              <a:lnSpc>
                <a:spcPct val="100000"/>
              </a:lnSpc>
              <a:spcBef>
                <a:spcPts val="100"/>
              </a:spcBef>
              <a:buChar char="•"/>
              <a:tabLst>
                <a:tab pos="247650" algn="l"/>
              </a:tabLst>
            </a:pPr>
            <a:r>
              <a:rPr dirty="0" sz="1150">
                <a:latin typeface="Arial MT"/>
                <a:cs typeface="Arial MT"/>
              </a:rPr>
              <a:t>Selects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important</a:t>
            </a:r>
            <a:r>
              <a:rPr dirty="0" sz="1150" spc="-6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attributes</a:t>
            </a:r>
            <a:r>
              <a:rPr dirty="0" sz="1150" spc="-15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affecting</a:t>
            </a:r>
            <a:r>
              <a:rPr dirty="0" sz="1150" spc="-6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eligibility</a:t>
            </a:r>
            <a:r>
              <a:rPr dirty="0" sz="1150" spc="5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prediction:</a:t>
            </a:r>
            <a:endParaRPr sz="1150">
              <a:latin typeface="Arial MT"/>
              <a:cs typeface="Arial MT"/>
            </a:endParaRPr>
          </a:p>
          <a:p>
            <a:pPr marL="247650" indent="-234950">
              <a:lnSpc>
                <a:spcPct val="100000"/>
              </a:lnSpc>
              <a:buChar char="•"/>
              <a:tabLst>
                <a:tab pos="247650" algn="l"/>
              </a:tabLst>
            </a:pPr>
            <a:r>
              <a:rPr dirty="0" sz="1150">
                <a:latin typeface="Arial MT"/>
                <a:cs typeface="Arial MT"/>
              </a:rPr>
              <a:t>Scheme</a:t>
            </a:r>
            <a:r>
              <a:rPr dirty="0" sz="1150" spc="-60">
                <a:latin typeface="Arial MT"/>
                <a:cs typeface="Arial MT"/>
              </a:rPr>
              <a:t> </a:t>
            </a:r>
            <a:r>
              <a:rPr dirty="0" sz="1150" spc="-20">
                <a:latin typeface="Arial MT"/>
                <a:cs typeface="Arial MT"/>
              </a:rPr>
              <a:t>Code</a:t>
            </a:r>
            <a:endParaRPr sz="1150">
              <a:latin typeface="Arial MT"/>
              <a:cs typeface="Arial MT"/>
            </a:endParaRPr>
          </a:p>
          <a:p>
            <a:pPr marL="247650" indent="-234950">
              <a:lnSpc>
                <a:spcPct val="100000"/>
              </a:lnSpc>
              <a:buChar char="•"/>
              <a:tabLst>
                <a:tab pos="247650" algn="l"/>
              </a:tabLst>
            </a:pPr>
            <a:r>
              <a:rPr dirty="0" sz="1150">
                <a:latin typeface="Arial MT"/>
                <a:cs typeface="Arial MT"/>
              </a:rPr>
              <a:t>Aadhaar</a:t>
            </a:r>
            <a:r>
              <a:rPr dirty="0" sz="1150" spc="-60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Availability</a:t>
            </a:r>
            <a:endParaRPr sz="1150">
              <a:latin typeface="Arial MT"/>
              <a:cs typeface="Arial MT"/>
            </a:endParaRPr>
          </a:p>
          <a:p>
            <a:pPr marL="247650" indent="-234950">
              <a:lnSpc>
                <a:spcPct val="100000"/>
              </a:lnSpc>
              <a:buChar char="•"/>
              <a:tabLst>
                <a:tab pos="247650" algn="l"/>
              </a:tabLst>
            </a:pPr>
            <a:r>
              <a:rPr dirty="0" sz="1150">
                <a:latin typeface="Arial MT"/>
                <a:cs typeface="Arial MT"/>
              </a:rPr>
              <a:t>Beneficiary</a:t>
            </a:r>
            <a:r>
              <a:rPr dirty="0" sz="1150" spc="-85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Statistics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07007" y="4010636"/>
            <a:ext cx="7087870" cy="21761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>
                <a:latin typeface="Arial MT"/>
                <a:cs typeface="Arial MT"/>
              </a:rPr>
              <a:t>4)</a:t>
            </a:r>
            <a:r>
              <a:rPr dirty="0" sz="1150" spc="1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Machine</a:t>
            </a:r>
            <a:r>
              <a:rPr dirty="0" sz="1450" spc="-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Learning</a:t>
            </a:r>
            <a:r>
              <a:rPr dirty="0" sz="1450" spc="1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Model</a:t>
            </a:r>
            <a:r>
              <a:rPr dirty="0" sz="1450" spc="5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Component</a:t>
            </a:r>
            <a:endParaRPr sz="1450">
              <a:latin typeface="Arial MT"/>
              <a:cs typeface="Arial MT"/>
            </a:endParaRPr>
          </a:p>
          <a:p>
            <a:pPr marL="247650" indent="-234950">
              <a:lnSpc>
                <a:spcPct val="100000"/>
              </a:lnSpc>
              <a:spcBef>
                <a:spcPts val="15"/>
              </a:spcBef>
              <a:buChar char="•"/>
              <a:tabLst>
                <a:tab pos="247650" algn="l"/>
                <a:tab pos="1962785" algn="l"/>
              </a:tabLst>
            </a:pPr>
            <a:r>
              <a:rPr dirty="0" sz="1150">
                <a:latin typeface="Arial MT"/>
                <a:cs typeface="Arial MT"/>
              </a:rPr>
              <a:t>Linear</a:t>
            </a:r>
            <a:r>
              <a:rPr dirty="0" sz="1150" spc="-40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Regression</a:t>
            </a:r>
            <a:r>
              <a:rPr dirty="0" sz="1150">
                <a:latin typeface="Arial MT"/>
                <a:cs typeface="Arial MT"/>
              </a:rPr>
              <a:t>	Ridge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Regression</a:t>
            </a:r>
            <a:endParaRPr sz="1150">
              <a:latin typeface="Arial MT"/>
              <a:cs typeface="Arial MT"/>
            </a:endParaRPr>
          </a:p>
          <a:p>
            <a:pPr marL="247650" indent="-234950">
              <a:lnSpc>
                <a:spcPct val="100000"/>
              </a:lnSpc>
              <a:buChar char="•"/>
              <a:tabLst>
                <a:tab pos="247650" algn="l"/>
              </a:tabLst>
            </a:pPr>
            <a:r>
              <a:rPr dirty="0" sz="1150">
                <a:latin typeface="Arial MT"/>
                <a:cs typeface="Arial MT"/>
              </a:rPr>
              <a:t>Trains</a:t>
            </a:r>
            <a:r>
              <a:rPr dirty="0" sz="1150" spc="-4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the</a:t>
            </a:r>
            <a:r>
              <a:rPr dirty="0" sz="1150" spc="-4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model</a:t>
            </a:r>
            <a:r>
              <a:rPr dirty="0" sz="1150" spc="-7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to</a:t>
            </a:r>
            <a:r>
              <a:rPr dirty="0" sz="1150" spc="-4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predict</a:t>
            </a:r>
            <a:r>
              <a:rPr dirty="0" sz="1150" spc="-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NSAP</a:t>
            </a:r>
            <a:r>
              <a:rPr dirty="0" sz="1150" spc="-4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scheme</a:t>
            </a:r>
            <a:r>
              <a:rPr dirty="0" sz="1150" spc="-7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eligibility</a:t>
            </a:r>
            <a:r>
              <a:rPr dirty="0" sz="1150" spc="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and</a:t>
            </a:r>
            <a:r>
              <a:rPr dirty="0" sz="1150" spc="-3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beneficiary</a:t>
            </a:r>
            <a:r>
              <a:rPr dirty="0" sz="1150" spc="-30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patterns.</a:t>
            </a:r>
            <a:endParaRPr sz="1150">
              <a:latin typeface="Arial MT"/>
              <a:cs typeface="Arial MT"/>
            </a:endParaRPr>
          </a:p>
          <a:p>
            <a:pPr marL="248285" marR="5080" indent="-236220">
              <a:lnSpc>
                <a:spcPct val="100000"/>
              </a:lnSpc>
              <a:buChar char="•"/>
              <a:tabLst>
                <a:tab pos="248285" algn="l"/>
              </a:tabLst>
            </a:pPr>
            <a:r>
              <a:rPr dirty="0" sz="1150">
                <a:latin typeface="Arial MT"/>
                <a:cs typeface="Arial MT"/>
              </a:rPr>
              <a:t>IBM</a:t>
            </a:r>
            <a:r>
              <a:rPr dirty="0" sz="1150" spc="-3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watsonx.ai</a:t>
            </a:r>
            <a:r>
              <a:rPr dirty="0" sz="1150" spc="4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AutoAI</a:t>
            </a:r>
            <a:r>
              <a:rPr dirty="0" sz="1150" spc="-4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was</a:t>
            </a:r>
            <a:r>
              <a:rPr dirty="0" sz="1150" spc="1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used</a:t>
            </a:r>
            <a:r>
              <a:rPr dirty="0" sz="1150" spc="-3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to</a:t>
            </a:r>
            <a:r>
              <a:rPr dirty="0" sz="1150" spc="-65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automatically</a:t>
            </a:r>
            <a:r>
              <a:rPr dirty="0" sz="1150" spc="-5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generate,</a:t>
            </a:r>
            <a:r>
              <a:rPr dirty="0" sz="1150" spc="5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optimize,</a:t>
            </a:r>
            <a:r>
              <a:rPr dirty="0" sz="1150" spc="-5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and</a:t>
            </a:r>
            <a:r>
              <a:rPr dirty="0" sz="1150" spc="-30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compare</a:t>
            </a:r>
            <a:r>
              <a:rPr dirty="0" sz="1150" spc="-7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multiple</a:t>
            </a:r>
            <a:r>
              <a:rPr dirty="0" sz="1150" spc="-85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machine </a:t>
            </a:r>
            <a:r>
              <a:rPr dirty="0" sz="1150">
                <a:latin typeface="Arial MT"/>
                <a:cs typeface="Arial MT"/>
              </a:rPr>
              <a:t>learning</a:t>
            </a:r>
            <a:r>
              <a:rPr dirty="0" sz="1150" spc="-5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pipelines</a:t>
            </a:r>
            <a:r>
              <a:rPr dirty="0" sz="1150" spc="-2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using</a:t>
            </a:r>
            <a:r>
              <a:rPr dirty="0" sz="1150" spc="-3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the</a:t>
            </a:r>
            <a:r>
              <a:rPr dirty="0" sz="1150" spc="-5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NSAP</a:t>
            </a:r>
            <a:r>
              <a:rPr dirty="0" sz="1150" spc="-5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pension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dataset.</a:t>
            </a:r>
            <a:r>
              <a:rPr dirty="0" sz="1150" spc="-5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Based</a:t>
            </a:r>
            <a:r>
              <a:rPr dirty="0" sz="1150" spc="-2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on</a:t>
            </a:r>
            <a:r>
              <a:rPr dirty="0" sz="1150" spc="-5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the</a:t>
            </a:r>
            <a:r>
              <a:rPr dirty="0" sz="1150" spc="-6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characteristics</a:t>
            </a:r>
            <a:r>
              <a:rPr dirty="0" sz="1150" spc="-2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of</a:t>
            </a:r>
            <a:r>
              <a:rPr dirty="0" sz="1150" spc="-5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the</a:t>
            </a:r>
            <a:r>
              <a:rPr dirty="0" sz="1150" spc="-5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dataset,</a:t>
            </a:r>
            <a:r>
              <a:rPr dirty="0" sz="1150" spc="-15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AutoAI </a:t>
            </a:r>
            <a:r>
              <a:rPr dirty="0" sz="1150">
                <a:latin typeface="Arial MT"/>
                <a:cs typeface="Arial MT"/>
              </a:rPr>
              <a:t>selected</a:t>
            </a:r>
            <a:r>
              <a:rPr dirty="0" sz="1150" spc="-4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Ridge</a:t>
            </a:r>
            <a:r>
              <a:rPr dirty="0" sz="1150" spc="-3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Regression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and</a:t>
            </a:r>
            <a:r>
              <a:rPr dirty="0" sz="1150" spc="-4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Linear</a:t>
            </a:r>
            <a:r>
              <a:rPr dirty="0" sz="1150" spc="-1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Regression</a:t>
            </a:r>
            <a:r>
              <a:rPr dirty="0" sz="1150" spc="-1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as</a:t>
            </a:r>
            <a:r>
              <a:rPr dirty="0" sz="1150" spc="-3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the</a:t>
            </a:r>
            <a:r>
              <a:rPr dirty="0" sz="1150" spc="-4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most</a:t>
            </a:r>
            <a:r>
              <a:rPr dirty="0" sz="1150" spc="-7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suitable</a:t>
            </a:r>
            <a:r>
              <a:rPr dirty="0" sz="1150" spc="-4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algorithms</a:t>
            </a:r>
            <a:r>
              <a:rPr dirty="0" sz="1150" spc="-6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for</a:t>
            </a:r>
            <a:r>
              <a:rPr dirty="0" sz="1150" spc="-7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model</a:t>
            </a:r>
            <a:r>
              <a:rPr dirty="0" sz="1150" spc="-70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development.</a:t>
            </a:r>
            <a:endParaRPr sz="1150">
              <a:latin typeface="Arial MT"/>
              <a:cs typeface="Arial MT"/>
            </a:endParaRPr>
          </a:p>
          <a:p>
            <a:pPr marL="248285" marR="316865" indent="-236220">
              <a:lnSpc>
                <a:spcPct val="100000"/>
              </a:lnSpc>
              <a:buChar char="•"/>
              <a:tabLst>
                <a:tab pos="248285" algn="l"/>
              </a:tabLst>
            </a:pPr>
            <a:r>
              <a:rPr dirty="0" sz="1150">
                <a:latin typeface="Arial MT"/>
                <a:cs typeface="Arial MT"/>
              </a:rPr>
              <a:t>The</a:t>
            </a:r>
            <a:r>
              <a:rPr dirty="0" sz="1150" spc="-8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generated</a:t>
            </a:r>
            <a:r>
              <a:rPr dirty="0" sz="1150" spc="-4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pipelines</a:t>
            </a:r>
            <a:r>
              <a:rPr dirty="0" sz="1150" spc="-5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were</a:t>
            </a:r>
            <a:r>
              <a:rPr dirty="0" sz="1150" spc="-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enhanced</a:t>
            </a:r>
            <a:r>
              <a:rPr dirty="0" sz="1150" spc="-4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through</a:t>
            </a:r>
            <a:r>
              <a:rPr dirty="0" sz="1150" spc="-5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Feature</a:t>
            </a:r>
            <a:r>
              <a:rPr dirty="0" sz="1150" spc="-7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Engineering</a:t>
            </a:r>
            <a:r>
              <a:rPr dirty="0" sz="1150" spc="-4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(FE)</a:t>
            </a:r>
            <a:r>
              <a:rPr dirty="0" sz="1150" spc="-8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and</a:t>
            </a:r>
            <a:r>
              <a:rPr dirty="0" sz="1150" spc="-75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Hyperparameter Optimization</a:t>
            </a:r>
            <a:r>
              <a:rPr dirty="0" sz="1150" spc="-7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(HPO)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to</a:t>
            </a:r>
            <a:r>
              <a:rPr dirty="0" sz="1150" spc="-4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improve</a:t>
            </a:r>
            <a:r>
              <a:rPr dirty="0" sz="1150" spc="-4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prediction</a:t>
            </a:r>
            <a:r>
              <a:rPr dirty="0" sz="1150" spc="-25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performance.</a:t>
            </a:r>
            <a:r>
              <a:rPr dirty="0" sz="1150" spc="-7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The</a:t>
            </a:r>
            <a:r>
              <a:rPr dirty="0" sz="1150" spc="-45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models</a:t>
            </a:r>
            <a:r>
              <a:rPr dirty="0" sz="1150" spc="-7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were</a:t>
            </a:r>
            <a:r>
              <a:rPr dirty="0" sz="1150" spc="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trained</a:t>
            </a:r>
            <a:r>
              <a:rPr dirty="0" sz="1150" spc="-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and</a:t>
            </a:r>
            <a:r>
              <a:rPr dirty="0" sz="1150" spc="-4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evaluated</a:t>
            </a:r>
            <a:r>
              <a:rPr dirty="0" sz="1150" spc="25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using </a:t>
            </a:r>
            <a:r>
              <a:rPr dirty="0" sz="1150" spc="-25">
                <a:latin typeface="Arial MT"/>
                <a:cs typeface="Arial MT"/>
              </a:rPr>
              <a:t>cross-</a:t>
            </a:r>
            <a:r>
              <a:rPr dirty="0" sz="1150">
                <a:latin typeface="Arial MT"/>
                <a:cs typeface="Arial MT"/>
              </a:rPr>
              <a:t>validation,</a:t>
            </a:r>
            <a:r>
              <a:rPr dirty="0" sz="1150" spc="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and</a:t>
            </a:r>
            <a:r>
              <a:rPr dirty="0" sz="1150" spc="-4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their</a:t>
            </a:r>
            <a:r>
              <a:rPr dirty="0" sz="1150" spc="-35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performance</a:t>
            </a:r>
            <a:r>
              <a:rPr dirty="0" sz="1150" spc="-8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was measured</a:t>
            </a:r>
            <a:r>
              <a:rPr dirty="0" sz="1150" spc="-5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using</a:t>
            </a:r>
            <a:r>
              <a:rPr dirty="0" sz="1150" spc="-5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Root</a:t>
            </a:r>
            <a:r>
              <a:rPr dirty="0" sz="1150" spc="-1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Mean</a:t>
            </a:r>
            <a:r>
              <a:rPr dirty="0" sz="1150" spc="-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Squared</a:t>
            </a:r>
            <a:r>
              <a:rPr dirty="0" sz="1150" spc="-3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Error</a:t>
            </a:r>
            <a:r>
              <a:rPr dirty="0" sz="1150" spc="-30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(RMSE).</a:t>
            </a:r>
            <a:endParaRPr sz="1150">
              <a:latin typeface="Arial MT"/>
              <a:cs typeface="Arial MT"/>
            </a:endParaRPr>
          </a:p>
          <a:p>
            <a:pPr algn="just" marL="248285" marR="27305" indent="-236220">
              <a:lnSpc>
                <a:spcPct val="100000"/>
              </a:lnSpc>
              <a:buChar char="•"/>
              <a:tabLst>
                <a:tab pos="248285" algn="l"/>
                <a:tab pos="250190" algn="l"/>
              </a:tabLst>
            </a:pPr>
            <a:r>
              <a:rPr dirty="0" sz="1150">
                <a:latin typeface="Arial MT"/>
                <a:cs typeface="Arial MT"/>
              </a:rPr>
              <a:t>	Among</a:t>
            </a:r>
            <a:r>
              <a:rPr dirty="0" sz="1150" spc="-8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all</a:t>
            </a:r>
            <a:r>
              <a:rPr dirty="0" sz="1150" spc="-6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the</a:t>
            </a:r>
            <a:r>
              <a:rPr dirty="0" sz="1150" spc="-4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generated</a:t>
            </a:r>
            <a:r>
              <a:rPr dirty="0" sz="1150" spc="-2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pipelines,</a:t>
            </a:r>
            <a:r>
              <a:rPr dirty="0" sz="1150" spc="-1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the</a:t>
            </a:r>
            <a:r>
              <a:rPr dirty="0" sz="1150" spc="-5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optimized</a:t>
            </a:r>
            <a:r>
              <a:rPr dirty="0" sz="1150" spc="-6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Ridge</a:t>
            </a:r>
            <a:r>
              <a:rPr dirty="0" sz="1150" spc="-3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Regression</a:t>
            </a:r>
            <a:r>
              <a:rPr dirty="0" sz="1150" spc="-5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model</a:t>
            </a:r>
            <a:r>
              <a:rPr dirty="0" sz="1150" spc="-8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achieved</a:t>
            </a:r>
            <a:r>
              <a:rPr dirty="0" sz="1150" spc="-1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the</a:t>
            </a:r>
            <a:r>
              <a:rPr dirty="0" sz="1150" spc="-4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best</a:t>
            </a:r>
            <a:r>
              <a:rPr dirty="0" sz="1150" spc="-40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performance </a:t>
            </a:r>
            <a:r>
              <a:rPr dirty="0" sz="1150">
                <a:latin typeface="Arial MT"/>
                <a:cs typeface="Arial MT"/>
              </a:rPr>
              <a:t>with</a:t>
            </a:r>
            <a:r>
              <a:rPr dirty="0" sz="1150" spc="-1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the</a:t>
            </a:r>
            <a:r>
              <a:rPr dirty="0" sz="1150" spc="-5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lowest</a:t>
            </a:r>
            <a:r>
              <a:rPr dirty="0" sz="1150" spc="1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RMSE</a:t>
            </a:r>
            <a:r>
              <a:rPr dirty="0" sz="1150" spc="-1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score.</a:t>
            </a:r>
            <a:r>
              <a:rPr dirty="0" sz="1150" spc="-30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Therefore,</a:t>
            </a:r>
            <a:r>
              <a:rPr dirty="0" sz="1150" spc="-6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the</a:t>
            </a:r>
            <a:r>
              <a:rPr dirty="0" sz="1150" spc="-5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Ridge</a:t>
            </a:r>
            <a:r>
              <a:rPr dirty="0" sz="1150" spc="-2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Regression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pipeline</a:t>
            </a:r>
            <a:r>
              <a:rPr dirty="0" sz="1150" spc="-4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was</a:t>
            </a:r>
            <a:r>
              <a:rPr dirty="0" sz="1150" spc="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selected</a:t>
            </a:r>
            <a:r>
              <a:rPr dirty="0" sz="1150" spc="-4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as</a:t>
            </a:r>
            <a:r>
              <a:rPr dirty="0" sz="1150" spc="-4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the</a:t>
            </a:r>
            <a:r>
              <a:rPr dirty="0" sz="1150" spc="-5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final</a:t>
            </a:r>
            <a:r>
              <a:rPr dirty="0" sz="1150" spc="-5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model</a:t>
            </a:r>
            <a:r>
              <a:rPr dirty="0" sz="1150" spc="-80">
                <a:latin typeface="Arial MT"/>
                <a:cs typeface="Arial MT"/>
              </a:rPr>
              <a:t> </a:t>
            </a:r>
            <a:r>
              <a:rPr dirty="0" sz="1150" spc="-25">
                <a:latin typeface="Arial MT"/>
                <a:cs typeface="Arial MT"/>
              </a:rPr>
              <a:t>for </a:t>
            </a:r>
            <a:r>
              <a:rPr dirty="0" sz="1150">
                <a:latin typeface="Arial MT"/>
                <a:cs typeface="Arial MT"/>
              </a:rPr>
              <a:t>prediction</a:t>
            </a:r>
            <a:r>
              <a:rPr dirty="0" sz="1150" spc="-5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and</a:t>
            </a:r>
            <a:r>
              <a:rPr dirty="0" sz="1150" spc="-6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deployment</a:t>
            </a:r>
            <a:r>
              <a:rPr dirty="0" sz="1150" spc="-3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in</a:t>
            </a:r>
            <a:r>
              <a:rPr dirty="0" sz="1150" spc="-7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the</a:t>
            </a:r>
            <a:r>
              <a:rPr dirty="0" sz="1150" spc="-5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proposed</a:t>
            </a:r>
            <a:r>
              <a:rPr dirty="0" sz="1150" spc="-35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system.</a:t>
            </a:r>
            <a:endParaRPr sz="11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2284" y="1869440"/>
            <a:ext cx="7195820" cy="406590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>
                <a:latin typeface="Arial MT"/>
                <a:cs typeface="Arial MT"/>
              </a:rPr>
              <a:t>5) </a:t>
            </a:r>
            <a:r>
              <a:rPr dirty="0" sz="1450">
                <a:latin typeface="Arial MT"/>
                <a:cs typeface="Arial MT"/>
              </a:rPr>
              <a:t>Model</a:t>
            </a:r>
            <a:r>
              <a:rPr dirty="0" sz="1450" spc="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Evaluation</a:t>
            </a:r>
            <a:r>
              <a:rPr dirty="0" sz="1450" spc="25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Component</a:t>
            </a:r>
            <a:endParaRPr sz="1450">
              <a:latin typeface="Arial MT"/>
              <a:cs typeface="Arial MT"/>
            </a:endParaRPr>
          </a:p>
          <a:p>
            <a:pPr marL="247650" indent="-234950">
              <a:lnSpc>
                <a:spcPct val="100000"/>
              </a:lnSpc>
              <a:spcBef>
                <a:spcPts val="10"/>
              </a:spcBef>
              <a:buChar char="•"/>
              <a:tabLst>
                <a:tab pos="247650" algn="l"/>
              </a:tabLst>
            </a:pPr>
            <a:r>
              <a:rPr dirty="0" sz="1150">
                <a:latin typeface="Arial MT"/>
                <a:cs typeface="Arial MT"/>
              </a:rPr>
              <a:t>Splits</a:t>
            </a:r>
            <a:r>
              <a:rPr dirty="0" sz="1150" spc="-3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data</a:t>
            </a:r>
            <a:r>
              <a:rPr dirty="0" sz="1150" spc="-5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into</a:t>
            </a:r>
            <a:r>
              <a:rPr dirty="0" sz="1150" spc="-1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Training</a:t>
            </a:r>
            <a:r>
              <a:rPr dirty="0" sz="1150" spc="-4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and</a:t>
            </a:r>
            <a:r>
              <a:rPr dirty="0" sz="1150" spc="-5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Testing</a:t>
            </a:r>
            <a:r>
              <a:rPr dirty="0" sz="1150" spc="-45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datasets.</a:t>
            </a:r>
            <a:endParaRPr sz="1150">
              <a:latin typeface="Arial MT"/>
              <a:cs typeface="Arial MT"/>
            </a:endParaRPr>
          </a:p>
          <a:p>
            <a:pPr marL="247650" indent="-234950">
              <a:lnSpc>
                <a:spcPct val="100000"/>
              </a:lnSpc>
              <a:spcBef>
                <a:spcPts val="5"/>
              </a:spcBef>
              <a:buChar char="•"/>
              <a:tabLst>
                <a:tab pos="247650" algn="l"/>
              </a:tabLst>
            </a:pPr>
            <a:r>
              <a:rPr dirty="0" sz="1150">
                <a:latin typeface="Arial MT"/>
                <a:cs typeface="Arial MT"/>
              </a:rPr>
              <a:t>The</a:t>
            </a:r>
            <a:r>
              <a:rPr dirty="0" sz="1150" spc="-7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models</a:t>
            </a:r>
            <a:r>
              <a:rPr dirty="0" sz="1150" spc="-8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generated</a:t>
            </a:r>
            <a:r>
              <a:rPr dirty="0" sz="1150" spc="-3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by</a:t>
            </a:r>
            <a:r>
              <a:rPr dirty="0" sz="1150" spc="-5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IBM</a:t>
            </a:r>
            <a:r>
              <a:rPr dirty="0" sz="1150" spc="-5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watsonx.ai</a:t>
            </a:r>
            <a:r>
              <a:rPr dirty="0" sz="1150" spc="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AutoAI</a:t>
            </a:r>
            <a:r>
              <a:rPr dirty="0" sz="1150" spc="-4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were</a:t>
            </a:r>
            <a:r>
              <a:rPr dirty="0" sz="1150" spc="-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evaluated</a:t>
            </a:r>
            <a:r>
              <a:rPr dirty="0" sz="1150" spc="-2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using</a:t>
            </a:r>
            <a:r>
              <a:rPr dirty="0" sz="1150" spc="-60">
                <a:latin typeface="Arial MT"/>
                <a:cs typeface="Arial MT"/>
              </a:rPr>
              <a:t> </a:t>
            </a:r>
            <a:r>
              <a:rPr dirty="0" sz="1150" spc="-25">
                <a:latin typeface="Arial MT"/>
                <a:cs typeface="Arial MT"/>
              </a:rPr>
              <a:t>Cross-</a:t>
            </a:r>
            <a:r>
              <a:rPr dirty="0" sz="1150">
                <a:latin typeface="Arial MT"/>
                <a:cs typeface="Arial MT"/>
              </a:rPr>
              <a:t>Validation</a:t>
            </a:r>
            <a:r>
              <a:rPr dirty="0" sz="1150" spc="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and</a:t>
            </a:r>
            <a:r>
              <a:rPr dirty="0" sz="1150" spc="-60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RMSE.</a:t>
            </a:r>
            <a:endParaRPr sz="1150">
              <a:latin typeface="Arial MT"/>
              <a:cs typeface="Arial MT"/>
            </a:endParaRPr>
          </a:p>
          <a:p>
            <a:pPr marL="290195" indent="-277495">
              <a:lnSpc>
                <a:spcPct val="100000"/>
              </a:lnSpc>
              <a:buChar char="•"/>
              <a:tabLst>
                <a:tab pos="290195" algn="l"/>
              </a:tabLst>
            </a:pPr>
            <a:r>
              <a:rPr dirty="0" sz="1150">
                <a:latin typeface="Arial MT"/>
                <a:cs typeface="Arial MT"/>
              </a:rPr>
              <a:t>AutoAI</a:t>
            </a:r>
            <a:r>
              <a:rPr dirty="0" sz="1150" spc="-3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applied Feature</a:t>
            </a:r>
            <a:r>
              <a:rPr dirty="0" sz="1150" spc="-3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Engineering</a:t>
            </a:r>
            <a:r>
              <a:rPr dirty="0" sz="1150" spc="-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(FE)</a:t>
            </a:r>
            <a:r>
              <a:rPr dirty="0" sz="1150" spc="-5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and</a:t>
            </a:r>
            <a:r>
              <a:rPr dirty="0" sz="1150" spc="-35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Hyperparameter</a:t>
            </a:r>
            <a:r>
              <a:rPr dirty="0" sz="1150" spc="-25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Optimization</a:t>
            </a:r>
            <a:r>
              <a:rPr dirty="0" sz="1150" spc="-6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(HPO)</a:t>
            </a:r>
            <a:r>
              <a:rPr dirty="0" sz="1150" spc="-4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to</a:t>
            </a:r>
            <a:r>
              <a:rPr dirty="0" sz="1150" spc="-60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improve</a:t>
            </a:r>
            <a:r>
              <a:rPr dirty="0" sz="1150" spc="-60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performance.</a:t>
            </a:r>
            <a:endParaRPr sz="1150">
              <a:latin typeface="Arial MT"/>
              <a:cs typeface="Arial MT"/>
            </a:endParaRPr>
          </a:p>
          <a:p>
            <a:pPr marL="247650" indent="-234950">
              <a:lnSpc>
                <a:spcPts val="1350"/>
              </a:lnSpc>
              <a:buChar char="•"/>
              <a:tabLst>
                <a:tab pos="247650" algn="l"/>
              </a:tabLst>
            </a:pPr>
            <a:r>
              <a:rPr dirty="0" sz="1150">
                <a:latin typeface="Arial MT"/>
                <a:cs typeface="Arial MT"/>
              </a:rPr>
              <a:t>Evaluates</a:t>
            </a:r>
            <a:r>
              <a:rPr dirty="0" sz="1150" spc="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model</a:t>
            </a:r>
            <a:r>
              <a:rPr dirty="0" sz="1150" spc="-55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performance</a:t>
            </a:r>
            <a:r>
              <a:rPr dirty="0" sz="1150" spc="-70">
                <a:latin typeface="Arial MT"/>
                <a:cs typeface="Arial MT"/>
              </a:rPr>
              <a:t> </a:t>
            </a:r>
            <a:r>
              <a:rPr dirty="0" sz="1150" spc="-20">
                <a:latin typeface="Arial MT"/>
                <a:cs typeface="Arial MT"/>
              </a:rPr>
              <a:t>using</a:t>
            </a:r>
            <a:endParaRPr sz="1150">
              <a:latin typeface="Arial MT"/>
              <a:cs typeface="Arial MT"/>
            </a:endParaRPr>
          </a:p>
          <a:p>
            <a:pPr marL="417830" marR="1084580" indent="-40005">
              <a:lnSpc>
                <a:spcPts val="1390"/>
              </a:lnSpc>
              <a:spcBef>
                <a:spcPts val="5"/>
              </a:spcBef>
              <a:tabLst>
                <a:tab pos="1710689" algn="l"/>
                <a:tab pos="2300605" algn="l"/>
              </a:tabLst>
            </a:pPr>
            <a:r>
              <a:rPr dirty="0" sz="1150">
                <a:latin typeface="Arial MT"/>
                <a:cs typeface="Arial MT"/>
              </a:rPr>
              <a:t>cross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validation</a:t>
            </a:r>
            <a:r>
              <a:rPr dirty="0" sz="1150">
                <a:latin typeface="Arial MT"/>
                <a:cs typeface="Arial MT"/>
              </a:rPr>
              <a:t>	</a:t>
            </a:r>
            <a:r>
              <a:rPr dirty="0" sz="1150" spc="-20">
                <a:latin typeface="Arial MT"/>
                <a:cs typeface="Arial MT"/>
              </a:rPr>
              <a:t>RMSE</a:t>
            </a:r>
            <a:r>
              <a:rPr dirty="0" sz="1150">
                <a:latin typeface="Arial MT"/>
                <a:cs typeface="Arial MT"/>
              </a:rPr>
              <a:t>	Feature</a:t>
            </a:r>
            <a:r>
              <a:rPr dirty="0" sz="1150" spc="-6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Engineering</a:t>
            </a:r>
            <a:r>
              <a:rPr dirty="0" sz="1150" spc="105">
                <a:latin typeface="Arial MT"/>
                <a:cs typeface="Arial MT"/>
              </a:rPr>
              <a:t>  </a:t>
            </a:r>
            <a:r>
              <a:rPr dirty="0" sz="1150">
                <a:latin typeface="Arial MT"/>
                <a:cs typeface="Arial MT"/>
              </a:rPr>
              <a:t>HPO</a:t>
            </a:r>
            <a:r>
              <a:rPr dirty="0" sz="1150" spc="-3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–</a:t>
            </a:r>
            <a:r>
              <a:rPr dirty="0" sz="1150" spc="-4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Hyper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parameter</a:t>
            </a:r>
            <a:r>
              <a:rPr dirty="0" sz="1150" spc="-60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optimization </a:t>
            </a:r>
            <a:r>
              <a:rPr dirty="0" sz="1150">
                <a:latin typeface="Arial MT"/>
                <a:cs typeface="Arial MT"/>
              </a:rPr>
              <a:t>ridge</a:t>
            </a:r>
            <a:r>
              <a:rPr dirty="0" sz="1150" spc="-40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regression</a:t>
            </a:r>
            <a:endParaRPr sz="1150">
              <a:latin typeface="Arial MT"/>
              <a:cs typeface="Arial MT"/>
            </a:endParaRPr>
          </a:p>
          <a:p>
            <a:pPr marL="175895" indent="-163195">
              <a:lnSpc>
                <a:spcPts val="1730"/>
              </a:lnSpc>
              <a:buSzPct val="79310"/>
              <a:buAutoNum type="arabicPeriod" startAt="6"/>
              <a:tabLst>
                <a:tab pos="175895" algn="l"/>
              </a:tabLst>
            </a:pPr>
            <a:r>
              <a:rPr dirty="0" sz="1450">
                <a:latin typeface="Arial MT"/>
                <a:cs typeface="Arial MT"/>
              </a:rPr>
              <a:t>Prediction</a:t>
            </a:r>
            <a:r>
              <a:rPr dirty="0" sz="1450" spc="20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Component</a:t>
            </a:r>
            <a:endParaRPr sz="1450">
              <a:latin typeface="Arial MT"/>
              <a:cs typeface="Arial MT"/>
            </a:endParaRPr>
          </a:p>
          <a:p>
            <a:pPr lvl="1" marL="290195" indent="-277495">
              <a:lnSpc>
                <a:spcPct val="100000"/>
              </a:lnSpc>
              <a:spcBef>
                <a:spcPts val="15"/>
              </a:spcBef>
              <a:buChar char="•"/>
              <a:tabLst>
                <a:tab pos="290195" algn="l"/>
              </a:tabLst>
            </a:pPr>
            <a:r>
              <a:rPr dirty="0" sz="1150">
                <a:latin typeface="Arial MT"/>
                <a:cs typeface="Arial MT"/>
              </a:rPr>
              <a:t>predicts</a:t>
            </a:r>
            <a:r>
              <a:rPr dirty="0" sz="1150" spc="-4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whether</a:t>
            </a:r>
            <a:r>
              <a:rPr dirty="0" sz="1150" spc="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an</a:t>
            </a:r>
            <a:r>
              <a:rPr dirty="0" sz="1150" spc="-4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applicant</a:t>
            </a:r>
            <a:r>
              <a:rPr dirty="0" sz="1150" spc="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is</a:t>
            </a:r>
            <a:r>
              <a:rPr dirty="0" sz="1150" spc="-5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eligible</a:t>
            </a:r>
            <a:r>
              <a:rPr dirty="0" sz="1150" spc="-2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for</a:t>
            </a:r>
            <a:r>
              <a:rPr dirty="0" sz="1150" spc="-7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NSAP</a:t>
            </a:r>
            <a:r>
              <a:rPr dirty="0" sz="1150" spc="-3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scheme</a:t>
            </a:r>
            <a:r>
              <a:rPr dirty="0" sz="1150" spc="-8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based</a:t>
            </a:r>
            <a:r>
              <a:rPr dirty="0" sz="1150" spc="-4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on</a:t>
            </a:r>
            <a:r>
              <a:rPr dirty="0" sz="1150" spc="-5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input</a:t>
            </a:r>
            <a:r>
              <a:rPr dirty="0" sz="1150" spc="-10">
                <a:latin typeface="Arial MT"/>
                <a:cs typeface="Arial MT"/>
              </a:rPr>
              <a:t> details.</a:t>
            </a:r>
            <a:endParaRPr sz="1150">
              <a:latin typeface="Arial MT"/>
              <a:cs typeface="Arial MT"/>
            </a:endParaRPr>
          </a:p>
          <a:p>
            <a:pPr lvl="1" marL="247650" indent="-234950">
              <a:lnSpc>
                <a:spcPct val="100000"/>
              </a:lnSpc>
              <a:buChar char="•"/>
              <a:tabLst>
                <a:tab pos="247650" algn="l"/>
              </a:tabLst>
            </a:pPr>
            <a:r>
              <a:rPr dirty="0" sz="1150">
                <a:latin typeface="Arial MT"/>
                <a:cs typeface="Arial MT"/>
              </a:rPr>
              <a:t>Uses</a:t>
            </a:r>
            <a:r>
              <a:rPr dirty="0" sz="1150" spc="-4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the</a:t>
            </a:r>
            <a:r>
              <a:rPr dirty="0" sz="1150" spc="-5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trained</a:t>
            </a:r>
            <a:r>
              <a:rPr dirty="0" sz="1150" spc="-4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regression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model</a:t>
            </a:r>
            <a:r>
              <a:rPr dirty="0" sz="1150" spc="-8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to</a:t>
            </a:r>
            <a:r>
              <a:rPr dirty="0" sz="1150" spc="-6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predict</a:t>
            </a:r>
            <a:r>
              <a:rPr dirty="0" sz="1150" spc="-1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beneficiary</a:t>
            </a:r>
            <a:r>
              <a:rPr dirty="0" sz="1150" spc="-4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counts</a:t>
            </a:r>
            <a:r>
              <a:rPr dirty="0" sz="1150" spc="-3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based</a:t>
            </a:r>
            <a:r>
              <a:rPr dirty="0" sz="1150" spc="-3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on</a:t>
            </a:r>
            <a:r>
              <a:rPr dirty="0" sz="1150" spc="-4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input</a:t>
            </a:r>
            <a:r>
              <a:rPr dirty="0" sz="1150" spc="-15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features.</a:t>
            </a:r>
            <a:endParaRPr sz="1150">
              <a:latin typeface="Arial MT"/>
              <a:cs typeface="Arial MT"/>
            </a:endParaRPr>
          </a:p>
          <a:p>
            <a:pPr lvl="1" marL="247650" indent="-234950">
              <a:lnSpc>
                <a:spcPct val="100000"/>
              </a:lnSpc>
              <a:buChar char="•"/>
              <a:tabLst>
                <a:tab pos="247650" algn="l"/>
              </a:tabLst>
            </a:pPr>
            <a:r>
              <a:rPr dirty="0" sz="1150">
                <a:latin typeface="Arial MT"/>
                <a:cs typeface="Arial MT"/>
              </a:rPr>
              <a:t>Processes</a:t>
            </a:r>
            <a:r>
              <a:rPr dirty="0" sz="1150" spc="-6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the</a:t>
            </a:r>
            <a:r>
              <a:rPr dirty="0" sz="1150" spc="-5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selected</a:t>
            </a:r>
            <a:r>
              <a:rPr dirty="0" sz="1150" spc="-3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attributes</a:t>
            </a:r>
            <a:r>
              <a:rPr dirty="0" sz="1150" spc="-4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and</a:t>
            </a:r>
            <a:r>
              <a:rPr dirty="0" sz="1150" spc="-4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generates</a:t>
            </a:r>
            <a:r>
              <a:rPr dirty="0" sz="1150" spc="-30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numerical</a:t>
            </a:r>
            <a:r>
              <a:rPr dirty="0" sz="1150" spc="-7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prediction</a:t>
            </a:r>
            <a:r>
              <a:rPr dirty="0" sz="1150" spc="-30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values.</a:t>
            </a:r>
            <a:endParaRPr sz="1150">
              <a:latin typeface="Arial MT"/>
              <a:cs typeface="Arial MT"/>
            </a:endParaRPr>
          </a:p>
          <a:p>
            <a:pPr lvl="1" marL="247650" indent="-234950">
              <a:lnSpc>
                <a:spcPct val="100000"/>
              </a:lnSpc>
              <a:buChar char="•"/>
              <a:tabLst>
                <a:tab pos="247650" algn="l"/>
              </a:tabLst>
            </a:pPr>
            <a:r>
              <a:rPr dirty="0" sz="1150">
                <a:latin typeface="Arial MT"/>
                <a:cs typeface="Arial MT"/>
              </a:rPr>
              <a:t>Produces</a:t>
            </a:r>
            <a:r>
              <a:rPr dirty="0" sz="1150" spc="-6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beneficiary</a:t>
            </a:r>
            <a:r>
              <a:rPr dirty="0" sz="1150" spc="-6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predictions</a:t>
            </a:r>
            <a:r>
              <a:rPr dirty="0" sz="1150" spc="-4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such</a:t>
            </a:r>
            <a:r>
              <a:rPr dirty="0" sz="1150" spc="-7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as</a:t>
            </a:r>
            <a:r>
              <a:rPr dirty="0" sz="1150" spc="-7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15183.41,</a:t>
            </a:r>
            <a:r>
              <a:rPr dirty="0" sz="1150" spc="-3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15168.63,</a:t>
            </a:r>
            <a:r>
              <a:rPr dirty="0" sz="1150" spc="-5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and</a:t>
            </a:r>
            <a:r>
              <a:rPr dirty="0" sz="1150" spc="-65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15181.57.</a:t>
            </a:r>
            <a:endParaRPr sz="1150">
              <a:latin typeface="Arial MT"/>
              <a:cs typeface="Arial MT"/>
            </a:endParaRPr>
          </a:p>
          <a:p>
            <a:pPr lvl="1" marL="247650" indent="-234950">
              <a:lnSpc>
                <a:spcPct val="100000"/>
              </a:lnSpc>
              <a:buChar char="•"/>
              <a:tabLst>
                <a:tab pos="247650" algn="l"/>
              </a:tabLst>
            </a:pPr>
            <a:r>
              <a:rPr dirty="0" sz="1150">
                <a:latin typeface="Arial MT"/>
                <a:cs typeface="Arial MT"/>
              </a:rPr>
              <a:t>Displays</a:t>
            </a:r>
            <a:r>
              <a:rPr dirty="0" sz="1150" spc="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the</a:t>
            </a:r>
            <a:r>
              <a:rPr dirty="0" sz="1150" spc="-5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prediction</a:t>
            </a:r>
            <a:r>
              <a:rPr dirty="0" sz="1150" spc="-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results</a:t>
            </a:r>
            <a:r>
              <a:rPr dirty="0" sz="1150" spc="-4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in</a:t>
            </a:r>
            <a:r>
              <a:rPr dirty="0" sz="1150" spc="-4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table</a:t>
            </a:r>
            <a:r>
              <a:rPr dirty="0" sz="1150" spc="-4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and</a:t>
            </a:r>
            <a:r>
              <a:rPr dirty="0" sz="1150" spc="-5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graph</a:t>
            </a:r>
            <a:r>
              <a:rPr dirty="0" sz="1150" spc="-30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formats.</a:t>
            </a:r>
            <a:endParaRPr sz="1150">
              <a:latin typeface="Arial MT"/>
              <a:cs typeface="Arial MT"/>
            </a:endParaRPr>
          </a:p>
          <a:p>
            <a:pPr lvl="1" marL="247650" indent="-234950">
              <a:lnSpc>
                <a:spcPts val="1375"/>
              </a:lnSpc>
              <a:buChar char="•"/>
              <a:tabLst>
                <a:tab pos="247650" algn="l"/>
              </a:tabLst>
            </a:pPr>
            <a:r>
              <a:rPr dirty="0" sz="1150">
                <a:latin typeface="Arial MT"/>
                <a:cs typeface="Arial MT"/>
              </a:rPr>
              <a:t>Supports</a:t>
            </a:r>
            <a:r>
              <a:rPr dirty="0" sz="1150" spc="-4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analysis</a:t>
            </a:r>
            <a:r>
              <a:rPr dirty="0" sz="1150" spc="-3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of</a:t>
            </a:r>
            <a:r>
              <a:rPr dirty="0" sz="1150" spc="-4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beneficiary</a:t>
            </a:r>
            <a:r>
              <a:rPr dirty="0" sz="1150" spc="-6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patterns</a:t>
            </a:r>
            <a:r>
              <a:rPr dirty="0" sz="1150" spc="-4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and</a:t>
            </a:r>
            <a:r>
              <a:rPr dirty="0" sz="1150" spc="-6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scheme</a:t>
            </a:r>
            <a:r>
              <a:rPr dirty="0" sz="1150" spc="-80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planning.</a:t>
            </a:r>
            <a:endParaRPr sz="1150">
              <a:latin typeface="Arial MT"/>
              <a:cs typeface="Arial MT"/>
            </a:endParaRPr>
          </a:p>
          <a:p>
            <a:pPr marL="12700">
              <a:lnSpc>
                <a:spcPts val="1735"/>
              </a:lnSpc>
            </a:pPr>
            <a:r>
              <a:rPr dirty="0" sz="1150">
                <a:latin typeface="Arial MT"/>
                <a:cs typeface="Arial MT"/>
              </a:rPr>
              <a:t>7.</a:t>
            </a:r>
            <a:r>
              <a:rPr dirty="0" sz="1150" spc="-1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Output</a:t>
            </a:r>
            <a:r>
              <a:rPr dirty="0" sz="1450" spc="15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Component</a:t>
            </a:r>
            <a:endParaRPr sz="1450">
              <a:latin typeface="Arial MT"/>
              <a:cs typeface="Arial MT"/>
            </a:endParaRPr>
          </a:p>
          <a:p>
            <a:pPr marL="247650" indent="-234950">
              <a:lnSpc>
                <a:spcPct val="100000"/>
              </a:lnSpc>
              <a:spcBef>
                <a:spcPts val="10"/>
              </a:spcBef>
              <a:buChar char="•"/>
              <a:tabLst>
                <a:tab pos="247650" algn="l"/>
              </a:tabLst>
            </a:pPr>
            <a:r>
              <a:rPr dirty="0" sz="1150">
                <a:latin typeface="Arial MT"/>
                <a:cs typeface="Arial MT"/>
              </a:rPr>
              <a:t>Displays</a:t>
            </a:r>
            <a:r>
              <a:rPr dirty="0" sz="1150" spc="-1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the</a:t>
            </a:r>
            <a:r>
              <a:rPr dirty="0" sz="1150" spc="-6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final</a:t>
            </a:r>
            <a:r>
              <a:rPr dirty="0" sz="1150" spc="-6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prediction</a:t>
            </a:r>
            <a:r>
              <a:rPr dirty="0" sz="1150" spc="-6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results</a:t>
            </a:r>
            <a:r>
              <a:rPr dirty="0" sz="1150" spc="-4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generated</a:t>
            </a:r>
            <a:r>
              <a:rPr dirty="0" sz="1150" spc="-3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by</a:t>
            </a:r>
            <a:r>
              <a:rPr dirty="0" sz="1150" spc="-5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the</a:t>
            </a:r>
            <a:r>
              <a:rPr dirty="0" sz="1150" spc="-5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Machine</a:t>
            </a:r>
            <a:r>
              <a:rPr dirty="0" sz="1150" spc="-3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Learning</a:t>
            </a:r>
            <a:r>
              <a:rPr dirty="0" sz="1150" spc="-35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model.</a:t>
            </a:r>
            <a:endParaRPr sz="1150">
              <a:latin typeface="Arial MT"/>
              <a:cs typeface="Arial MT"/>
            </a:endParaRPr>
          </a:p>
          <a:p>
            <a:pPr marL="247650" indent="-234950">
              <a:lnSpc>
                <a:spcPct val="100000"/>
              </a:lnSpc>
              <a:buChar char="•"/>
              <a:tabLst>
                <a:tab pos="247650" algn="l"/>
              </a:tabLst>
            </a:pPr>
            <a:r>
              <a:rPr dirty="0" sz="1150">
                <a:latin typeface="Arial MT"/>
                <a:cs typeface="Arial MT"/>
              </a:rPr>
              <a:t>Presents</a:t>
            </a:r>
            <a:r>
              <a:rPr dirty="0" sz="1150" spc="-4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predicted</a:t>
            </a:r>
            <a:r>
              <a:rPr dirty="0" sz="1150" spc="-3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beneficiary</a:t>
            </a:r>
            <a:r>
              <a:rPr dirty="0" sz="1150" spc="-6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counts</a:t>
            </a:r>
            <a:r>
              <a:rPr dirty="0" sz="1150" spc="-4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in</a:t>
            </a:r>
            <a:r>
              <a:rPr dirty="0" sz="1150" spc="-6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</a:t>
            </a:r>
            <a:r>
              <a:rPr dirty="0" sz="1150" spc="-4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tabular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format.</a:t>
            </a:r>
            <a:endParaRPr sz="1150">
              <a:latin typeface="Arial MT"/>
              <a:cs typeface="Arial MT"/>
            </a:endParaRPr>
          </a:p>
          <a:p>
            <a:pPr marL="247650" indent="-234950">
              <a:lnSpc>
                <a:spcPct val="100000"/>
              </a:lnSpc>
              <a:buChar char="•"/>
              <a:tabLst>
                <a:tab pos="247650" algn="l"/>
              </a:tabLst>
            </a:pPr>
            <a:r>
              <a:rPr dirty="0" sz="1150">
                <a:latin typeface="Arial MT"/>
                <a:cs typeface="Arial MT"/>
              </a:rPr>
              <a:t>Visualizes</a:t>
            </a:r>
            <a:r>
              <a:rPr dirty="0" sz="1150" spc="-1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prediction</a:t>
            </a:r>
            <a:r>
              <a:rPr dirty="0" sz="1150" spc="-5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distribution</a:t>
            </a:r>
            <a:r>
              <a:rPr dirty="0" sz="1150" spc="-4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using</a:t>
            </a:r>
            <a:r>
              <a:rPr dirty="0" sz="1150" spc="-6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graphs</a:t>
            </a:r>
            <a:r>
              <a:rPr dirty="0" sz="1150" spc="-4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and</a:t>
            </a:r>
            <a:r>
              <a:rPr dirty="0" sz="1150" spc="-65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charts.</a:t>
            </a:r>
            <a:endParaRPr sz="1150">
              <a:latin typeface="Arial MT"/>
              <a:cs typeface="Arial MT"/>
            </a:endParaRPr>
          </a:p>
          <a:p>
            <a:pPr marL="247650" indent="-234950">
              <a:lnSpc>
                <a:spcPct val="100000"/>
              </a:lnSpc>
              <a:buChar char="•"/>
              <a:tabLst>
                <a:tab pos="247650" algn="l"/>
              </a:tabLst>
            </a:pPr>
            <a:r>
              <a:rPr dirty="0" sz="1150">
                <a:latin typeface="Arial MT"/>
                <a:cs typeface="Arial MT"/>
              </a:rPr>
              <a:t>Enables</a:t>
            </a:r>
            <a:r>
              <a:rPr dirty="0" sz="1150" spc="-4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users</a:t>
            </a:r>
            <a:r>
              <a:rPr dirty="0" sz="1150" spc="-4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to</a:t>
            </a:r>
            <a:r>
              <a:rPr dirty="0" sz="1150" spc="-6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analyze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and</a:t>
            </a:r>
            <a:r>
              <a:rPr dirty="0" sz="1150" spc="-5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interpret</a:t>
            </a:r>
            <a:r>
              <a:rPr dirty="0" sz="1150" spc="-2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the</a:t>
            </a:r>
            <a:r>
              <a:rPr dirty="0" sz="1150" spc="-6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predicted</a:t>
            </a:r>
            <a:r>
              <a:rPr dirty="0" sz="1150" spc="-5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values</a:t>
            </a:r>
            <a:r>
              <a:rPr dirty="0" sz="1150" spc="-10">
                <a:latin typeface="Arial MT"/>
                <a:cs typeface="Arial MT"/>
              </a:rPr>
              <a:t> easily.</a:t>
            </a:r>
            <a:endParaRPr sz="1150">
              <a:latin typeface="Arial MT"/>
              <a:cs typeface="Arial MT"/>
            </a:endParaRPr>
          </a:p>
          <a:p>
            <a:pPr marL="247650" indent="-234950">
              <a:lnSpc>
                <a:spcPts val="1375"/>
              </a:lnSpc>
              <a:buChar char="•"/>
              <a:tabLst>
                <a:tab pos="247650" algn="l"/>
              </a:tabLst>
            </a:pPr>
            <a:r>
              <a:rPr dirty="0" sz="1150">
                <a:latin typeface="Arial MT"/>
                <a:cs typeface="Arial MT"/>
              </a:rPr>
              <a:t>Provides</a:t>
            </a:r>
            <a:r>
              <a:rPr dirty="0" sz="1150" spc="-1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outputs</a:t>
            </a:r>
            <a:r>
              <a:rPr dirty="0" sz="1150" spc="-3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that</a:t>
            </a:r>
            <a:r>
              <a:rPr dirty="0" sz="1150" spc="-3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support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 spc="-25">
                <a:latin typeface="Arial MT"/>
                <a:cs typeface="Arial MT"/>
              </a:rPr>
              <a:t>decision-</a:t>
            </a:r>
            <a:r>
              <a:rPr dirty="0" sz="1150">
                <a:latin typeface="Arial MT"/>
                <a:cs typeface="Arial MT"/>
              </a:rPr>
              <a:t>making</a:t>
            </a:r>
            <a:r>
              <a:rPr dirty="0" sz="1150" spc="-1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and</a:t>
            </a:r>
            <a:r>
              <a:rPr dirty="0" sz="1150" spc="-4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beneficiary</a:t>
            </a:r>
            <a:r>
              <a:rPr dirty="0" sz="1150" spc="-35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planning.</a:t>
            </a:r>
            <a:endParaRPr sz="1150">
              <a:latin typeface="Arial MT"/>
              <a:cs typeface="Arial MT"/>
            </a:endParaRPr>
          </a:p>
          <a:p>
            <a:pPr marL="12700">
              <a:lnSpc>
                <a:spcPts val="1735"/>
              </a:lnSpc>
            </a:pPr>
            <a:r>
              <a:rPr dirty="0" sz="1150">
                <a:latin typeface="Arial MT"/>
                <a:cs typeface="Arial MT"/>
              </a:rPr>
              <a:t>8.</a:t>
            </a:r>
            <a:r>
              <a:rPr dirty="0" sz="1150" spc="15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Data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Storage</a:t>
            </a:r>
            <a:r>
              <a:rPr dirty="0" sz="1450" spc="10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Component</a:t>
            </a:r>
            <a:endParaRPr sz="1450">
              <a:latin typeface="Arial MT"/>
              <a:cs typeface="Arial MT"/>
            </a:endParaRPr>
          </a:p>
          <a:p>
            <a:pPr marL="247650" indent="-234950">
              <a:lnSpc>
                <a:spcPct val="100000"/>
              </a:lnSpc>
              <a:spcBef>
                <a:spcPts val="10"/>
              </a:spcBef>
              <a:buChar char="•"/>
              <a:tabLst>
                <a:tab pos="247650" algn="l"/>
              </a:tabLst>
            </a:pPr>
            <a:r>
              <a:rPr dirty="0" sz="1150">
                <a:latin typeface="Arial MT"/>
                <a:cs typeface="Arial MT"/>
              </a:rPr>
              <a:t>Stores</a:t>
            </a:r>
            <a:r>
              <a:rPr dirty="0" sz="1150" spc="-6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dataset,</a:t>
            </a:r>
            <a:r>
              <a:rPr dirty="0" sz="1150" spc="-3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trained</a:t>
            </a:r>
            <a:r>
              <a:rPr dirty="0" sz="1150" spc="-3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model</a:t>
            </a:r>
            <a:r>
              <a:rPr dirty="0" sz="1150" spc="-8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and</a:t>
            </a:r>
            <a:r>
              <a:rPr dirty="0" sz="1150" spc="-5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prediction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results</a:t>
            </a:r>
            <a:r>
              <a:rPr dirty="0" sz="1150" spc="-5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for</a:t>
            </a:r>
            <a:r>
              <a:rPr dirty="0" sz="1150" spc="-7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future</a:t>
            </a:r>
            <a:r>
              <a:rPr dirty="0" sz="1150" spc="-80">
                <a:latin typeface="Arial MT"/>
                <a:cs typeface="Arial MT"/>
              </a:rPr>
              <a:t> </a:t>
            </a:r>
            <a:r>
              <a:rPr dirty="0" sz="1150" spc="-20">
                <a:latin typeface="Arial MT"/>
                <a:cs typeface="Arial MT"/>
              </a:rPr>
              <a:t>use.</a:t>
            </a:r>
            <a:endParaRPr sz="11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3222" y="1409243"/>
            <a:ext cx="2363470" cy="3238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950" b="1">
                <a:solidFill>
                  <a:srgbClr val="051C3A"/>
                </a:solidFill>
                <a:latin typeface="Times New Roman"/>
                <a:cs typeface="Times New Roman"/>
              </a:rPr>
              <a:t>Langflow</a:t>
            </a:r>
            <a:r>
              <a:rPr dirty="0" sz="1950" spc="245" b="1">
                <a:solidFill>
                  <a:srgbClr val="051C3A"/>
                </a:solidFill>
                <a:latin typeface="Times New Roman"/>
                <a:cs typeface="Times New Roman"/>
              </a:rPr>
              <a:t> </a:t>
            </a:r>
            <a:r>
              <a:rPr dirty="0" sz="1950" b="1">
                <a:latin typeface="Arial"/>
                <a:cs typeface="Arial"/>
              </a:rPr>
              <a:t>workflow</a:t>
            </a:r>
            <a:r>
              <a:rPr dirty="0" sz="1950" spc="30" b="1">
                <a:latin typeface="Arial"/>
                <a:cs typeface="Arial"/>
              </a:rPr>
              <a:t> </a:t>
            </a:r>
            <a:r>
              <a:rPr dirty="0" sz="1950" spc="-50" b="1">
                <a:latin typeface="Arial"/>
                <a:cs typeface="Arial"/>
              </a:rPr>
              <a:t>-</a:t>
            </a:r>
            <a:endParaRPr sz="195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2504" y="1825751"/>
            <a:ext cx="9614916" cy="489051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0755" y="1284187"/>
            <a:ext cx="2307590" cy="3238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950" b="1">
                <a:latin typeface="Calibri"/>
                <a:cs typeface="Calibri"/>
              </a:rPr>
              <a:t>Architecture</a:t>
            </a:r>
            <a:r>
              <a:rPr dirty="0" sz="1950" spc="-65" b="1">
                <a:latin typeface="Calibri"/>
                <a:cs typeface="Calibri"/>
              </a:rPr>
              <a:t> </a:t>
            </a:r>
            <a:r>
              <a:rPr dirty="0" sz="1950" spc="-10" b="1">
                <a:latin typeface="Calibri"/>
                <a:cs typeface="Calibri"/>
              </a:rPr>
              <a:t>blueprint</a:t>
            </a:r>
            <a:endParaRPr sz="195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3484" y="1616964"/>
            <a:ext cx="8668512" cy="493775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4608" y="1057655"/>
            <a:ext cx="6705599" cy="555497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Technology</a:t>
            </a:r>
            <a:r>
              <a:rPr dirty="0" spc="-5"/>
              <a:t> </a:t>
            </a:r>
            <a:r>
              <a:rPr dirty="0" spc="-20"/>
              <a:t>Used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03575" y="2070577"/>
            <a:ext cx="6767195" cy="23837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8285" indent="-23558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8285" algn="l"/>
              </a:tabLst>
            </a:pPr>
            <a:r>
              <a:rPr dirty="0" sz="1450" b="1">
                <a:latin typeface="Arial"/>
                <a:cs typeface="Arial"/>
              </a:rPr>
              <a:t>Langflow</a:t>
            </a:r>
            <a:r>
              <a:rPr dirty="0" sz="1450" spc="-10" b="1">
                <a:latin typeface="Arial"/>
                <a:cs typeface="Arial"/>
              </a:rPr>
              <a:t> </a:t>
            </a:r>
            <a:r>
              <a:rPr dirty="0" sz="1450" b="1">
                <a:latin typeface="Arial"/>
                <a:cs typeface="Arial"/>
              </a:rPr>
              <a:t>platform</a:t>
            </a:r>
            <a:r>
              <a:rPr dirty="0" sz="1450" spc="-45" b="1">
                <a:latin typeface="Arial"/>
                <a:cs typeface="Arial"/>
              </a:rPr>
              <a:t> </a:t>
            </a:r>
            <a:r>
              <a:rPr dirty="0" sz="1450" b="1">
                <a:latin typeface="Arial"/>
                <a:cs typeface="Arial"/>
              </a:rPr>
              <a:t>-</a:t>
            </a:r>
            <a:r>
              <a:rPr dirty="0" sz="1450" spc="-30" b="1">
                <a:latin typeface="Arial"/>
                <a:cs typeface="Arial"/>
              </a:rPr>
              <a:t> </a:t>
            </a:r>
            <a:r>
              <a:rPr dirty="0" sz="1300" b="1">
                <a:latin typeface="Arial"/>
                <a:cs typeface="Arial"/>
              </a:rPr>
              <a:t>Used</a:t>
            </a:r>
            <a:r>
              <a:rPr dirty="0" sz="1300" spc="-10" b="1">
                <a:latin typeface="Arial"/>
                <a:cs typeface="Arial"/>
              </a:rPr>
              <a:t> </a:t>
            </a:r>
            <a:r>
              <a:rPr dirty="0" sz="1300" b="1">
                <a:latin typeface="Arial"/>
                <a:cs typeface="Arial"/>
              </a:rPr>
              <a:t>for</a:t>
            </a:r>
            <a:r>
              <a:rPr dirty="0" sz="1300" spc="-20" b="1">
                <a:latin typeface="Arial"/>
                <a:cs typeface="Arial"/>
              </a:rPr>
              <a:t> </a:t>
            </a:r>
            <a:r>
              <a:rPr dirty="0" sz="1300" b="1">
                <a:latin typeface="Arial"/>
                <a:cs typeface="Arial"/>
              </a:rPr>
              <a:t>designing</a:t>
            </a:r>
            <a:r>
              <a:rPr dirty="0" sz="1300" spc="25" b="1">
                <a:latin typeface="Arial"/>
                <a:cs typeface="Arial"/>
              </a:rPr>
              <a:t> </a:t>
            </a:r>
            <a:r>
              <a:rPr dirty="0" sz="1300" b="1">
                <a:latin typeface="Arial"/>
                <a:cs typeface="Arial"/>
              </a:rPr>
              <a:t>and</a:t>
            </a:r>
            <a:r>
              <a:rPr dirty="0" sz="1300" spc="-25" b="1">
                <a:latin typeface="Arial"/>
                <a:cs typeface="Arial"/>
              </a:rPr>
              <a:t> </a:t>
            </a:r>
            <a:r>
              <a:rPr dirty="0" sz="1300" b="1">
                <a:latin typeface="Arial"/>
                <a:cs typeface="Arial"/>
              </a:rPr>
              <a:t>orchestrating</a:t>
            </a:r>
            <a:r>
              <a:rPr dirty="0" sz="1300" spc="25" b="1">
                <a:latin typeface="Arial"/>
                <a:cs typeface="Arial"/>
              </a:rPr>
              <a:t> </a:t>
            </a:r>
            <a:r>
              <a:rPr dirty="0" sz="1300" b="1">
                <a:latin typeface="Arial"/>
                <a:cs typeface="Arial"/>
              </a:rPr>
              <a:t>AI</a:t>
            </a:r>
            <a:r>
              <a:rPr dirty="0" sz="1300" spc="45" b="1">
                <a:latin typeface="Arial"/>
                <a:cs typeface="Arial"/>
              </a:rPr>
              <a:t> </a:t>
            </a:r>
            <a:r>
              <a:rPr dirty="0" sz="1300" b="1">
                <a:latin typeface="Arial"/>
                <a:cs typeface="Arial"/>
              </a:rPr>
              <a:t>workflows</a:t>
            </a:r>
            <a:r>
              <a:rPr dirty="0" sz="1300" spc="-70" b="1">
                <a:latin typeface="Arial"/>
                <a:cs typeface="Arial"/>
              </a:rPr>
              <a:t> </a:t>
            </a:r>
            <a:r>
              <a:rPr dirty="0" sz="1300" spc="-10" b="1">
                <a:latin typeface="Arial"/>
                <a:cs typeface="Arial"/>
              </a:rPr>
              <a:t>visually</a:t>
            </a:r>
            <a:r>
              <a:rPr dirty="0" sz="1450" spc="-10" b="1">
                <a:latin typeface="Arial"/>
                <a:cs typeface="Arial"/>
              </a:rPr>
              <a:t>.</a:t>
            </a:r>
            <a:endParaRPr sz="1450">
              <a:latin typeface="Arial"/>
              <a:cs typeface="Arial"/>
            </a:endParaRPr>
          </a:p>
          <a:p>
            <a:pPr marL="248285" indent="-235585">
              <a:lnSpc>
                <a:spcPct val="100000"/>
              </a:lnSpc>
              <a:spcBef>
                <a:spcPts val="1405"/>
              </a:spcBef>
              <a:buFont typeface="Arial MT"/>
              <a:buChar char="•"/>
              <a:tabLst>
                <a:tab pos="248285" algn="l"/>
              </a:tabLst>
            </a:pPr>
            <a:r>
              <a:rPr dirty="0" sz="1450" b="1">
                <a:latin typeface="Arial"/>
                <a:cs typeface="Arial"/>
              </a:rPr>
              <a:t>IBM</a:t>
            </a:r>
            <a:r>
              <a:rPr dirty="0" sz="1450" spc="-60" b="1">
                <a:latin typeface="Arial"/>
                <a:cs typeface="Arial"/>
              </a:rPr>
              <a:t> </a:t>
            </a:r>
            <a:r>
              <a:rPr dirty="0" sz="1450" b="1">
                <a:latin typeface="Arial"/>
                <a:cs typeface="Arial"/>
              </a:rPr>
              <a:t>Grainte</a:t>
            </a:r>
            <a:r>
              <a:rPr dirty="0" sz="1450" spc="-30" b="1">
                <a:latin typeface="Arial"/>
                <a:cs typeface="Arial"/>
              </a:rPr>
              <a:t> </a:t>
            </a:r>
            <a:r>
              <a:rPr dirty="0" sz="1450" b="1">
                <a:latin typeface="Arial"/>
                <a:cs typeface="Arial"/>
              </a:rPr>
              <a:t>model</a:t>
            </a:r>
            <a:r>
              <a:rPr dirty="0" sz="1450" spc="-45" b="1">
                <a:latin typeface="Arial"/>
                <a:cs typeface="Arial"/>
              </a:rPr>
              <a:t> </a:t>
            </a:r>
            <a:r>
              <a:rPr dirty="0" sz="1450">
                <a:latin typeface="Arial MT"/>
                <a:cs typeface="Arial MT"/>
              </a:rPr>
              <a:t>-</a:t>
            </a:r>
            <a:r>
              <a:rPr dirty="0" sz="1450" spc="-5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Used</a:t>
            </a:r>
            <a:r>
              <a:rPr dirty="0" sz="1150" spc="-3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for</a:t>
            </a:r>
            <a:r>
              <a:rPr dirty="0" sz="1150" spc="-5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natural</a:t>
            </a:r>
            <a:r>
              <a:rPr dirty="0" sz="1150" spc="-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language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understanding</a:t>
            </a:r>
            <a:r>
              <a:rPr dirty="0" sz="1150" spc="1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and</a:t>
            </a:r>
            <a:r>
              <a:rPr dirty="0" sz="1150" spc="-3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intelligent</a:t>
            </a:r>
            <a:r>
              <a:rPr dirty="0" sz="1150" spc="-5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responses.</a:t>
            </a:r>
            <a:endParaRPr sz="11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0"/>
              </a:spcBef>
              <a:buFont typeface="Arial MT"/>
              <a:buChar char="•"/>
            </a:pPr>
            <a:endParaRPr sz="1150">
              <a:latin typeface="Arial MT"/>
              <a:cs typeface="Arial MT"/>
            </a:endParaRPr>
          </a:p>
          <a:p>
            <a:pPr marL="248285" indent="-23558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48285" algn="l"/>
              </a:tabLst>
            </a:pPr>
            <a:r>
              <a:rPr dirty="0" sz="1450" b="1">
                <a:latin typeface="Arial"/>
                <a:cs typeface="Arial"/>
              </a:rPr>
              <a:t>IBM</a:t>
            </a:r>
            <a:r>
              <a:rPr dirty="0" sz="1450" spc="-55" b="1">
                <a:latin typeface="Arial"/>
                <a:cs typeface="Arial"/>
              </a:rPr>
              <a:t> </a:t>
            </a:r>
            <a:r>
              <a:rPr dirty="0" sz="1450" b="1">
                <a:latin typeface="Arial"/>
                <a:cs typeface="Arial"/>
              </a:rPr>
              <a:t>Cloud</a:t>
            </a:r>
            <a:r>
              <a:rPr dirty="0" sz="1450" spc="-45" b="1">
                <a:latin typeface="Arial"/>
                <a:cs typeface="Arial"/>
              </a:rPr>
              <a:t> </a:t>
            </a:r>
            <a:r>
              <a:rPr dirty="0" sz="1450">
                <a:latin typeface="Arial MT"/>
                <a:cs typeface="Arial MT"/>
              </a:rPr>
              <a:t>–</a:t>
            </a:r>
            <a:r>
              <a:rPr dirty="0" sz="1450" spc="-3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Provides</a:t>
            </a:r>
            <a:r>
              <a:rPr dirty="0" sz="1150" spc="3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secure</a:t>
            </a:r>
            <a:r>
              <a:rPr dirty="0" sz="1150" spc="-3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and</a:t>
            </a:r>
            <a:r>
              <a:rPr dirty="0" sz="1150" spc="-1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scalable</a:t>
            </a:r>
            <a:r>
              <a:rPr dirty="0" sz="1150" spc="-2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infrastructure</a:t>
            </a:r>
            <a:r>
              <a:rPr dirty="0" sz="1150" spc="-4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for</a:t>
            </a:r>
            <a:r>
              <a:rPr dirty="0" sz="1150" spc="-40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deployment.</a:t>
            </a:r>
            <a:endParaRPr sz="11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60"/>
              </a:spcBef>
              <a:buFont typeface="Arial MT"/>
              <a:buChar char="•"/>
            </a:pPr>
            <a:endParaRPr sz="1150">
              <a:latin typeface="Arial MT"/>
              <a:cs typeface="Arial MT"/>
            </a:endParaRPr>
          </a:p>
          <a:p>
            <a:pPr marL="248285" indent="-235585">
              <a:lnSpc>
                <a:spcPct val="100000"/>
              </a:lnSpc>
              <a:buFont typeface="Arial MT"/>
              <a:buChar char="•"/>
              <a:tabLst>
                <a:tab pos="248285" algn="l"/>
              </a:tabLst>
            </a:pPr>
            <a:r>
              <a:rPr dirty="0" sz="1450" spc="-10" b="1">
                <a:latin typeface="Arial"/>
                <a:cs typeface="Arial"/>
              </a:rPr>
              <a:t>RAG–</a:t>
            </a:r>
            <a:r>
              <a:rPr dirty="0" sz="1450" spc="-60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Provides</a:t>
            </a:r>
            <a:r>
              <a:rPr dirty="0" sz="1150" spc="-35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secure</a:t>
            </a:r>
            <a:r>
              <a:rPr dirty="0" sz="1150" spc="-30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and</a:t>
            </a:r>
            <a:r>
              <a:rPr dirty="0" sz="1150" spc="-75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scalable</a:t>
            </a:r>
            <a:r>
              <a:rPr dirty="0" sz="1150" spc="-30" b="1">
                <a:latin typeface="Arial"/>
                <a:cs typeface="Arial"/>
              </a:rPr>
              <a:t> </a:t>
            </a:r>
            <a:r>
              <a:rPr dirty="0" sz="1150" spc="-10" b="1">
                <a:latin typeface="Arial"/>
                <a:cs typeface="Arial"/>
              </a:rPr>
              <a:t>infrastructure</a:t>
            </a:r>
            <a:r>
              <a:rPr dirty="0" sz="1150" spc="-20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for</a:t>
            </a:r>
            <a:r>
              <a:rPr dirty="0" sz="1150" spc="-50" b="1">
                <a:latin typeface="Arial"/>
                <a:cs typeface="Arial"/>
              </a:rPr>
              <a:t> </a:t>
            </a:r>
            <a:r>
              <a:rPr dirty="0" sz="1150" spc="-10" b="1">
                <a:latin typeface="Arial"/>
                <a:cs typeface="Arial"/>
              </a:rPr>
              <a:t>deployment.</a:t>
            </a:r>
            <a:r>
              <a:rPr dirty="0" sz="1150" spc="-10">
                <a:latin typeface="Arial MT"/>
                <a:cs typeface="Arial MT"/>
              </a:rPr>
              <a:t>.</a:t>
            </a:r>
            <a:endParaRPr sz="11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55"/>
              </a:spcBef>
              <a:buFont typeface="Arial MT"/>
              <a:buChar char="•"/>
            </a:pPr>
            <a:endParaRPr sz="1150">
              <a:latin typeface="Arial MT"/>
              <a:cs typeface="Arial MT"/>
            </a:endParaRPr>
          </a:p>
          <a:p>
            <a:pPr marL="248285" indent="-235585">
              <a:lnSpc>
                <a:spcPct val="100000"/>
              </a:lnSpc>
              <a:buFont typeface="Arial MT"/>
              <a:buChar char="•"/>
              <a:tabLst>
                <a:tab pos="248285" algn="l"/>
              </a:tabLst>
            </a:pPr>
            <a:r>
              <a:rPr dirty="0" sz="1450" b="1">
                <a:latin typeface="Arial"/>
                <a:cs typeface="Arial"/>
              </a:rPr>
              <a:t>IBM</a:t>
            </a:r>
            <a:r>
              <a:rPr dirty="0" sz="1450" spc="-65" b="1">
                <a:latin typeface="Arial"/>
                <a:cs typeface="Arial"/>
              </a:rPr>
              <a:t> </a:t>
            </a:r>
            <a:r>
              <a:rPr dirty="0" sz="1450" b="1">
                <a:latin typeface="Arial"/>
                <a:cs typeface="Arial"/>
              </a:rPr>
              <a:t>Watsonx.ai-</a:t>
            </a:r>
            <a:r>
              <a:rPr dirty="0" sz="1450" spc="-30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Provides</a:t>
            </a:r>
            <a:r>
              <a:rPr dirty="0" sz="1150" spc="-30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secure</a:t>
            </a:r>
            <a:r>
              <a:rPr dirty="0" sz="1150" spc="-35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and</a:t>
            </a:r>
            <a:r>
              <a:rPr dirty="0" sz="1150" spc="-55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scalable</a:t>
            </a:r>
            <a:r>
              <a:rPr dirty="0" sz="1150" spc="-55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infrastructure</a:t>
            </a:r>
            <a:r>
              <a:rPr dirty="0" sz="1150" spc="-35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for</a:t>
            </a:r>
            <a:r>
              <a:rPr dirty="0" sz="1150" spc="-35" b="1">
                <a:latin typeface="Arial"/>
                <a:cs typeface="Arial"/>
              </a:rPr>
              <a:t> </a:t>
            </a:r>
            <a:r>
              <a:rPr dirty="0" sz="1150" spc="-10" b="1">
                <a:latin typeface="Arial"/>
                <a:cs typeface="Arial"/>
              </a:rPr>
              <a:t>deployment.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60"/>
              </a:spcBef>
              <a:buFont typeface="Arial MT"/>
              <a:buChar char="•"/>
            </a:pPr>
            <a:endParaRPr sz="1150">
              <a:latin typeface="Arial"/>
              <a:cs typeface="Arial"/>
            </a:endParaRPr>
          </a:p>
          <a:p>
            <a:pPr marL="248285" indent="-235585">
              <a:lnSpc>
                <a:spcPct val="100000"/>
              </a:lnSpc>
              <a:buFont typeface="Arial MT"/>
              <a:buChar char="•"/>
              <a:tabLst>
                <a:tab pos="248285" algn="l"/>
              </a:tabLst>
            </a:pPr>
            <a:r>
              <a:rPr dirty="0" sz="1450" b="1">
                <a:latin typeface="Arial"/>
                <a:cs typeface="Arial"/>
              </a:rPr>
              <a:t>Vector</a:t>
            </a:r>
            <a:r>
              <a:rPr dirty="0" sz="1450" spc="-20" b="1">
                <a:latin typeface="Arial"/>
                <a:cs typeface="Arial"/>
              </a:rPr>
              <a:t> </a:t>
            </a:r>
            <a:r>
              <a:rPr dirty="0" sz="1450" b="1">
                <a:latin typeface="Arial"/>
                <a:cs typeface="Arial"/>
              </a:rPr>
              <a:t>Database</a:t>
            </a:r>
            <a:r>
              <a:rPr dirty="0" sz="1450" spc="40" b="1">
                <a:latin typeface="Arial"/>
                <a:cs typeface="Arial"/>
              </a:rPr>
              <a:t> </a:t>
            </a:r>
            <a:r>
              <a:rPr dirty="0" sz="1450" spc="-10">
                <a:latin typeface="Arial MT"/>
                <a:cs typeface="Arial MT"/>
              </a:rPr>
              <a:t>(FAISS/Chroma)</a:t>
            </a:r>
            <a:r>
              <a:rPr dirty="0" sz="1450" spc="-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–</a:t>
            </a:r>
            <a:r>
              <a:rPr dirty="0" sz="1450" spc="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Stores and</a:t>
            </a:r>
            <a:r>
              <a:rPr dirty="0" sz="1150" spc="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retrieves</a:t>
            </a:r>
            <a:r>
              <a:rPr dirty="0" sz="1150" spc="4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scheme</a:t>
            </a:r>
            <a:r>
              <a:rPr dirty="0" sz="1150" spc="-6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documents</a:t>
            </a:r>
            <a:r>
              <a:rPr dirty="0" sz="1150" spc="-25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efficiently.</a:t>
            </a:r>
            <a:endParaRPr sz="11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55474" y="1535703"/>
            <a:ext cx="234251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b="0">
                <a:latin typeface="Calibri"/>
                <a:cs typeface="Calibri"/>
              </a:rPr>
              <a:t>Token</a:t>
            </a:r>
            <a:r>
              <a:rPr dirty="0" sz="3600" spc="-15" b="0">
                <a:latin typeface="Calibri"/>
                <a:cs typeface="Calibri"/>
              </a:rPr>
              <a:t> </a:t>
            </a:r>
            <a:r>
              <a:rPr dirty="0" sz="3600" spc="-20" b="0">
                <a:latin typeface="Calibri"/>
                <a:cs typeface="Calibri"/>
              </a:rPr>
              <a:t>usage</a:t>
            </a:r>
            <a:endParaRPr sz="36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800" y="2103120"/>
            <a:ext cx="9372600" cy="461771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Novelty</a:t>
            </a:r>
            <a:r>
              <a:rPr dirty="0" spc="55"/>
              <a:t> </a:t>
            </a:r>
            <a:r>
              <a:rPr dirty="0"/>
              <a:t>and</a:t>
            </a:r>
            <a:r>
              <a:rPr dirty="0" spc="-10"/>
              <a:t> Uniqueness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 marR="699135">
              <a:lnSpc>
                <a:spcPct val="102800"/>
              </a:lnSpc>
              <a:spcBef>
                <a:spcPts val="50"/>
              </a:spcBef>
            </a:pPr>
            <a:r>
              <a:rPr dirty="0"/>
              <a:t>The</a:t>
            </a:r>
            <a:r>
              <a:rPr dirty="0" spc="40"/>
              <a:t> </a:t>
            </a:r>
            <a:r>
              <a:rPr dirty="0"/>
              <a:t>proposed</a:t>
            </a:r>
            <a:r>
              <a:rPr dirty="0" spc="60"/>
              <a:t> </a:t>
            </a:r>
            <a:r>
              <a:rPr dirty="0"/>
              <a:t>NSAP</a:t>
            </a:r>
            <a:r>
              <a:rPr dirty="0" spc="-10"/>
              <a:t> </a:t>
            </a:r>
            <a:r>
              <a:rPr dirty="0"/>
              <a:t>Eligibility</a:t>
            </a:r>
            <a:r>
              <a:rPr dirty="0" spc="-15"/>
              <a:t> </a:t>
            </a:r>
            <a:r>
              <a:rPr dirty="0"/>
              <a:t>Prediction</a:t>
            </a:r>
            <a:r>
              <a:rPr dirty="0" spc="35"/>
              <a:t> </a:t>
            </a:r>
            <a:r>
              <a:rPr dirty="0"/>
              <a:t>System</a:t>
            </a:r>
            <a:r>
              <a:rPr dirty="0" spc="60"/>
              <a:t> </a:t>
            </a:r>
            <a:r>
              <a:rPr dirty="0"/>
              <a:t>combines</a:t>
            </a:r>
            <a:r>
              <a:rPr dirty="0" spc="30"/>
              <a:t> </a:t>
            </a:r>
            <a:r>
              <a:rPr dirty="0"/>
              <a:t>Machine</a:t>
            </a:r>
            <a:r>
              <a:rPr dirty="0" spc="30"/>
              <a:t> </a:t>
            </a:r>
            <a:r>
              <a:rPr dirty="0"/>
              <a:t>Learning,</a:t>
            </a:r>
            <a:r>
              <a:rPr dirty="0" spc="50"/>
              <a:t> </a:t>
            </a:r>
            <a:r>
              <a:rPr dirty="0"/>
              <a:t>RAG,</a:t>
            </a:r>
            <a:r>
              <a:rPr dirty="0" spc="5"/>
              <a:t> </a:t>
            </a:r>
            <a:r>
              <a:rPr dirty="0"/>
              <a:t>and</a:t>
            </a:r>
            <a:r>
              <a:rPr dirty="0" spc="45"/>
              <a:t> </a:t>
            </a:r>
            <a:r>
              <a:rPr dirty="0" spc="-10"/>
              <a:t>AI-powered </a:t>
            </a:r>
            <a:r>
              <a:rPr dirty="0"/>
              <a:t>assistance</a:t>
            </a:r>
            <a:r>
              <a:rPr dirty="0" spc="-10"/>
              <a:t> </a:t>
            </a:r>
            <a:r>
              <a:rPr dirty="0"/>
              <a:t>to simplify</a:t>
            </a:r>
            <a:r>
              <a:rPr dirty="0" spc="-15"/>
              <a:t> </a:t>
            </a:r>
            <a:r>
              <a:rPr dirty="0"/>
              <a:t>the</a:t>
            </a:r>
            <a:r>
              <a:rPr dirty="0" spc="20"/>
              <a:t> </a:t>
            </a:r>
            <a:r>
              <a:rPr dirty="0"/>
              <a:t>identification</a:t>
            </a:r>
            <a:r>
              <a:rPr dirty="0" spc="5"/>
              <a:t> </a:t>
            </a:r>
            <a:r>
              <a:rPr dirty="0"/>
              <a:t>of</a:t>
            </a:r>
            <a:r>
              <a:rPr dirty="0" spc="10"/>
              <a:t> </a:t>
            </a:r>
            <a:r>
              <a:rPr dirty="0"/>
              <a:t>eligible</a:t>
            </a:r>
            <a:r>
              <a:rPr dirty="0" spc="15"/>
              <a:t> </a:t>
            </a:r>
            <a:r>
              <a:rPr dirty="0"/>
              <a:t>beneficiaries</a:t>
            </a:r>
            <a:r>
              <a:rPr dirty="0" spc="15"/>
              <a:t> </a:t>
            </a:r>
            <a:r>
              <a:rPr dirty="0"/>
              <a:t>for</a:t>
            </a:r>
            <a:r>
              <a:rPr dirty="0" spc="20"/>
              <a:t> </a:t>
            </a:r>
            <a:r>
              <a:rPr dirty="0"/>
              <a:t>government</a:t>
            </a:r>
            <a:r>
              <a:rPr dirty="0" spc="70"/>
              <a:t> </a:t>
            </a:r>
            <a:r>
              <a:rPr dirty="0"/>
              <a:t>welfare</a:t>
            </a:r>
            <a:r>
              <a:rPr dirty="0" spc="40"/>
              <a:t> </a:t>
            </a:r>
            <a:r>
              <a:rPr dirty="0" spc="-10"/>
              <a:t>schemes.</a:t>
            </a:r>
          </a:p>
          <a:p>
            <a:pPr marL="248285" indent="-235585">
              <a:lnSpc>
                <a:spcPct val="100000"/>
              </a:lnSpc>
              <a:spcBef>
                <a:spcPts val="120"/>
              </a:spcBef>
              <a:buChar char="•"/>
              <a:tabLst>
                <a:tab pos="248285" algn="l"/>
              </a:tabLst>
            </a:pPr>
            <a:r>
              <a:rPr dirty="0"/>
              <a:t>Automated</a:t>
            </a:r>
            <a:r>
              <a:rPr dirty="0" spc="-35"/>
              <a:t> </a:t>
            </a:r>
            <a:r>
              <a:rPr dirty="0"/>
              <a:t>Eligibility</a:t>
            </a:r>
            <a:r>
              <a:rPr dirty="0" spc="-70"/>
              <a:t> </a:t>
            </a:r>
            <a:r>
              <a:rPr dirty="0"/>
              <a:t>Prediction</a:t>
            </a:r>
            <a:r>
              <a:rPr dirty="0" spc="-30"/>
              <a:t> </a:t>
            </a:r>
            <a:r>
              <a:rPr dirty="0"/>
              <a:t>–</a:t>
            </a:r>
            <a:r>
              <a:rPr dirty="0" spc="-45"/>
              <a:t> </a:t>
            </a:r>
            <a:r>
              <a:rPr dirty="0"/>
              <a:t>U</a:t>
            </a:r>
            <a:r>
              <a:rPr dirty="0" sz="1150"/>
              <a:t>ses</a:t>
            </a:r>
            <a:r>
              <a:rPr dirty="0" sz="1150" spc="-30"/>
              <a:t> </a:t>
            </a:r>
            <a:r>
              <a:rPr dirty="0" sz="1150"/>
              <a:t>machine</a:t>
            </a:r>
            <a:r>
              <a:rPr dirty="0" sz="1150" spc="-45"/>
              <a:t> </a:t>
            </a:r>
            <a:r>
              <a:rPr dirty="0" sz="1150"/>
              <a:t>learning</a:t>
            </a:r>
            <a:r>
              <a:rPr dirty="0" sz="1150" spc="10"/>
              <a:t> </a:t>
            </a:r>
            <a:r>
              <a:rPr dirty="0" sz="1150"/>
              <a:t>models</a:t>
            </a:r>
            <a:r>
              <a:rPr dirty="0" sz="1150" spc="-50"/>
              <a:t> </a:t>
            </a:r>
            <a:r>
              <a:rPr dirty="0" sz="1150"/>
              <a:t>to</a:t>
            </a:r>
            <a:r>
              <a:rPr dirty="0" sz="1150" spc="-30"/>
              <a:t> </a:t>
            </a:r>
            <a:r>
              <a:rPr dirty="0" sz="1150"/>
              <a:t>analyze</a:t>
            </a:r>
            <a:r>
              <a:rPr dirty="0" sz="1150" spc="15"/>
              <a:t> </a:t>
            </a:r>
            <a:r>
              <a:rPr dirty="0" sz="1150"/>
              <a:t>applicant</a:t>
            </a:r>
            <a:r>
              <a:rPr dirty="0" sz="1150" spc="-5"/>
              <a:t> </a:t>
            </a:r>
            <a:r>
              <a:rPr dirty="0" sz="1150"/>
              <a:t>data</a:t>
            </a:r>
            <a:r>
              <a:rPr dirty="0" sz="1150" spc="-25"/>
              <a:t> </a:t>
            </a:r>
            <a:r>
              <a:rPr dirty="0" sz="1150"/>
              <a:t>and</a:t>
            </a:r>
            <a:r>
              <a:rPr dirty="0" sz="1150" spc="-20"/>
              <a:t> </a:t>
            </a:r>
            <a:r>
              <a:rPr dirty="0" sz="1150"/>
              <a:t>predict</a:t>
            </a:r>
            <a:r>
              <a:rPr dirty="0" sz="1150" spc="-15"/>
              <a:t> </a:t>
            </a:r>
            <a:r>
              <a:rPr dirty="0" sz="1150"/>
              <a:t>eligibility</a:t>
            </a:r>
            <a:r>
              <a:rPr dirty="0" sz="1150" spc="-10"/>
              <a:t> accurately..</a:t>
            </a:r>
            <a:endParaRPr sz="1150"/>
          </a:p>
          <a:p>
            <a:pPr marL="248285" indent="-235585">
              <a:lnSpc>
                <a:spcPct val="100000"/>
              </a:lnSpc>
              <a:buChar char="•"/>
              <a:tabLst>
                <a:tab pos="248285" algn="l"/>
              </a:tabLst>
            </a:pPr>
            <a:r>
              <a:rPr dirty="0"/>
              <a:t>Data</a:t>
            </a:r>
            <a:r>
              <a:rPr dirty="0" spc="-40"/>
              <a:t> </a:t>
            </a:r>
            <a:r>
              <a:rPr dirty="0"/>
              <a:t>driven Decision</a:t>
            </a:r>
            <a:r>
              <a:rPr dirty="0" spc="-65"/>
              <a:t> </a:t>
            </a:r>
            <a:r>
              <a:rPr dirty="0" spc="-10"/>
              <a:t>Making–</a:t>
            </a:r>
            <a:r>
              <a:rPr dirty="0" spc="-90"/>
              <a:t> </a:t>
            </a:r>
            <a:r>
              <a:rPr dirty="0" sz="1150"/>
              <a:t>Reduces</a:t>
            </a:r>
            <a:r>
              <a:rPr dirty="0" sz="1150" spc="-20"/>
              <a:t> </a:t>
            </a:r>
            <a:r>
              <a:rPr dirty="0" sz="1150"/>
              <a:t>manual</a:t>
            </a:r>
            <a:r>
              <a:rPr dirty="0" sz="1150" spc="-40"/>
              <a:t> </a:t>
            </a:r>
            <a:r>
              <a:rPr dirty="0" sz="1150"/>
              <a:t>screening</a:t>
            </a:r>
            <a:r>
              <a:rPr dirty="0" sz="1150" spc="5"/>
              <a:t> </a:t>
            </a:r>
            <a:r>
              <a:rPr dirty="0" sz="1150"/>
              <a:t>and</a:t>
            </a:r>
            <a:r>
              <a:rPr dirty="0" sz="1150" spc="-15"/>
              <a:t> </a:t>
            </a:r>
            <a:r>
              <a:rPr dirty="0" sz="1150"/>
              <a:t>improves</a:t>
            </a:r>
            <a:r>
              <a:rPr dirty="0" sz="1150" spc="-35"/>
              <a:t> </a:t>
            </a:r>
            <a:r>
              <a:rPr dirty="0" sz="1150"/>
              <a:t>consistency</a:t>
            </a:r>
            <a:r>
              <a:rPr dirty="0" sz="1150" spc="-5"/>
              <a:t> </a:t>
            </a:r>
            <a:r>
              <a:rPr dirty="0" sz="1150"/>
              <a:t>in</a:t>
            </a:r>
            <a:r>
              <a:rPr dirty="0" sz="1150" spc="-30"/>
              <a:t> </a:t>
            </a:r>
            <a:r>
              <a:rPr dirty="0" sz="1150"/>
              <a:t>beneficiary</a:t>
            </a:r>
            <a:r>
              <a:rPr dirty="0" sz="1150" spc="-25"/>
              <a:t> </a:t>
            </a:r>
            <a:r>
              <a:rPr dirty="0" sz="1150" spc="-10"/>
              <a:t>selection.</a:t>
            </a:r>
            <a:endParaRPr sz="1150"/>
          </a:p>
          <a:p>
            <a:pPr marL="248285" indent="-235585">
              <a:lnSpc>
                <a:spcPts val="1700"/>
              </a:lnSpc>
              <a:buChar char="•"/>
              <a:tabLst>
                <a:tab pos="248285" algn="l"/>
              </a:tabLst>
            </a:pPr>
            <a:r>
              <a:rPr dirty="0" spc="-10"/>
              <a:t>RAG-</a:t>
            </a:r>
            <a:r>
              <a:rPr dirty="0"/>
              <a:t>Based</a:t>
            </a:r>
            <a:r>
              <a:rPr dirty="0" spc="-60"/>
              <a:t> </a:t>
            </a:r>
            <a:r>
              <a:rPr dirty="0"/>
              <a:t>Information</a:t>
            </a:r>
            <a:r>
              <a:rPr dirty="0" spc="-10"/>
              <a:t> </a:t>
            </a:r>
            <a:r>
              <a:rPr dirty="0"/>
              <a:t>Retrieval </a:t>
            </a:r>
            <a:r>
              <a:rPr dirty="0" sz="1150"/>
              <a:t>–</a:t>
            </a:r>
            <a:r>
              <a:rPr dirty="0" sz="1150" spc="-55"/>
              <a:t> </a:t>
            </a:r>
            <a:r>
              <a:rPr dirty="0" sz="1150"/>
              <a:t>Retrieves the</a:t>
            </a:r>
            <a:r>
              <a:rPr dirty="0" sz="1150" spc="-40"/>
              <a:t> </a:t>
            </a:r>
            <a:r>
              <a:rPr dirty="0" sz="1150"/>
              <a:t>latest</a:t>
            </a:r>
            <a:r>
              <a:rPr dirty="0" sz="1150" spc="-10"/>
              <a:t> </a:t>
            </a:r>
            <a:r>
              <a:rPr dirty="0" sz="1150"/>
              <a:t>NSAP</a:t>
            </a:r>
            <a:r>
              <a:rPr dirty="0" sz="1150" spc="-20"/>
              <a:t> </a:t>
            </a:r>
            <a:r>
              <a:rPr dirty="0" sz="1150"/>
              <a:t>guidelines</a:t>
            </a:r>
            <a:r>
              <a:rPr dirty="0" sz="1150" spc="-10"/>
              <a:t> </a:t>
            </a:r>
            <a:r>
              <a:rPr dirty="0" sz="1150"/>
              <a:t>and</a:t>
            </a:r>
            <a:r>
              <a:rPr dirty="0" sz="1150" spc="-20"/>
              <a:t> </a:t>
            </a:r>
            <a:r>
              <a:rPr dirty="0" sz="1150"/>
              <a:t>eligibility</a:t>
            </a:r>
            <a:r>
              <a:rPr dirty="0" sz="1150" spc="-10"/>
              <a:t> </a:t>
            </a:r>
            <a:r>
              <a:rPr dirty="0" sz="1150"/>
              <a:t>criteria</a:t>
            </a:r>
            <a:r>
              <a:rPr dirty="0" sz="1150" spc="-30"/>
              <a:t> </a:t>
            </a:r>
            <a:r>
              <a:rPr dirty="0" sz="1150"/>
              <a:t>before</a:t>
            </a:r>
            <a:r>
              <a:rPr dirty="0" sz="1150" spc="-60"/>
              <a:t> </a:t>
            </a:r>
            <a:r>
              <a:rPr dirty="0" sz="1150"/>
              <a:t>generating</a:t>
            </a:r>
            <a:r>
              <a:rPr dirty="0" sz="1150" spc="-20"/>
              <a:t> </a:t>
            </a:r>
            <a:r>
              <a:rPr dirty="0" sz="1150" spc="-10"/>
              <a:t>responses.</a:t>
            </a:r>
            <a:endParaRPr sz="1150"/>
          </a:p>
          <a:p>
            <a:pPr marL="248285" marR="5080" indent="-236220">
              <a:lnSpc>
                <a:spcPts val="1480"/>
              </a:lnSpc>
              <a:spcBef>
                <a:spcPts val="225"/>
              </a:spcBef>
              <a:buChar char="•"/>
              <a:tabLst>
                <a:tab pos="248285" algn="l"/>
              </a:tabLst>
            </a:pPr>
            <a:r>
              <a:rPr dirty="0"/>
              <a:t>Personalized</a:t>
            </a:r>
            <a:r>
              <a:rPr dirty="0" spc="-25"/>
              <a:t> </a:t>
            </a:r>
            <a:r>
              <a:rPr dirty="0"/>
              <a:t>Scheme</a:t>
            </a:r>
            <a:r>
              <a:rPr dirty="0" spc="-5"/>
              <a:t> </a:t>
            </a:r>
            <a:r>
              <a:rPr dirty="0" spc="-10"/>
              <a:t>Recommendation</a:t>
            </a:r>
            <a:r>
              <a:rPr dirty="0" spc="-5"/>
              <a:t> </a:t>
            </a:r>
            <a:r>
              <a:rPr dirty="0" sz="1150"/>
              <a:t>–</a:t>
            </a:r>
            <a:r>
              <a:rPr dirty="0" sz="1150" spc="-25"/>
              <a:t> </a:t>
            </a:r>
            <a:r>
              <a:rPr dirty="0" sz="1150"/>
              <a:t>Suggests the</a:t>
            </a:r>
            <a:r>
              <a:rPr dirty="0" sz="1150" spc="-15"/>
              <a:t> </a:t>
            </a:r>
            <a:r>
              <a:rPr dirty="0" sz="1150"/>
              <a:t>most</a:t>
            </a:r>
            <a:r>
              <a:rPr dirty="0" sz="1150" spc="-30"/>
              <a:t> </a:t>
            </a:r>
            <a:r>
              <a:rPr dirty="0" sz="1150"/>
              <a:t>suitable</a:t>
            </a:r>
            <a:r>
              <a:rPr dirty="0" sz="1150" spc="-10"/>
              <a:t> </a:t>
            </a:r>
            <a:r>
              <a:rPr dirty="0" sz="1150"/>
              <a:t>NSAP</a:t>
            </a:r>
            <a:r>
              <a:rPr dirty="0" sz="1150" spc="-10"/>
              <a:t> </a:t>
            </a:r>
            <a:r>
              <a:rPr dirty="0" sz="1150"/>
              <a:t>scheme</a:t>
            </a:r>
            <a:r>
              <a:rPr dirty="0" sz="1150" spc="-25"/>
              <a:t> </a:t>
            </a:r>
            <a:r>
              <a:rPr dirty="0" sz="1150"/>
              <a:t>based</a:t>
            </a:r>
            <a:r>
              <a:rPr dirty="0" sz="1150" spc="10"/>
              <a:t> </a:t>
            </a:r>
            <a:r>
              <a:rPr dirty="0" sz="1150"/>
              <a:t>on</a:t>
            </a:r>
            <a:r>
              <a:rPr dirty="0" sz="1150" spc="-20"/>
              <a:t> </a:t>
            </a:r>
            <a:r>
              <a:rPr dirty="0" sz="1150"/>
              <a:t>age,</a:t>
            </a:r>
            <a:r>
              <a:rPr dirty="0" sz="1150" spc="-5"/>
              <a:t> </a:t>
            </a:r>
            <a:r>
              <a:rPr dirty="0" sz="1150"/>
              <a:t>income,</a:t>
            </a:r>
            <a:r>
              <a:rPr dirty="0" sz="1150" spc="-40"/>
              <a:t> </a:t>
            </a:r>
            <a:r>
              <a:rPr dirty="0" sz="1150"/>
              <a:t>disability</a:t>
            </a:r>
            <a:r>
              <a:rPr dirty="0" sz="1150" spc="20"/>
              <a:t> </a:t>
            </a:r>
            <a:r>
              <a:rPr dirty="0" sz="1150" spc="-10"/>
              <a:t>status, </a:t>
            </a:r>
            <a:r>
              <a:rPr dirty="0" sz="1150"/>
              <a:t>and</a:t>
            </a:r>
            <a:r>
              <a:rPr dirty="0" sz="1150" spc="-60"/>
              <a:t> </a:t>
            </a:r>
            <a:r>
              <a:rPr dirty="0" sz="1150"/>
              <a:t>other</a:t>
            </a:r>
            <a:r>
              <a:rPr dirty="0" sz="1150" spc="-50"/>
              <a:t> </a:t>
            </a:r>
            <a:r>
              <a:rPr dirty="0" sz="1150"/>
              <a:t>applicant</a:t>
            </a:r>
            <a:r>
              <a:rPr dirty="0" sz="1150" spc="-45"/>
              <a:t> </a:t>
            </a:r>
            <a:r>
              <a:rPr dirty="0" sz="1150" spc="-10"/>
              <a:t>details.</a:t>
            </a:r>
            <a:endParaRPr sz="1150"/>
          </a:p>
          <a:p>
            <a:pPr marL="248285" marR="71120" indent="-236220">
              <a:lnSpc>
                <a:spcPts val="1490"/>
              </a:lnSpc>
              <a:spcBef>
                <a:spcPts val="175"/>
              </a:spcBef>
              <a:buChar char="•"/>
              <a:tabLst>
                <a:tab pos="248285" algn="l"/>
              </a:tabLst>
            </a:pPr>
            <a:r>
              <a:rPr dirty="0" spc="-20"/>
              <a:t>Real-</a:t>
            </a:r>
            <a:r>
              <a:rPr dirty="0"/>
              <a:t>Time</a:t>
            </a:r>
            <a:r>
              <a:rPr dirty="0" spc="-20"/>
              <a:t> </a:t>
            </a:r>
            <a:r>
              <a:rPr dirty="0"/>
              <a:t>Query</a:t>
            </a:r>
            <a:r>
              <a:rPr dirty="0" spc="-35"/>
              <a:t> </a:t>
            </a:r>
            <a:r>
              <a:rPr dirty="0"/>
              <a:t>Assistance</a:t>
            </a:r>
            <a:r>
              <a:rPr dirty="0" spc="-75"/>
              <a:t> </a:t>
            </a:r>
            <a:r>
              <a:rPr dirty="0" sz="1150"/>
              <a:t>–</a:t>
            </a:r>
            <a:r>
              <a:rPr dirty="0" sz="1150" spc="-45"/>
              <a:t> </a:t>
            </a:r>
            <a:r>
              <a:rPr dirty="0" sz="1150"/>
              <a:t>Provides instant</a:t>
            </a:r>
            <a:r>
              <a:rPr dirty="0" sz="1150" spc="-15"/>
              <a:t> </a:t>
            </a:r>
            <a:r>
              <a:rPr dirty="0" sz="1150"/>
              <a:t>answers</a:t>
            </a:r>
            <a:r>
              <a:rPr dirty="0" sz="1150" spc="15"/>
              <a:t> </a:t>
            </a:r>
            <a:r>
              <a:rPr dirty="0" sz="1150"/>
              <a:t>to</a:t>
            </a:r>
            <a:r>
              <a:rPr dirty="0" sz="1150" spc="-55"/>
              <a:t> </a:t>
            </a:r>
            <a:r>
              <a:rPr dirty="0" sz="1150"/>
              <a:t>user</a:t>
            </a:r>
            <a:r>
              <a:rPr dirty="0" sz="1150" spc="-35"/>
              <a:t> </a:t>
            </a:r>
            <a:r>
              <a:rPr dirty="0" sz="1150"/>
              <a:t>questions</a:t>
            </a:r>
            <a:r>
              <a:rPr dirty="0" sz="1150" spc="-5"/>
              <a:t> </a:t>
            </a:r>
            <a:r>
              <a:rPr dirty="0" sz="1150"/>
              <a:t>regarding</a:t>
            </a:r>
            <a:r>
              <a:rPr dirty="0" sz="1150" spc="-25"/>
              <a:t> </a:t>
            </a:r>
            <a:r>
              <a:rPr dirty="0" sz="1150"/>
              <a:t>scheme</a:t>
            </a:r>
            <a:r>
              <a:rPr dirty="0" sz="1150" spc="-65"/>
              <a:t> </a:t>
            </a:r>
            <a:r>
              <a:rPr dirty="0" sz="1150"/>
              <a:t>benefits,</a:t>
            </a:r>
            <a:r>
              <a:rPr dirty="0" sz="1150" spc="-35"/>
              <a:t> </a:t>
            </a:r>
            <a:r>
              <a:rPr dirty="0" sz="1150"/>
              <a:t>documents</a:t>
            </a:r>
            <a:r>
              <a:rPr dirty="0" sz="1150" spc="-50"/>
              <a:t> </a:t>
            </a:r>
            <a:r>
              <a:rPr dirty="0" sz="1150"/>
              <a:t>required,</a:t>
            </a:r>
            <a:r>
              <a:rPr dirty="0" sz="1150" spc="-5"/>
              <a:t> </a:t>
            </a:r>
            <a:r>
              <a:rPr dirty="0" sz="1150" spc="-25"/>
              <a:t>and </a:t>
            </a:r>
            <a:r>
              <a:rPr dirty="0" sz="1150"/>
              <a:t>application</a:t>
            </a:r>
            <a:r>
              <a:rPr dirty="0" sz="1150" spc="-70"/>
              <a:t> </a:t>
            </a:r>
            <a:r>
              <a:rPr dirty="0" sz="1150" spc="-10"/>
              <a:t>procedures.</a:t>
            </a:r>
            <a:endParaRPr sz="1150"/>
          </a:p>
          <a:p>
            <a:pPr marL="248285" indent="-235585">
              <a:lnSpc>
                <a:spcPts val="1700"/>
              </a:lnSpc>
              <a:spcBef>
                <a:spcPts val="5"/>
              </a:spcBef>
              <a:buChar char="•"/>
              <a:tabLst>
                <a:tab pos="248285" algn="l"/>
              </a:tabLst>
            </a:pPr>
            <a:r>
              <a:rPr dirty="0"/>
              <a:t>Transparency</a:t>
            </a:r>
            <a:r>
              <a:rPr dirty="0" spc="-10"/>
              <a:t> </a:t>
            </a:r>
            <a:r>
              <a:rPr dirty="0"/>
              <a:t>&amp;</a:t>
            </a:r>
            <a:r>
              <a:rPr dirty="0" spc="-60"/>
              <a:t> </a:t>
            </a:r>
            <a:r>
              <a:rPr dirty="0"/>
              <a:t>Fairness</a:t>
            </a:r>
            <a:r>
              <a:rPr dirty="0" spc="-25"/>
              <a:t> </a:t>
            </a:r>
            <a:r>
              <a:rPr dirty="0" sz="1150"/>
              <a:t>–</a:t>
            </a:r>
            <a:r>
              <a:rPr dirty="0" sz="1150" spc="-45"/>
              <a:t> </a:t>
            </a:r>
            <a:r>
              <a:rPr dirty="0" sz="1150"/>
              <a:t>Minimizes</a:t>
            </a:r>
            <a:r>
              <a:rPr dirty="0" sz="1150" spc="-5"/>
              <a:t> </a:t>
            </a:r>
            <a:r>
              <a:rPr dirty="0" sz="1150"/>
              <a:t>human</a:t>
            </a:r>
            <a:r>
              <a:rPr dirty="0" sz="1150" spc="-50"/>
              <a:t> </a:t>
            </a:r>
            <a:r>
              <a:rPr dirty="0" sz="1150"/>
              <a:t>bias</a:t>
            </a:r>
            <a:r>
              <a:rPr dirty="0" sz="1150" spc="-25"/>
              <a:t> </a:t>
            </a:r>
            <a:r>
              <a:rPr dirty="0" sz="1150"/>
              <a:t>by</a:t>
            </a:r>
            <a:r>
              <a:rPr dirty="0" sz="1150" spc="-30"/>
              <a:t> </a:t>
            </a:r>
            <a:r>
              <a:rPr dirty="0" sz="1150"/>
              <a:t>applying</a:t>
            </a:r>
            <a:r>
              <a:rPr dirty="0" sz="1150" spc="10"/>
              <a:t> </a:t>
            </a:r>
            <a:r>
              <a:rPr dirty="0" sz="1150"/>
              <a:t>uniform</a:t>
            </a:r>
            <a:r>
              <a:rPr dirty="0" sz="1150" spc="-20"/>
              <a:t> </a:t>
            </a:r>
            <a:r>
              <a:rPr dirty="0" sz="1150"/>
              <a:t>eligibility</a:t>
            </a:r>
            <a:r>
              <a:rPr dirty="0" sz="1150" spc="-5"/>
              <a:t> </a:t>
            </a:r>
            <a:r>
              <a:rPr dirty="0" sz="1150"/>
              <a:t>criteria</a:t>
            </a:r>
            <a:r>
              <a:rPr dirty="0" sz="1150" spc="-25"/>
              <a:t> </a:t>
            </a:r>
            <a:r>
              <a:rPr dirty="0" sz="1150"/>
              <a:t>across</a:t>
            </a:r>
            <a:r>
              <a:rPr dirty="0" sz="1150" spc="-30"/>
              <a:t> </a:t>
            </a:r>
            <a:r>
              <a:rPr dirty="0" sz="1150" spc="-10"/>
              <a:t>applicants.</a:t>
            </a:r>
            <a:endParaRPr sz="1150"/>
          </a:p>
          <a:p>
            <a:pPr marL="248285" marR="426084" indent="-236220">
              <a:lnSpc>
                <a:spcPts val="1490"/>
              </a:lnSpc>
              <a:spcBef>
                <a:spcPts val="215"/>
              </a:spcBef>
              <a:buChar char="•"/>
              <a:tabLst>
                <a:tab pos="248285" algn="l"/>
              </a:tabLst>
            </a:pPr>
            <a:r>
              <a:rPr dirty="0"/>
              <a:t>Scalable</a:t>
            </a:r>
            <a:r>
              <a:rPr dirty="0" spc="-55"/>
              <a:t> </a:t>
            </a:r>
            <a:r>
              <a:rPr dirty="0"/>
              <a:t>&amp;</a:t>
            </a:r>
            <a:r>
              <a:rPr dirty="0" spc="-40"/>
              <a:t> </a:t>
            </a:r>
            <a:r>
              <a:rPr dirty="0"/>
              <a:t>Government</a:t>
            </a:r>
            <a:r>
              <a:rPr dirty="0" spc="10"/>
              <a:t> </a:t>
            </a:r>
            <a:r>
              <a:rPr dirty="0"/>
              <a:t>Ready</a:t>
            </a:r>
            <a:r>
              <a:rPr dirty="0" spc="-25"/>
              <a:t> </a:t>
            </a:r>
            <a:r>
              <a:rPr dirty="0" sz="1150"/>
              <a:t>–</a:t>
            </a:r>
            <a:r>
              <a:rPr dirty="0" sz="1150" spc="-55"/>
              <a:t> </a:t>
            </a:r>
            <a:r>
              <a:rPr dirty="0" sz="1150"/>
              <a:t>Built</a:t>
            </a:r>
            <a:r>
              <a:rPr dirty="0" sz="1150" spc="-15"/>
              <a:t> </a:t>
            </a:r>
            <a:r>
              <a:rPr dirty="0" sz="1150"/>
              <a:t>using</a:t>
            </a:r>
            <a:r>
              <a:rPr dirty="0" sz="1150" spc="-15"/>
              <a:t> </a:t>
            </a:r>
            <a:r>
              <a:rPr dirty="0" sz="1150"/>
              <a:t>IBM</a:t>
            </a:r>
            <a:r>
              <a:rPr dirty="0" sz="1150" spc="-50"/>
              <a:t> </a:t>
            </a:r>
            <a:r>
              <a:rPr dirty="0" sz="1150"/>
              <a:t>watsonx.ai,</a:t>
            </a:r>
            <a:r>
              <a:rPr dirty="0" sz="1150" spc="65"/>
              <a:t> </a:t>
            </a:r>
            <a:r>
              <a:rPr dirty="0" sz="1150"/>
              <a:t>IBM</a:t>
            </a:r>
            <a:r>
              <a:rPr dirty="0" sz="1150" spc="-20"/>
              <a:t> </a:t>
            </a:r>
            <a:r>
              <a:rPr dirty="0" sz="1150"/>
              <a:t>Granite,</a:t>
            </a:r>
            <a:r>
              <a:rPr dirty="0" sz="1150" spc="-15"/>
              <a:t> </a:t>
            </a:r>
            <a:r>
              <a:rPr dirty="0" sz="1150"/>
              <a:t>and</a:t>
            </a:r>
            <a:r>
              <a:rPr dirty="0" sz="1150" spc="-20"/>
              <a:t> </a:t>
            </a:r>
            <a:r>
              <a:rPr dirty="0" sz="1150"/>
              <a:t>Langflow,</a:t>
            </a:r>
            <a:r>
              <a:rPr dirty="0" sz="1150" spc="35"/>
              <a:t> </a:t>
            </a:r>
            <a:r>
              <a:rPr dirty="0" sz="1150"/>
              <a:t>making</a:t>
            </a:r>
            <a:r>
              <a:rPr dirty="0" sz="1150" spc="-75"/>
              <a:t> </a:t>
            </a:r>
            <a:r>
              <a:rPr dirty="0" sz="1150"/>
              <a:t>it</a:t>
            </a:r>
            <a:r>
              <a:rPr dirty="0" sz="1150" spc="-35"/>
              <a:t> </a:t>
            </a:r>
            <a:r>
              <a:rPr dirty="0" sz="1150"/>
              <a:t>suitable for</a:t>
            </a:r>
            <a:r>
              <a:rPr dirty="0" sz="1150" spc="-40"/>
              <a:t> </a:t>
            </a:r>
            <a:r>
              <a:rPr dirty="0" sz="1150" spc="-25"/>
              <a:t>large-</a:t>
            </a:r>
            <a:r>
              <a:rPr dirty="0" sz="1150" spc="-10"/>
              <a:t>scale deployment.</a:t>
            </a:r>
            <a:endParaRPr sz="1150"/>
          </a:p>
          <a:p>
            <a:pPr marL="248285" marR="123189" indent="-236220">
              <a:lnSpc>
                <a:spcPts val="1490"/>
              </a:lnSpc>
              <a:spcBef>
                <a:spcPts val="165"/>
              </a:spcBef>
              <a:buChar char="•"/>
              <a:tabLst>
                <a:tab pos="248285" algn="l"/>
              </a:tabLst>
            </a:pPr>
            <a:r>
              <a:rPr dirty="0" spc="-10"/>
              <a:t>User-</a:t>
            </a:r>
            <a:r>
              <a:rPr dirty="0"/>
              <a:t>Friendly</a:t>
            </a:r>
            <a:r>
              <a:rPr dirty="0" spc="-40"/>
              <a:t> </a:t>
            </a:r>
            <a:r>
              <a:rPr dirty="0"/>
              <a:t>Interface</a:t>
            </a:r>
            <a:r>
              <a:rPr dirty="0" spc="-25"/>
              <a:t> </a:t>
            </a:r>
            <a:r>
              <a:rPr dirty="0"/>
              <a:t>–</a:t>
            </a:r>
            <a:r>
              <a:rPr dirty="0" spc="-45"/>
              <a:t> </a:t>
            </a:r>
            <a:r>
              <a:rPr dirty="0" sz="1150"/>
              <a:t>Enables citizens</a:t>
            </a:r>
            <a:r>
              <a:rPr dirty="0" sz="1150" spc="10"/>
              <a:t> </a:t>
            </a:r>
            <a:r>
              <a:rPr dirty="0" sz="1150"/>
              <a:t>and</a:t>
            </a:r>
            <a:r>
              <a:rPr dirty="0" sz="1150" spc="-20"/>
              <a:t> </a:t>
            </a:r>
            <a:r>
              <a:rPr dirty="0" sz="1150"/>
              <a:t>officials</a:t>
            </a:r>
            <a:r>
              <a:rPr dirty="0" sz="1150" spc="-65"/>
              <a:t> </a:t>
            </a:r>
            <a:r>
              <a:rPr dirty="0" sz="1150"/>
              <a:t>to</a:t>
            </a:r>
            <a:r>
              <a:rPr dirty="0" sz="1150" spc="-20"/>
              <a:t> </a:t>
            </a:r>
            <a:r>
              <a:rPr dirty="0" sz="1150"/>
              <a:t>check</a:t>
            </a:r>
            <a:r>
              <a:rPr dirty="0" sz="1150" spc="-30"/>
              <a:t> </a:t>
            </a:r>
            <a:r>
              <a:rPr dirty="0" sz="1150"/>
              <a:t>eligibility</a:t>
            </a:r>
            <a:r>
              <a:rPr dirty="0" sz="1150" spc="15"/>
              <a:t> </a:t>
            </a:r>
            <a:r>
              <a:rPr dirty="0" sz="1150"/>
              <a:t>quickly</a:t>
            </a:r>
            <a:r>
              <a:rPr dirty="0" sz="1150" spc="-30"/>
              <a:t> </a:t>
            </a:r>
            <a:r>
              <a:rPr dirty="0" sz="1150"/>
              <a:t>and</a:t>
            </a:r>
            <a:r>
              <a:rPr dirty="0" sz="1150" spc="-20"/>
              <a:t> </a:t>
            </a:r>
            <a:r>
              <a:rPr dirty="0" sz="1150"/>
              <a:t>efficiently–</a:t>
            </a:r>
            <a:r>
              <a:rPr dirty="0" sz="1150" spc="-40"/>
              <a:t> </a:t>
            </a:r>
            <a:r>
              <a:rPr dirty="0" sz="1150"/>
              <a:t>Enables</a:t>
            </a:r>
            <a:r>
              <a:rPr dirty="0" sz="1150" spc="-15"/>
              <a:t> </a:t>
            </a:r>
            <a:r>
              <a:rPr dirty="0" sz="1150"/>
              <a:t>citizens and</a:t>
            </a:r>
            <a:r>
              <a:rPr dirty="0" sz="1150" spc="-20"/>
              <a:t> </a:t>
            </a:r>
            <a:r>
              <a:rPr dirty="0" sz="1150"/>
              <a:t>officials</a:t>
            </a:r>
            <a:r>
              <a:rPr dirty="0" sz="1150" spc="-60"/>
              <a:t> </a:t>
            </a:r>
            <a:r>
              <a:rPr dirty="0" sz="1150" spc="-25"/>
              <a:t>to </a:t>
            </a:r>
            <a:r>
              <a:rPr dirty="0" sz="1150"/>
              <a:t>check</a:t>
            </a:r>
            <a:r>
              <a:rPr dirty="0" sz="1150" spc="-15"/>
              <a:t> </a:t>
            </a:r>
            <a:r>
              <a:rPr dirty="0" sz="1150"/>
              <a:t>eligibility</a:t>
            </a:r>
            <a:r>
              <a:rPr dirty="0" sz="1150" spc="-15"/>
              <a:t> </a:t>
            </a:r>
            <a:r>
              <a:rPr dirty="0" sz="1150"/>
              <a:t>quickly</a:t>
            </a:r>
            <a:r>
              <a:rPr dirty="0" sz="1150" spc="-45"/>
              <a:t> </a:t>
            </a:r>
            <a:r>
              <a:rPr dirty="0" sz="1150"/>
              <a:t>and</a:t>
            </a:r>
            <a:r>
              <a:rPr dirty="0" sz="1150" spc="-20"/>
              <a:t> </a:t>
            </a:r>
            <a:r>
              <a:rPr dirty="0" sz="1150" spc="-10"/>
              <a:t>efficiently</a:t>
            </a:r>
            <a:endParaRPr sz="115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02260">
              <a:lnSpc>
                <a:spcPct val="100000"/>
              </a:lnSpc>
              <a:spcBef>
                <a:spcPts val="105"/>
              </a:spcBef>
            </a:pPr>
            <a:r>
              <a:rPr dirty="0"/>
              <a:t>Git</a:t>
            </a:r>
            <a:r>
              <a:rPr dirty="0" spc="5"/>
              <a:t> </a:t>
            </a:r>
            <a:r>
              <a:rPr dirty="0"/>
              <a:t>Hub</a:t>
            </a:r>
            <a:r>
              <a:rPr dirty="0" spc="10"/>
              <a:t> </a:t>
            </a:r>
            <a:r>
              <a:rPr dirty="0" spc="-20"/>
              <a:t>Link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3096" y="2082794"/>
            <a:ext cx="7421245" cy="1016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>
                <a:solidFill>
                  <a:srgbClr val="2A3441"/>
                </a:solidFill>
                <a:latin typeface="Times New Roman"/>
                <a:cs typeface="Times New Roman"/>
              </a:rPr>
              <a:t>Please</a:t>
            </a:r>
            <a:r>
              <a:rPr dirty="0" sz="1500" spc="70">
                <a:solidFill>
                  <a:srgbClr val="2A344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A3441"/>
                </a:solidFill>
                <a:latin typeface="Times New Roman"/>
                <a:cs typeface="Times New Roman"/>
              </a:rPr>
              <a:t>create</a:t>
            </a:r>
            <a:r>
              <a:rPr dirty="0" sz="1500" spc="75">
                <a:solidFill>
                  <a:srgbClr val="2A344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A3441"/>
                </a:solidFill>
                <a:latin typeface="Times New Roman"/>
                <a:cs typeface="Times New Roman"/>
              </a:rPr>
              <a:t>public</a:t>
            </a:r>
            <a:r>
              <a:rPr dirty="0" sz="1500" spc="-15">
                <a:solidFill>
                  <a:srgbClr val="2A344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A3441"/>
                </a:solidFill>
                <a:latin typeface="Times New Roman"/>
                <a:cs typeface="Times New Roman"/>
              </a:rPr>
              <a:t>github</a:t>
            </a:r>
            <a:r>
              <a:rPr dirty="0" sz="1500" spc="-20">
                <a:solidFill>
                  <a:srgbClr val="2A344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A3441"/>
                </a:solidFill>
                <a:latin typeface="Times New Roman"/>
                <a:cs typeface="Times New Roman"/>
              </a:rPr>
              <a:t>repository</a:t>
            </a:r>
            <a:r>
              <a:rPr dirty="0" sz="1500" spc="25">
                <a:solidFill>
                  <a:srgbClr val="2A344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A3441"/>
                </a:solidFill>
                <a:latin typeface="Times New Roman"/>
                <a:cs typeface="Times New Roman"/>
              </a:rPr>
              <a:t>(Enable</a:t>
            </a:r>
            <a:r>
              <a:rPr dirty="0" sz="1500" spc="15">
                <a:solidFill>
                  <a:srgbClr val="2A344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A3441"/>
                </a:solidFill>
                <a:latin typeface="Times New Roman"/>
                <a:cs typeface="Times New Roman"/>
              </a:rPr>
              <a:t>Add</a:t>
            </a:r>
            <a:r>
              <a:rPr dirty="0" sz="1500" spc="50">
                <a:solidFill>
                  <a:srgbClr val="2A344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A3441"/>
                </a:solidFill>
                <a:latin typeface="Times New Roman"/>
                <a:cs typeface="Times New Roman"/>
              </a:rPr>
              <a:t>README</a:t>
            </a:r>
            <a:r>
              <a:rPr dirty="0" sz="1500" spc="465">
                <a:solidFill>
                  <a:srgbClr val="2A344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A3441"/>
                </a:solidFill>
                <a:latin typeface="Times New Roman"/>
                <a:cs typeface="Times New Roman"/>
              </a:rPr>
              <a:t>button</a:t>
            </a:r>
            <a:r>
              <a:rPr dirty="0" sz="1500" spc="10">
                <a:solidFill>
                  <a:srgbClr val="2A344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A3441"/>
                </a:solidFill>
                <a:latin typeface="Times New Roman"/>
                <a:cs typeface="Times New Roman"/>
              </a:rPr>
              <a:t>while</a:t>
            </a:r>
            <a:r>
              <a:rPr dirty="0" sz="1500" spc="45">
                <a:solidFill>
                  <a:srgbClr val="2A344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A3441"/>
                </a:solidFill>
                <a:latin typeface="Times New Roman"/>
                <a:cs typeface="Times New Roman"/>
              </a:rPr>
              <a:t>creating</a:t>
            </a:r>
            <a:r>
              <a:rPr dirty="0" sz="1500" spc="65">
                <a:solidFill>
                  <a:srgbClr val="2A3441"/>
                </a:solidFill>
                <a:latin typeface="Times New Roman"/>
                <a:cs typeface="Times New Roman"/>
              </a:rPr>
              <a:t> </a:t>
            </a:r>
            <a:r>
              <a:rPr dirty="0" sz="1500" spc="-10">
                <a:solidFill>
                  <a:srgbClr val="2A3441"/>
                </a:solidFill>
                <a:latin typeface="Times New Roman"/>
                <a:cs typeface="Times New Roman"/>
              </a:rPr>
              <a:t>repository)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 sz="1500">
                <a:solidFill>
                  <a:srgbClr val="2A3441"/>
                </a:solidFill>
                <a:latin typeface="Times New Roman"/>
                <a:cs typeface="Times New Roman"/>
              </a:rPr>
              <a:t>with</a:t>
            </a:r>
            <a:r>
              <a:rPr dirty="0" sz="1500" spc="10">
                <a:solidFill>
                  <a:srgbClr val="2A344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A3441"/>
                </a:solidFill>
                <a:latin typeface="Times New Roman"/>
                <a:cs typeface="Times New Roman"/>
              </a:rPr>
              <a:t>format</a:t>
            </a:r>
            <a:r>
              <a:rPr dirty="0" sz="1500" spc="15">
                <a:solidFill>
                  <a:srgbClr val="2A3441"/>
                </a:solidFill>
                <a:latin typeface="Times New Roman"/>
                <a:cs typeface="Times New Roman"/>
              </a:rPr>
              <a:t> </a:t>
            </a:r>
            <a:r>
              <a:rPr dirty="0" sz="1500" spc="-50">
                <a:solidFill>
                  <a:srgbClr val="2A3441"/>
                </a:solidFill>
                <a:latin typeface="Times New Roman"/>
                <a:cs typeface="Times New Roman"/>
              </a:rPr>
              <a:t>–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 sz="1500">
                <a:solidFill>
                  <a:srgbClr val="2A3441"/>
                </a:solidFill>
                <a:latin typeface="Times New Roman"/>
                <a:cs typeface="Times New Roman"/>
              </a:rPr>
              <a:t>Please</a:t>
            </a:r>
            <a:r>
              <a:rPr dirty="0" sz="1500" spc="60">
                <a:solidFill>
                  <a:srgbClr val="2A344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A3441"/>
                </a:solidFill>
                <a:latin typeface="Times New Roman"/>
                <a:cs typeface="Times New Roman"/>
              </a:rPr>
              <a:t>test</a:t>
            </a:r>
            <a:r>
              <a:rPr dirty="0" sz="1500" spc="25">
                <a:solidFill>
                  <a:srgbClr val="2A344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A3441"/>
                </a:solidFill>
                <a:latin typeface="Times New Roman"/>
                <a:cs typeface="Times New Roman"/>
              </a:rPr>
              <a:t>and</a:t>
            </a:r>
            <a:r>
              <a:rPr dirty="0" sz="1500" spc="40">
                <a:solidFill>
                  <a:srgbClr val="2A344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A3441"/>
                </a:solidFill>
                <a:latin typeface="Times New Roman"/>
                <a:cs typeface="Times New Roman"/>
              </a:rPr>
              <a:t>Paste</a:t>
            </a:r>
            <a:r>
              <a:rPr dirty="0" sz="1500" spc="45">
                <a:solidFill>
                  <a:srgbClr val="2A344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A3441"/>
                </a:solidFill>
                <a:latin typeface="Times New Roman"/>
                <a:cs typeface="Times New Roman"/>
              </a:rPr>
              <a:t>the working</a:t>
            </a:r>
            <a:r>
              <a:rPr dirty="0" sz="1500" spc="409">
                <a:solidFill>
                  <a:srgbClr val="2A344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A3441"/>
                </a:solidFill>
                <a:latin typeface="Times New Roman"/>
                <a:cs typeface="Times New Roman"/>
              </a:rPr>
              <a:t>Github</a:t>
            </a:r>
            <a:r>
              <a:rPr dirty="0" sz="1500" spc="-15">
                <a:solidFill>
                  <a:srgbClr val="2A344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A3441"/>
                </a:solidFill>
                <a:latin typeface="Times New Roman"/>
                <a:cs typeface="Times New Roman"/>
              </a:rPr>
              <a:t>URL</a:t>
            </a:r>
            <a:r>
              <a:rPr dirty="0" sz="1500" spc="40">
                <a:solidFill>
                  <a:srgbClr val="2A3441"/>
                </a:solidFill>
                <a:latin typeface="Times New Roman"/>
                <a:cs typeface="Times New Roman"/>
              </a:rPr>
              <a:t> </a:t>
            </a:r>
            <a:r>
              <a:rPr dirty="0" sz="1450" spc="-50">
                <a:solidFill>
                  <a:srgbClr val="2A3441"/>
                </a:solidFill>
                <a:latin typeface="Arial MT"/>
                <a:cs typeface="Arial MT"/>
              </a:rPr>
              <a:t>–</a:t>
            </a:r>
            <a:endParaRPr sz="145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05839" y="3247643"/>
            <a:ext cx="7352030" cy="212090"/>
          </a:xfrm>
          <a:prstGeom prst="rect">
            <a:avLst/>
          </a:prstGeom>
          <a:solidFill>
            <a:srgbClr val="FFFF00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560"/>
              </a:lnSpc>
            </a:pPr>
            <a:r>
              <a:rPr dirty="0" u="sng" sz="1450" spc="-10">
                <a:solidFill>
                  <a:srgbClr val="2A3441"/>
                </a:solidFill>
                <a:uFill>
                  <a:solidFill>
                    <a:srgbClr val="2A3441"/>
                  </a:solidFill>
                </a:uFill>
                <a:latin typeface="Arial MT"/>
                <a:cs typeface="Arial MT"/>
                <a:hlinkClick r:id="rId2"/>
              </a:rPr>
              <a:t>https://github.com/Annamdevula1/PREDICTING-</a:t>
            </a:r>
            <a:r>
              <a:rPr dirty="0" u="sng" sz="1450" spc="-20">
                <a:solidFill>
                  <a:srgbClr val="2A3441"/>
                </a:solidFill>
                <a:uFill>
                  <a:solidFill>
                    <a:srgbClr val="2A3441"/>
                  </a:solidFill>
                </a:uFill>
                <a:latin typeface="Arial MT"/>
                <a:cs typeface="Arial MT"/>
                <a:hlinkClick r:id="rId2"/>
              </a:rPr>
              <a:t>THE-</a:t>
            </a:r>
            <a:r>
              <a:rPr dirty="0" u="sng" sz="1450" spc="-10">
                <a:solidFill>
                  <a:srgbClr val="2A3441"/>
                </a:solidFill>
                <a:uFill>
                  <a:solidFill>
                    <a:srgbClr val="2A3441"/>
                  </a:solidFill>
                </a:uFill>
                <a:latin typeface="Arial MT"/>
                <a:cs typeface="Arial MT"/>
                <a:hlinkClick r:id="rId2"/>
              </a:rPr>
              <a:t>ELIGIBILITY-FOR-NSAP-USING-</a:t>
            </a:r>
            <a:endParaRPr sz="145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05839" y="3614927"/>
            <a:ext cx="527685" cy="212090"/>
          </a:xfrm>
          <a:prstGeom prst="rect">
            <a:avLst/>
          </a:prstGeom>
          <a:solidFill>
            <a:srgbClr val="FFFF00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560"/>
              </a:lnSpc>
            </a:pPr>
            <a:r>
              <a:rPr dirty="0" sz="1450" spc="-10">
                <a:solidFill>
                  <a:srgbClr val="2A3441"/>
                </a:solidFill>
                <a:latin typeface="Arial MT"/>
                <a:cs typeface="Arial MT"/>
              </a:rPr>
              <a:t>ML.git</a:t>
            </a:r>
            <a:endParaRPr sz="145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93096" y="3902492"/>
            <a:ext cx="8890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50">
                <a:solidFill>
                  <a:srgbClr val="2A3441"/>
                </a:solidFill>
                <a:latin typeface="Times New Roman"/>
                <a:cs typeface="Times New Roman"/>
              </a:rPr>
              <a:t>·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93096" y="4755927"/>
            <a:ext cx="8890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50">
                <a:solidFill>
                  <a:srgbClr val="2A3441"/>
                </a:solidFill>
                <a:latin typeface="Times New Roman"/>
                <a:cs typeface="Times New Roman"/>
              </a:rPr>
              <a:t>·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93096" y="5610849"/>
            <a:ext cx="8890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50">
                <a:solidFill>
                  <a:srgbClr val="2A3441"/>
                </a:solidFill>
                <a:latin typeface="Times New Roman"/>
                <a:cs typeface="Times New Roman"/>
              </a:rPr>
              <a:t>·</a:t>
            </a:r>
            <a:endParaRPr sz="15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93200" y="1471710"/>
            <a:ext cx="1607185" cy="3238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Future</a:t>
            </a:r>
            <a:r>
              <a:rPr dirty="0" spc="-5"/>
              <a:t> </a:t>
            </a:r>
            <a:r>
              <a:rPr dirty="0" spc="-20"/>
              <a:t>Scope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42296" y="1738437"/>
            <a:ext cx="8265159" cy="4422775"/>
          </a:xfrm>
          <a:prstGeom prst="rect">
            <a:avLst/>
          </a:prstGeom>
        </p:spPr>
        <p:txBody>
          <a:bodyPr wrap="square" lIns="0" tIns="123825" rIns="0" bIns="0" rtlCol="0" vert="horz">
            <a:spAutoFit/>
          </a:bodyPr>
          <a:lstStyle/>
          <a:p>
            <a:pPr marL="261620" indent="-198120">
              <a:lnSpc>
                <a:spcPct val="100000"/>
              </a:lnSpc>
              <a:spcBef>
                <a:spcPts val="975"/>
              </a:spcBef>
              <a:buSzPct val="103448"/>
              <a:buAutoNum type="arabicPeriod"/>
              <a:tabLst>
                <a:tab pos="261620" algn="l"/>
              </a:tabLst>
            </a:pPr>
            <a:r>
              <a:rPr dirty="0" sz="1450" b="1">
                <a:solidFill>
                  <a:srgbClr val="2A3441"/>
                </a:solidFill>
                <a:latin typeface="Arial"/>
                <a:cs typeface="Arial"/>
              </a:rPr>
              <a:t>Integration</a:t>
            </a:r>
            <a:r>
              <a:rPr dirty="0" sz="1450" spc="20" b="1">
                <a:solidFill>
                  <a:srgbClr val="2A3441"/>
                </a:solidFill>
                <a:latin typeface="Arial"/>
                <a:cs typeface="Arial"/>
              </a:rPr>
              <a:t> </a:t>
            </a:r>
            <a:r>
              <a:rPr dirty="0" sz="1450" b="1">
                <a:solidFill>
                  <a:srgbClr val="2A3441"/>
                </a:solidFill>
                <a:latin typeface="Arial"/>
                <a:cs typeface="Arial"/>
              </a:rPr>
              <a:t>with</a:t>
            </a:r>
            <a:r>
              <a:rPr dirty="0" sz="1450" spc="-10" b="1">
                <a:solidFill>
                  <a:srgbClr val="2A3441"/>
                </a:solidFill>
                <a:latin typeface="Arial"/>
                <a:cs typeface="Arial"/>
              </a:rPr>
              <a:t> </a:t>
            </a:r>
            <a:r>
              <a:rPr dirty="0" sz="1450" b="1">
                <a:solidFill>
                  <a:srgbClr val="2A3441"/>
                </a:solidFill>
                <a:latin typeface="Arial"/>
                <a:cs typeface="Arial"/>
              </a:rPr>
              <a:t>Government</a:t>
            </a:r>
            <a:r>
              <a:rPr dirty="0" sz="1450" spc="65" b="1">
                <a:solidFill>
                  <a:srgbClr val="2A3441"/>
                </a:solidFill>
                <a:latin typeface="Arial"/>
                <a:cs typeface="Arial"/>
              </a:rPr>
              <a:t> </a:t>
            </a:r>
            <a:r>
              <a:rPr dirty="0" sz="1450" spc="-10" b="1">
                <a:solidFill>
                  <a:srgbClr val="2A3441"/>
                </a:solidFill>
                <a:latin typeface="Arial"/>
                <a:cs typeface="Arial"/>
              </a:rPr>
              <a:t>Databases</a:t>
            </a:r>
            <a:endParaRPr sz="1450">
              <a:latin typeface="Arial"/>
              <a:cs typeface="Arial"/>
            </a:endParaRPr>
          </a:p>
          <a:p>
            <a:pPr marL="63500" marR="119380">
              <a:lnSpc>
                <a:spcPts val="2240"/>
              </a:lnSpc>
              <a:spcBef>
                <a:spcPts val="30"/>
              </a:spcBef>
            </a:pPr>
            <a:r>
              <a:rPr dirty="0" sz="1150" b="1">
                <a:solidFill>
                  <a:srgbClr val="2A3441"/>
                </a:solidFill>
                <a:latin typeface="Arial"/>
                <a:cs typeface="Arial"/>
              </a:rPr>
              <a:t>The</a:t>
            </a:r>
            <a:r>
              <a:rPr dirty="0" sz="1150" spc="-35" b="1">
                <a:solidFill>
                  <a:srgbClr val="2A3441"/>
                </a:solidFill>
                <a:latin typeface="Arial"/>
                <a:cs typeface="Arial"/>
              </a:rPr>
              <a:t> </a:t>
            </a:r>
            <a:r>
              <a:rPr dirty="0" sz="1150" b="1">
                <a:solidFill>
                  <a:srgbClr val="2A3441"/>
                </a:solidFill>
                <a:latin typeface="Arial"/>
                <a:cs typeface="Arial"/>
              </a:rPr>
              <a:t>system</a:t>
            </a:r>
            <a:r>
              <a:rPr dirty="0" sz="1150" spc="35" b="1">
                <a:solidFill>
                  <a:srgbClr val="2A3441"/>
                </a:solidFill>
                <a:latin typeface="Arial"/>
                <a:cs typeface="Arial"/>
              </a:rPr>
              <a:t> </a:t>
            </a:r>
            <a:r>
              <a:rPr dirty="0" sz="1150" b="1">
                <a:solidFill>
                  <a:srgbClr val="2A3441"/>
                </a:solidFill>
                <a:latin typeface="Arial"/>
                <a:cs typeface="Arial"/>
              </a:rPr>
              <a:t>can</a:t>
            </a:r>
            <a:r>
              <a:rPr dirty="0" sz="1150" spc="-20" b="1">
                <a:solidFill>
                  <a:srgbClr val="2A3441"/>
                </a:solidFill>
                <a:latin typeface="Arial"/>
                <a:cs typeface="Arial"/>
              </a:rPr>
              <a:t> </a:t>
            </a:r>
            <a:r>
              <a:rPr dirty="0" sz="1150" b="1">
                <a:solidFill>
                  <a:srgbClr val="2A3441"/>
                </a:solidFill>
                <a:latin typeface="Arial"/>
                <a:cs typeface="Arial"/>
              </a:rPr>
              <a:t>be</a:t>
            </a:r>
            <a:r>
              <a:rPr dirty="0" sz="1150" spc="-40" b="1">
                <a:solidFill>
                  <a:srgbClr val="2A3441"/>
                </a:solidFill>
                <a:latin typeface="Arial"/>
                <a:cs typeface="Arial"/>
              </a:rPr>
              <a:t> </a:t>
            </a:r>
            <a:r>
              <a:rPr dirty="0" sz="1150" spc="-10" b="1">
                <a:solidFill>
                  <a:srgbClr val="2A3441"/>
                </a:solidFill>
                <a:latin typeface="Arial"/>
                <a:cs typeface="Arial"/>
              </a:rPr>
              <a:t>integrated</a:t>
            </a:r>
            <a:r>
              <a:rPr dirty="0" sz="1150" spc="-55" b="1">
                <a:solidFill>
                  <a:srgbClr val="2A3441"/>
                </a:solidFill>
                <a:latin typeface="Arial"/>
                <a:cs typeface="Arial"/>
              </a:rPr>
              <a:t> </a:t>
            </a:r>
            <a:r>
              <a:rPr dirty="0" sz="1150" b="1">
                <a:solidFill>
                  <a:srgbClr val="2A3441"/>
                </a:solidFill>
                <a:latin typeface="Arial"/>
                <a:cs typeface="Arial"/>
              </a:rPr>
              <a:t>with</a:t>
            </a:r>
            <a:r>
              <a:rPr dirty="0" sz="1150" spc="-80" b="1">
                <a:solidFill>
                  <a:srgbClr val="2A3441"/>
                </a:solidFill>
                <a:latin typeface="Arial"/>
                <a:cs typeface="Arial"/>
              </a:rPr>
              <a:t> </a:t>
            </a:r>
            <a:r>
              <a:rPr dirty="0" sz="1150" b="1">
                <a:solidFill>
                  <a:srgbClr val="2A3441"/>
                </a:solidFill>
                <a:latin typeface="Arial"/>
                <a:cs typeface="Arial"/>
              </a:rPr>
              <a:t>government </a:t>
            </a:r>
            <a:r>
              <a:rPr dirty="0" sz="1150" spc="-10" b="1">
                <a:solidFill>
                  <a:srgbClr val="2A3441"/>
                </a:solidFill>
                <a:latin typeface="Arial"/>
                <a:cs typeface="Arial"/>
              </a:rPr>
              <a:t>databases</a:t>
            </a:r>
            <a:r>
              <a:rPr dirty="0" sz="1150" spc="-50" b="1">
                <a:solidFill>
                  <a:srgbClr val="2A3441"/>
                </a:solidFill>
                <a:latin typeface="Arial"/>
                <a:cs typeface="Arial"/>
              </a:rPr>
              <a:t> </a:t>
            </a:r>
            <a:r>
              <a:rPr dirty="0" sz="1150" b="1">
                <a:solidFill>
                  <a:srgbClr val="2A3441"/>
                </a:solidFill>
                <a:latin typeface="Arial"/>
                <a:cs typeface="Arial"/>
              </a:rPr>
              <a:t>such</a:t>
            </a:r>
            <a:r>
              <a:rPr dirty="0" sz="1150" spc="-45" b="1">
                <a:solidFill>
                  <a:srgbClr val="2A3441"/>
                </a:solidFill>
                <a:latin typeface="Arial"/>
                <a:cs typeface="Arial"/>
              </a:rPr>
              <a:t> </a:t>
            </a:r>
            <a:r>
              <a:rPr dirty="0" sz="1150" b="1">
                <a:solidFill>
                  <a:srgbClr val="2A3441"/>
                </a:solidFill>
                <a:latin typeface="Arial"/>
                <a:cs typeface="Arial"/>
              </a:rPr>
              <a:t>as</a:t>
            </a:r>
            <a:r>
              <a:rPr dirty="0" sz="1150" spc="-30" b="1">
                <a:solidFill>
                  <a:srgbClr val="2A3441"/>
                </a:solidFill>
                <a:latin typeface="Arial"/>
                <a:cs typeface="Arial"/>
              </a:rPr>
              <a:t> </a:t>
            </a:r>
            <a:r>
              <a:rPr dirty="0" sz="1150" b="1">
                <a:solidFill>
                  <a:srgbClr val="2A3441"/>
                </a:solidFill>
                <a:latin typeface="Arial"/>
                <a:cs typeface="Arial"/>
              </a:rPr>
              <a:t>Aadhaar,</a:t>
            </a:r>
            <a:r>
              <a:rPr dirty="0" sz="1150" spc="10" b="1">
                <a:solidFill>
                  <a:srgbClr val="2A3441"/>
                </a:solidFill>
                <a:latin typeface="Arial"/>
                <a:cs typeface="Arial"/>
              </a:rPr>
              <a:t> </a:t>
            </a:r>
            <a:r>
              <a:rPr dirty="0" sz="1150" b="1">
                <a:solidFill>
                  <a:srgbClr val="2A3441"/>
                </a:solidFill>
                <a:latin typeface="Arial"/>
                <a:cs typeface="Arial"/>
              </a:rPr>
              <a:t>ration</a:t>
            </a:r>
            <a:r>
              <a:rPr dirty="0" sz="1150" spc="-20" b="1">
                <a:solidFill>
                  <a:srgbClr val="2A3441"/>
                </a:solidFill>
                <a:latin typeface="Arial"/>
                <a:cs typeface="Arial"/>
              </a:rPr>
              <a:t> </a:t>
            </a:r>
            <a:r>
              <a:rPr dirty="0" sz="1150" b="1">
                <a:solidFill>
                  <a:srgbClr val="2A3441"/>
                </a:solidFill>
                <a:latin typeface="Arial"/>
                <a:cs typeface="Arial"/>
              </a:rPr>
              <a:t>card,</a:t>
            </a:r>
            <a:r>
              <a:rPr dirty="0" sz="1150" spc="-30" b="1">
                <a:solidFill>
                  <a:srgbClr val="2A3441"/>
                </a:solidFill>
                <a:latin typeface="Arial"/>
                <a:cs typeface="Arial"/>
              </a:rPr>
              <a:t> </a:t>
            </a:r>
            <a:r>
              <a:rPr dirty="0" sz="1150" b="1">
                <a:solidFill>
                  <a:srgbClr val="2A3441"/>
                </a:solidFill>
                <a:latin typeface="Arial"/>
                <a:cs typeface="Arial"/>
              </a:rPr>
              <a:t>and</a:t>
            </a:r>
            <a:r>
              <a:rPr dirty="0" sz="1150" spc="-45" b="1">
                <a:solidFill>
                  <a:srgbClr val="2A3441"/>
                </a:solidFill>
                <a:latin typeface="Arial"/>
                <a:cs typeface="Arial"/>
              </a:rPr>
              <a:t> </a:t>
            </a:r>
            <a:r>
              <a:rPr dirty="0" sz="1150" spc="-20" b="1">
                <a:solidFill>
                  <a:srgbClr val="2A3441"/>
                </a:solidFill>
                <a:latin typeface="Arial"/>
                <a:cs typeface="Arial"/>
              </a:rPr>
              <a:t>socio-</a:t>
            </a:r>
            <a:r>
              <a:rPr dirty="0" sz="1150" spc="-10" b="1">
                <a:solidFill>
                  <a:srgbClr val="2A3441"/>
                </a:solidFill>
                <a:latin typeface="Arial"/>
                <a:cs typeface="Arial"/>
              </a:rPr>
              <a:t>economic</a:t>
            </a:r>
            <a:r>
              <a:rPr dirty="0" sz="1150" spc="-70" b="1">
                <a:solidFill>
                  <a:srgbClr val="2A3441"/>
                </a:solidFill>
                <a:latin typeface="Arial"/>
                <a:cs typeface="Arial"/>
              </a:rPr>
              <a:t> </a:t>
            </a:r>
            <a:r>
              <a:rPr dirty="0" sz="1150" spc="-10" b="1">
                <a:solidFill>
                  <a:srgbClr val="2A3441"/>
                </a:solidFill>
                <a:latin typeface="Arial"/>
                <a:cs typeface="Arial"/>
              </a:rPr>
              <a:t>records </a:t>
            </a:r>
            <a:r>
              <a:rPr dirty="0" sz="1150" b="1">
                <a:solidFill>
                  <a:srgbClr val="2A3441"/>
                </a:solidFill>
                <a:latin typeface="Arial"/>
                <a:cs typeface="Arial"/>
              </a:rPr>
              <a:t>to</a:t>
            </a:r>
            <a:r>
              <a:rPr dirty="0" sz="1150" spc="-35" b="1">
                <a:solidFill>
                  <a:srgbClr val="2A3441"/>
                </a:solidFill>
                <a:latin typeface="Arial"/>
                <a:cs typeface="Arial"/>
              </a:rPr>
              <a:t> </a:t>
            </a:r>
            <a:r>
              <a:rPr dirty="0" sz="1150" spc="-10" b="1">
                <a:solidFill>
                  <a:srgbClr val="2A3441"/>
                </a:solidFill>
                <a:latin typeface="Arial"/>
                <a:cs typeface="Arial"/>
              </a:rPr>
              <a:t>automatically</a:t>
            </a:r>
            <a:r>
              <a:rPr dirty="0" sz="1150" spc="-30" b="1">
                <a:solidFill>
                  <a:srgbClr val="2A3441"/>
                </a:solidFill>
                <a:latin typeface="Arial"/>
                <a:cs typeface="Arial"/>
              </a:rPr>
              <a:t> </a:t>
            </a:r>
            <a:r>
              <a:rPr dirty="0" sz="1150" b="1">
                <a:solidFill>
                  <a:srgbClr val="2A3441"/>
                </a:solidFill>
                <a:latin typeface="Arial"/>
                <a:cs typeface="Arial"/>
              </a:rPr>
              <a:t>verify </a:t>
            </a:r>
            <a:r>
              <a:rPr dirty="0" sz="1150" spc="-10" b="1">
                <a:solidFill>
                  <a:srgbClr val="2A3441"/>
                </a:solidFill>
                <a:latin typeface="Arial"/>
                <a:cs typeface="Arial"/>
              </a:rPr>
              <a:t>applicant</a:t>
            </a:r>
            <a:r>
              <a:rPr dirty="0" sz="1150" spc="-55" b="1">
                <a:solidFill>
                  <a:srgbClr val="2A3441"/>
                </a:solidFill>
                <a:latin typeface="Arial"/>
                <a:cs typeface="Arial"/>
              </a:rPr>
              <a:t> </a:t>
            </a:r>
            <a:r>
              <a:rPr dirty="0" sz="1150" b="1">
                <a:solidFill>
                  <a:srgbClr val="2A3441"/>
                </a:solidFill>
                <a:latin typeface="Arial"/>
                <a:cs typeface="Arial"/>
              </a:rPr>
              <a:t>details</a:t>
            </a:r>
            <a:r>
              <a:rPr dirty="0" sz="1150" spc="-40" b="1">
                <a:solidFill>
                  <a:srgbClr val="2A3441"/>
                </a:solidFill>
                <a:latin typeface="Arial"/>
                <a:cs typeface="Arial"/>
              </a:rPr>
              <a:t> </a:t>
            </a:r>
            <a:r>
              <a:rPr dirty="0" sz="1150" b="1">
                <a:solidFill>
                  <a:srgbClr val="2A3441"/>
                </a:solidFill>
                <a:latin typeface="Arial"/>
                <a:cs typeface="Arial"/>
              </a:rPr>
              <a:t>and</a:t>
            </a:r>
            <a:r>
              <a:rPr dirty="0" sz="1150" spc="-50" b="1">
                <a:solidFill>
                  <a:srgbClr val="2A3441"/>
                </a:solidFill>
                <a:latin typeface="Arial"/>
                <a:cs typeface="Arial"/>
              </a:rPr>
              <a:t> </a:t>
            </a:r>
            <a:r>
              <a:rPr dirty="0" sz="1150" b="1">
                <a:solidFill>
                  <a:srgbClr val="2A3441"/>
                </a:solidFill>
                <a:latin typeface="Arial"/>
                <a:cs typeface="Arial"/>
              </a:rPr>
              <a:t>improve</a:t>
            </a:r>
            <a:r>
              <a:rPr dirty="0" sz="1150" spc="-5" b="1">
                <a:solidFill>
                  <a:srgbClr val="2A3441"/>
                </a:solidFill>
                <a:latin typeface="Arial"/>
                <a:cs typeface="Arial"/>
              </a:rPr>
              <a:t> </a:t>
            </a:r>
            <a:r>
              <a:rPr dirty="0" sz="1150" spc="-20" b="1">
                <a:solidFill>
                  <a:srgbClr val="2A3441"/>
                </a:solidFill>
                <a:latin typeface="Arial"/>
                <a:cs typeface="Arial"/>
              </a:rPr>
              <a:t>eligibility</a:t>
            </a:r>
            <a:r>
              <a:rPr dirty="0" sz="1150" spc="-65" b="1">
                <a:solidFill>
                  <a:srgbClr val="2A3441"/>
                </a:solidFill>
                <a:latin typeface="Arial"/>
                <a:cs typeface="Arial"/>
              </a:rPr>
              <a:t> </a:t>
            </a:r>
            <a:r>
              <a:rPr dirty="0" sz="1150" spc="-10" b="1">
                <a:solidFill>
                  <a:srgbClr val="2A3441"/>
                </a:solidFill>
                <a:latin typeface="Arial"/>
                <a:cs typeface="Arial"/>
              </a:rPr>
              <a:t>prediction</a:t>
            </a:r>
            <a:r>
              <a:rPr dirty="0" sz="1150" spc="-65" b="1">
                <a:solidFill>
                  <a:srgbClr val="2A3441"/>
                </a:solidFill>
                <a:latin typeface="Arial"/>
                <a:cs typeface="Arial"/>
              </a:rPr>
              <a:t> </a:t>
            </a:r>
            <a:r>
              <a:rPr dirty="0" sz="1150" b="1">
                <a:solidFill>
                  <a:srgbClr val="2A3441"/>
                </a:solidFill>
                <a:latin typeface="Arial"/>
                <a:cs typeface="Arial"/>
              </a:rPr>
              <a:t>accuracy.</a:t>
            </a:r>
            <a:r>
              <a:rPr dirty="0" sz="1150" spc="45" b="1">
                <a:solidFill>
                  <a:srgbClr val="2A3441"/>
                </a:solidFill>
                <a:latin typeface="Arial"/>
                <a:cs typeface="Arial"/>
              </a:rPr>
              <a:t> </a:t>
            </a:r>
            <a:r>
              <a:rPr dirty="0" sz="1150" b="1">
                <a:solidFill>
                  <a:srgbClr val="2A3441"/>
                </a:solidFill>
                <a:latin typeface="Arial"/>
                <a:cs typeface="Arial"/>
              </a:rPr>
              <a:t>This</a:t>
            </a:r>
            <a:r>
              <a:rPr dirty="0" sz="1150" spc="-30" b="1">
                <a:solidFill>
                  <a:srgbClr val="2A3441"/>
                </a:solidFill>
                <a:latin typeface="Arial"/>
                <a:cs typeface="Arial"/>
              </a:rPr>
              <a:t> </a:t>
            </a:r>
            <a:r>
              <a:rPr dirty="0" sz="1150" b="1">
                <a:solidFill>
                  <a:srgbClr val="2A3441"/>
                </a:solidFill>
                <a:latin typeface="Arial"/>
                <a:cs typeface="Arial"/>
              </a:rPr>
              <a:t>will</a:t>
            </a:r>
            <a:r>
              <a:rPr dirty="0" sz="1150" spc="-50" b="1">
                <a:solidFill>
                  <a:srgbClr val="2A3441"/>
                </a:solidFill>
                <a:latin typeface="Arial"/>
                <a:cs typeface="Arial"/>
              </a:rPr>
              <a:t> </a:t>
            </a:r>
            <a:r>
              <a:rPr dirty="0" sz="1150" b="1">
                <a:solidFill>
                  <a:srgbClr val="2A3441"/>
                </a:solidFill>
                <a:latin typeface="Arial"/>
                <a:cs typeface="Arial"/>
              </a:rPr>
              <a:t>reduce</a:t>
            </a:r>
            <a:r>
              <a:rPr dirty="0" sz="1150" spc="-45" b="1">
                <a:solidFill>
                  <a:srgbClr val="2A3441"/>
                </a:solidFill>
                <a:latin typeface="Arial"/>
                <a:cs typeface="Arial"/>
              </a:rPr>
              <a:t> </a:t>
            </a:r>
            <a:r>
              <a:rPr dirty="0" sz="1150" spc="-10" b="1">
                <a:solidFill>
                  <a:srgbClr val="2A3441"/>
                </a:solidFill>
                <a:latin typeface="Arial"/>
                <a:cs typeface="Arial"/>
              </a:rPr>
              <a:t>manual</a:t>
            </a:r>
            <a:endParaRPr sz="1150">
              <a:latin typeface="Arial"/>
              <a:cs typeface="Arial"/>
            </a:endParaRPr>
          </a:p>
          <a:p>
            <a:pPr marL="63500">
              <a:lnSpc>
                <a:spcPct val="100000"/>
              </a:lnSpc>
              <a:spcBef>
                <a:spcPts val="665"/>
              </a:spcBef>
            </a:pPr>
            <a:r>
              <a:rPr dirty="0" sz="1150" b="1">
                <a:solidFill>
                  <a:srgbClr val="2A3441"/>
                </a:solidFill>
                <a:latin typeface="Arial"/>
                <a:cs typeface="Arial"/>
              </a:rPr>
              <a:t>verification</a:t>
            </a:r>
            <a:r>
              <a:rPr dirty="0" sz="1150" spc="-10" b="1">
                <a:solidFill>
                  <a:srgbClr val="2A3441"/>
                </a:solidFill>
                <a:latin typeface="Arial"/>
                <a:cs typeface="Arial"/>
              </a:rPr>
              <a:t> </a:t>
            </a:r>
            <a:r>
              <a:rPr dirty="0" sz="1150" b="1">
                <a:solidFill>
                  <a:srgbClr val="2A3441"/>
                </a:solidFill>
                <a:latin typeface="Arial"/>
                <a:cs typeface="Arial"/>
              </a:rPr>
              <a:t>efforts</a:t>
            </a:r>
            <a:r>
              <a:rPr dirty="0" sz="1150" spc="-10" b="1">
                <a:solidFill>
                  <a:srgbClr val="2A3441"/>
                </a:solidFill>
                <a:latin typeface="Arial"/>
                <a:cs typeface="Arial"/>
              </a:rPr>
              <a:t> </a:t>
            </a:r>
            <a:r>
              <a:rPr dirty="0" sz="1150" b="1">
                <a:solidFill>
                  <a:srgbClr val="2A3441"/>
                </a:solidFill>
                <a:latin typeface="Arial"/>
                <a:cs typeface="Arial"/>
              </a:rPr>
              <a:t>and</a:t>
            </a:r>
            <a:r>
              <a:rPr dirty="0" sz="1150" spc="-40" b="1">
                <a:solidFill>
                  <a:srgbClr val="2A3441"/>
                </a:solidFill>
                <a:latin typeface="Arial"/>
                <a:cs typeface="Arial"/>
              </a:rPr>
              <a:t> </a:t>
            </a:r>
            <a:r>
              <a:rPr dirty="0" sz="1150" b="1">
                <a:solidFill>
                  <a:srgbClr val="2A3441"/>
                </a:solidFill>
                <a:latin typeface="Arial"/>
                <a:cs typeface="Arial"/>
              </a:rPr>
              <a:t>help</a:t>
            </a:r>
            <a:r>
              <a:rPr dirty="0" sz="1150" spc="-45" b="1">
                <a:solidFill>
                  <a:srgbClr val="2A3441"/>
                </a:solidFill>
                <a:latin typeface="Arial"/>
                <a:cs typeface="Arial"/>
              </a:rPr>
              <a:t> </a:t>
            </a:r>
            <a:r>
              <a:rPr dirty="0" sz="1150" b="1">
                <a:solidFill>
                  <a:srgbClr val="2A3441"/>
                </a:solidFill>
                <a:latin typeface="Arial"/>
                <a:cs typeface="Arial"/>
              </a:rPr>
              <a:t>identify</a:t>
            </a:r>
            <a:r>
              <a:rPr dirty="0" sz="1150" spc="-45" b="1">
                <a:solidFill>
                  <a:srgbClr val="2A3441"/>
                </a:solidFill>
                <a:latin typeface="Arial"/>
                <a:cs typeface="Arial"/>
              </a:rPr>
              <a:t> </a:t>
            </a:r>
            <a:r>
              <a:rPr dirty="0" sz="1150" spc="-10" b="1">
                <a:solidFill>
                  <a:srgbClr val="2A3441"/>
                </a:solidFill>
                <a:latin typeface="Arial"/>
                <a:cs typeface="Arial"/>
              </a:rPr>
              <a:t>eligible</a:t>
            </a:r>
            <a:r>
              <a:rPr dirty="0" sz="1150" spc="-60" b="1">
                <a:solidFill>
                  <a:srgbClr val="2A3441"/>
                </a:solidFill>
                <a:latin typeface="Arial"/>
                <a:cs typeface="Arial"/>
              </a:rPr>
              <a:t> </a:t>
            </a:r>
            <a:r>
              <a:rPr dirty="0" sz="1150" spc="-20" b="1">
                <a:solidFill>
                  <a:srgbClr val="2A3441"/>
                </a:solidFill>
                <a:latin typeface="Arial"/>
                <a:cs typeface="Arial"/>
              </a:rPr>
              <a:t>beneficiaries</a:t>
            </a:r>
            <a:r>
              <a:rPr dirty="0" sz="1150" spc="-25" b="1">
                <a:solidFill>
                  <a:srgbClr val="2A3441"/>
                </a:solidFill>
                <a:latin typeface="Arial"/>
                <a:cs typeface="Arial"/>
              </a:rPr>
              <a:t> </a:t>
            </a:r>
            <a:r>
              <a:rPr dirty="0" sz="1150" b="1">
                <a:solidFill>
                  <a:srgbClr val="2A3441"/>
                </a:solidFill>
                <a:latin typeface="Arial"/>
                <a:cs typeface="Arial"/>
              </a:rPr>
              <a:t>more</a:t>
            </a:r>
            <a:r>
              <a:rPr dirty="0" sz="1150" spc="-10" b="1">
                <a:solidFill>
                  <a:srgbClr val="2A3441"/>
                </a:solidFill>
                <a:latin typeface="Arial"/>
                <a:cs typeface="Arial"/>
              </a:rPr>
              <a:t> efficiently.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150">
              <a:latin typeface="Arial"/>
              <a:cs typeface="Arial"/>
            </a:endParaRPr>
          </a:p>
          <a:p>
            <a:pPr marL="254000" indent="-190500">
              <a:lnSpc>
                <a:spcPct val="100000"/>
              </a:lnSpc>
              <a:spcBef>
                <a:spcPts val="5"/>
              </a:spcBef>
              <a:buSzPct val="103448"/>
              <a:buAutoNum type="arabicPeriod" startAt="2"/>
              <a:tabLst>
                <a:tab pos="254000" algn="l"/>
              </a:tabLst>
            </a:pPr>
            <a:r>
              <a:rPr dirty="0" sz="1450" spc="-50" b="1">
                <a:solidFill>
                  <a:srgbClr val="2A3441"/>
                </a:solidFill>
                <a:latin typeface="Arial"/>
                <a:cs typeface="Arial"/>
              </a:rPr>
              <a:t>AI-</a:t>
            </a:r>
            <a:r>
              <a:rPr dirty="0" sz="1450" b="1">
                <a:solidFill>
                  <a:srgbClr val="2A3441"/>
                </a:solidFill>
                <a:latin typeface="Arial"/>
                <a:cs typeface="Arial"/>
              </a:rPr>
              <a:t>Powered</a:t>
            </a:r>
            <a:r>
              <a:rPr dirty="0" sz="1450" spc="85" b="1">
                <a:solidFill>
                  <a:srgbClr val="2A3441"/>
                </a:solidFill>
                <a:latin typeface="Arial"/>
                <a:cs typeface="Arial"/>
              </a:rPr>
              <a:t> </a:t>
            </a:r>
            <a:r>
              <a:rPr dirty="0" sz="1450" b="1">
                <a:solidFill>
                  <a:srgbClr val="2A3441"/>
                </a:solidFill>
                <a:latin typeface="Arial"/>
                <a:cs typeface="Arial"/>
              </a:rPr>
              <a:t>Recommendation</a:t>
            </a:r>
            <a:r>
              <a:rPr dirty="0" sz="1450" spc="55" b="1">
                <a:solidFill>
                  <a:srgbClr val="2A3441"/>
                </a:solidFill>
                <a:latin typeface="Arial"/>
                <a:cs typeface="Arial"/>
              </a:rPr>
              <a:t> </a:t>
            </a:r>
            <a:r>
              <a:rPr dirty="0" sz="1450" b="1">
                <a:solidFill>
                  <a:srgbClr val="2A3441"/>
                </a:solidFill>
                <a:latin typeface="Arial"/>
                <a:cs typeface="Arial"/>
              </a:rPr>
              <a:t>&amp;</a:t>
            </a:r>
            <a:r>
              <a:rPr dirty="0" sz="1450" spc="60" b="1">
                <a:solidFill>
                  <a:srgbClr val="2A3441"/>
                </a:solidFill>
                <a:latin typeface="Arial"/>
                <a:cs typeface="Arial"/>
              </a:rPr>
              <a:t> </a:t>
            </a:r>
            <a:r>
              <a:rPr dirty="0" sz="1450" spc="-10" b="1">
                <a:solidFill>
                  <a:srgbClr val="2A3441"/>
                </a:solidFill>
                <a:latin typeface="Arial"/>
                <a:cs typeface="Arial"/>
              </a:rPr>
              <a:t>Real-</a:t>
            </a:r>
            <a:r>
              <a:rPr dirty="0" sz="1450" b="1">
                <a:solidFill>
                  <a:srgbClr val="2A3441"/>
                </a:solidFill>
                <a:latin typeface="Arial"/>
                <a:cs typeface="Arial"/>
              </a:rPr>
              <a:t>Time</a:t>
            </a:r>
            <a:r>
              <a:rPr dirty="0" sz="1450" spc="105" b="1">
                <a:solidFill>
                  <a:srgbClr val="2A3441"/>
                </a:solidFill>
                <a:latin typeface="Arial"/>
                <a:cs typeface="Arial"/>
              </a:rPr>
              <a:t> </a:t>
            </a:r>
            <a:r>
              <a:rPr dirty="0" sz="1450" b="1">
                <a:solidFill>
                  <a:srgbClr val="2A3441"/>
                </a:solidFill>
                <a:latin typeface="Arial"/>
                <a:cs typeface="Arial"/>
              </a:rPr>
              <a:t>Eligibility</a:t>
            </a:r>
            <a:r>
              <a:rPr dirty="0" sz="1450" spc="65" b="1">
                <a:solidFill>
                  <a:srgbClr val="2A3441"/>
                </a:solidFill>
                <a:latin typeface="Arial"/>
                <a:cs typeface="Arial"/>
              </a:rPr>
              <a:t> </a:t>
            </a:r>
            <a:r>
              <a:rPr dirty="0" sz="1450" spc="-10" b="1">
                <a:solidFill>
                  <a:srgbClr val="2A3441"/>
                </a:solidFill>
                <a:latin typeface="Arial"/>
                <a:cs typeface="Arial"/>
              </a:rPr>
              <a:t>Checking</a:t>
            </a:r>
            <a:endParaRPr sz="1450">
              <a:latin typeface="Arial"/>
              <a:cs typeface="Arial"/>
            </a:endParaRPr>
          </a:p>
          <a:p>
            <a:pPr marL="63500" marR="407034">
              <a:lnSpc>
                <a:spcPts val="2270"/>
              </a:lnSpc>
              <a:spcBef>
                <a:spcPts val="5"/>
              </a:spcBef>
            </a:pPr>
            <a:r>
              <a:rPr dirty="0" sz="1150" b="1">
                <a:solidFill>
                  <a:srgbClr val="2A3441"/>
                </a:solidFill>
                <a:latin typeface="Arial"/>
                <a:cs typeface="Arial"/>
              </a:rPr>
              <a:t>Future</a:t>
            </a:r>
            <a:r>
              <a:rPr dirty="0" sz="1150" spc="-75" b="1">
                <a:solidFill>
                  <a:srgbClr val="2A3441"/>
                </a:solidFill>
                <a:latin typeface="Arial"/>
                <a:cs typeface="Arial"/>
              </a:rPr>
              <a:t> </a:t>
            </a:r>
            <a:r>
              <a:rPr dirty="0" sz="1150" b="1">
                <a:solidFill>
                  <a:srgbClr val="2A3441"/>
                </a:solidFill>
                <a:latin typeface="Arial"/>
                <a:cs typeface="Arial"/>
              </a:rPr>
              <a:t>versions</a:t>
            </a:r>
            <a:r>
              <a:rPr dirty="0" sz="1150" spc="-30" b="1">
                <a:solidFill>
                  <a:srgbClr val="2A3441"/>
                </a:solidFill>
                <a:latin typeface="Arial"/>
                <a:cs typeface="Arial"/>
              </a:rPr>
              <a:t> </a:t>
            </a:r>
            <a:r>
              <a:rPr dirty="0" sz="1150" b="1">
                <a:solidFill>
                  <a:srgbClr val="2A3441"/>
                </a:solidFill>
                <a:latin typeface="Arial"/>
                <a:cs typeface="Arial"/>
              </a:rPr>
              <a:t>can</a:t>
            </a:r>
            <a:r>
              <a:rPr dirty="0" sz="1150" spc="-30" b="1">
                <a:solidFill>
                  <a:srgbClr val="2A3441"/>
                </a:solidFill>
                <a:latin typeface="Arial"/>
                <a:cs typeface="Arial"/>
              </a:rPr>
              <a:t> </a:t>
            </a:r>
            <a:r>
              <a:rPr dirty="0" sz="1150" b="1">
                <a:solidFill>
                  <a:srgbClr val="2A3441"/>
                </a:solidFill>
                <a:latin typeface="Arial"/>
                <a:cs typeface="Arial"/>
              </a:rPr>
              <a:t>use</a:t>
            </a:r>
            <a:r>
              <a:rPr dirty="0" sz="1150" spc="-50" b="1">
                <a:solidFill>
                  <a:srgbClr val="2A3441"/>
                </a:solidFill>
                <a:latin typeface="Arial"/>
                <a:cs typeface="Arial"/>
              </a:rPr>
              <a:t> </a:t>
            </a:r>
            <a:r>
              <a:rPr dirty="0" sz="1150" b="1">
                <a:solidFill>
                  <a:srgbClr val="2A3441"/>
                </a:solidFill>
                <a:latin typeface="Arial"/>
                <a:cs typeface="Arial"/>
              </a:rPr>
              <a:t>advanced</a:t>
            </a:r>
            <a:r>
              <a:rPr dirty="0" sz="1150" spc="-10" b="1">
                <a:solidFill>
                  <a:srgbClr val="2A3441"/>
                </a:solidFill>
                <a:latin typeface="Arial"/>
                <a:cs typeface="Arial"/>
              </a:rPr>
              <a:t> </a:t>
            </a:r>
            <a:r>
              <a:rPr dirty="0" sz="1150" b="1">
                <a:solidFill>
                  <a:srgbClr val="2A3441"/>
                </a:solidFill>
                <a:latin typeface="Arial"/>
                <a:cs typeface="Arial"/>
              </a:rPr>
              <a:t>Machine</a:t>
            </a:r>
            <a:r>
              <a:rPr dirty="0" sz="1150" spc="-40" b="1">
                <a:solidFill>
                  <a:srgbClr val="2A3441"/>
                </a:solidFill>
                <a:latin typeface="Arial"/>
                <a:cs typeface="Arial"/>
              </a:rPr>
              <a:t> </a:t>
            </a:r>
            <a:r>
              <a:rPr dirty="0" sz="1150" b="1">
                <a:solidFill>
                  <a:srgbClr val="2A3441"/>
                </a:solidFill>
                <a:latin typeface="Arial"/>
                <a:cs typeface="Arial"/>
              </a:rPr>
              <a:t>Learning</a:t>
            </a:r>
            <a:r>
              <a:rPr dirty="0" sz="1150" spc="-65" b="1">
                <a:solidFill>
                  <a:srgbClr val="2A3441"/>
                </a:solidFill>
                <a:latin typeface="Arial"/>
                <a:cs typeface="Arial"/>
              </a:rPr>
              <a:t> </a:t>
            </a:r>
            <a:r>
              <a:rPr dirty="0" sz="1150" b="1">
                <a:solidFill>
                  <a:srgbClr val="2A3441"/>
                </a:solidFill>
                <a:latin typeface="Arial"/>
                <a:cs typeface="Arial"/>
              </a:rPr>
              <a:t>and</a:t>
            </a:r>
            <a:r>
              <a:rPr dirty="0" sz="1150" spc="-45" b="1">
                <a:solidFill>
                  <a:srgbClr val="2A3441"/>
                </a:solidFill>
                <a:latin typeface="Arial"/>
                <a:cs typeface="Arial"/>
              </a:rPr>
              <a:t> </a:t>
            </a:r>
            <a:r>
              <a:rPr dirty="0" sz="1150" b="1">
                <a:solidFill>
                  <a:srgbClr val="2A3441"/>
                </a:solidFill>
                <a:latin typeface="Arial"/>
                <a:cs typeface="Arial"/>
              </a:rPr>
              <a:t>AI</a:t>
            </a:r>
            <a:r>
              <a:rPr dirty="0" sz="1150" spc="5" b="1">
                <a:solidFill>
                  <a:srgbClr val="2A3441"/>
                </a:solidFill>
                <a:latin typeface="Arial"/>
                <a:cs typeface="Arial"/>
              </a:rPr>
              <a:t> </a:t>
            </a:r>
            <a:r>
              <a:rPr dirty="0" sz="1150" b="1">
                <a:solidFill>
                  <a:srgbClr val="2A3441"/>
                </a:solidFill>
                <a:latin typeface="Arial"/>
                <a:cs typeface="Arial"/>
              </a:rPr>
              <a:t>models</a:t>
            </a:r>
            <a:r>
              <a:rPr dirty="0" sz="1150" spc="-65" b="1">
                <a:solidFill>
                  <a:srgbClr val="2A3441"/>
                </a:solidFill>
                <a:latin typeface="Arial"/>
                <a:cs typeface="Arial"/>
              </a:rPr>
              <a:t> </a:t>
            </a:r>
            <a:r>
              <a:rPr dirty="0" sz="1150" b="1">
                <a:solidFill>
                  <a:srgbClr val="2A3441"/>
                </a:solidFill>
                <a:latin typeface="Arial"/>
                <a:cs typeface="Arial"/>
              </a:rPr>
              <a:t>to</a:t>
            </a:r>
            <a:r>
              <a:rPr dirty="0" sz="1150" spc="-15" b="1">
                <a:solidFill>
                  <a:srgbClr val="2A3441"/>
                </a:solidFill>
                <a:latin typeface="Arial"/>
                <a:cs typeface="Arial"/>
              </a:rPr>
              <a:t> </a:t>
            </a:r>
            <a:r>
              <a:rPr dirty="0" sz="1150" b="1">
                <a:solidFill>
                  <a:srgbClr val="2A3441"/>
                </a:solidFill>
                <a:latin typeface="Arial"/>
                <a:cs typeface="Arial"/>
              </a:rPr>
              <a:t>provide</a:t>
            </a:r>
            <a:r>
              <a:rPr dirty="0" sz="1150" spc="-50" b="1">
                <a:solidFill>
                  <a:srgbClr val="2A3441"/>
                </a:solidFill>
                <a:latin typeface="Arial"/>
                <a:cs typeface="Arial"/>
              </a:rPr>
              <a:t> </a:t>
            </a:r>
            <a:r>
              <a:rPr dirty="0" sz="1150" spc="-25" b="1">
                <a:solidFill>
                  <a:srgbClr val="2A3441"/>
                </a:solidFill>
                <a:latin typeface="Arial"/>
                <a:cs typeface="Arial"/>
              </a:rPr>
              <a:t>real-</a:t>
            </a:r>
            <a:r>
              <a:rPr dirty="0" sz="1150" b="1">
                <a:solidFill>
                  <a:srgbClr val="2A3441"/>
                </a:solidFill>
                <a:latin typeface="Arial"/>
                <a:cs typeface="Arial"/>
              </a:rPr>
              <a:t>time</a:t>
            </a:r>
            <a:r>
              <a:rPr dirty="0" sz="1150" spc="-5" b="1">
                <a:solidFill>
                  <a:srgbClr val="2A3441"/>
                </a:solidFill>
                <a:latin typeface="Arial"/>
                <a:cs typeface="Arial"/>
              </a:rPr>
              <a:t> </a:t>
            </a:r>
            <a:r>
              <a:rPr dirty="0" sz="1150" spc="-10" b="1">
                <a:solidFill>
                  <a:srgbClr val="2A3441"/>
                </a:solidFill>
                <a:latin typeface="Arial"/>
                <a:cs typeface="Arial"/>
              </a:rPr>
              <a:t>eligibility</a:t>
            </a:r>
            <a:r>
              <a:rPr dirty="0" sz="1150" spc="-70" b="1">
                <a:solidFill>
                  <a:srgbClr val="2A3441"/>
                </a:solidFill>
                <a:latin typeface="Arial"/>
                <a:cs typeface="Arial"/>
              </a:rPr>
              <a:t> </a:t>
            </a:r>
            <a:r>
              <a:rPr dirty="0" sz="1150" spc="-10" b="1">
                <a:solidFill>
                  <a:srgbClr val="2A3441"/>
                </a:solidFill>
                <a:latin typeface="Arial"/>
                <a:cs typeface="Arial"/>
              </a:rPr>
              <a:t>predictions</a:t>
            </a:r>
            <a:r>
              <a:rPr dirty="0" sz="1150" spc="-75" b="1">
                <a:solidFill>
                  <a:srgbClr val="2A3441"/>
                </a:solidFill>
                <a:latin typeface="Arial"/>
                <a:cs typeface="Arial"/>
              </a:rPr>
              <a:t> </a:t>
            </a:r>
            <a:r>
              <a:rPr dirty="0" sz="1150" spc="-25" b="1">
                <a:solidFill>
                  <a:srgbClr val="2A3441"/>
                </a:solidFill>
                <a:latin typeface="Arial"/>
                <a:cs typeface="Arial"/>
              </a:rPr>
              <a:t>for </a:t>
            </a:r>
            <a:r>
              <a:rPr dirty="0" sz="1150" spc="-10" b="1">
                <a:solidFill>
                  <a:srgbClr val="2A3441"/>
                </a:solidFill>
                <a:latin typeface="Arial"/>
                <a:cs typeface="Arial"/>
              </a:rPr>
              <a:t>multiple</a:t>
            </a:r>
            <a:r>
              <a:rPr dirty="0" sz="1150" spc="-75" b="1">
                <a:solidFill>
                  <a:srgbClr val="2A3441"/>
                </a:solidFill>
                <a:latin typeface="Arial"/>
                <a:cs typeface="Arial"/>
              </a:rPr>
              <a:t> </a:t>
            </a:r>
            <a:r>
              <a:rPr dirty="0" sz="1150" b="1">
                <a:solidFill>
                  <a:srgbClr val="2A3441"/>
                </a:solidFill>
                <a:latin typeface="Arial"/>
                <a:cs typeface="Arial"/>
              </a:rPr>
              <a:t>welfare</a:t>
            </a:r>
            <a:r>
              <a:rPr dirty="0" sz="1150" spc="-85" b="1">
                <a:solidFill>
                  <a:srgbClr val="2A3441"/>
                </a:solidFill>
                <a:latin typeface="Arial"/>
                <a:cs typeface="Arial"/>
              </a:rPr>
              <a:t> </a:t>
            </a:r>
            <a:r>
              <a:rPr dirty="0" sz="1150" b="1">
                <a:solidFill>
                  <a:srgbClr val="2A3441"/>
                </a:solidFill>
                <a:latin typeface="Arial"/>
                <a:cs typeface="Arial"/>
              </a:rPr>
              <a:t>schemes.</a:t>
            </a:r>
            <a:r>
              <a:rPr dirty="0" sz="1150" spc="-35" b="1">
                <a:solidFill>
                  <a:srgbClr val="2A3441"/>
                </a:solidFill>
                <a:latin typeface="Arial"/>
                <a:cs typeface="Arial"/>
              </a:rPr>
              <a:t> </a:t>
            </a:r>
            <a:r>
              <a:rPr dirty="0" sz="1150" b="1">
                <a:solidFill>
                  <a:srgbClr val="2A3441"/>
                </a:solidFill>
                <a:latin typeface="Arial"/>
                <a:cs typeface="Arial"/>
              </a:rPr>
              <a:t>The</a:t>
            </a:r>
            <a:r>
              <a:rPr dirty="0" sz="1150" spc="-55" b="1">
                <a:solidFill>
                  <a:srgbClr val="2A3441"/>
                </a:solidFill>
                <a:latin typeface="Arial"/>
                <a:cs typeface="Arial"/>
              </a:rPr>
              <a:t> </a:t>
            </a:r>
            <a:r>
              <a:rPr dirty="0" sz="1150" b="1">
                <a:solidFill>
                  <a:srgbClr val="2A3441"/>
                </a:solidFill>
                <a:latin typeface="Arial"/>
                <a:cs typeface="Arial"/>
              </a:rPr>
              <a:t>system</a:t>
            </a:r>
            <a:r>
              <a:rPr dirty="0" sz="1150" spc="-10" b="1">
                <a:solidFill>
                  <a:srgbClr val="2A3441"/>
                </a:solidFill>
                <a:latin typeface="Arial"/>
                <a:cs typeface="Arial"/>
              </a:rPr>
              <a:t> </a:t>
            </a:r>
            <a:r>
              <a:rPr dirty="0" sz="1150" b="1">
                <a:solidFill>
                  <a:srgbClr val="2A3441"/>
                </a:solidFill>
                <a:latin typeface="Arial"/>
                <a:cs typeface="Arial"/>
              </a:rPr>
              <a:t>can</a:t>
            </a:r>
            <a:r>
              <a:rPr dirty="0" sz="1150" spc="-50" b="1">
                <a:solidFill>
                  <a:srgbClr val="2A3441"/>
                </a:solidFill>
                <a:latin typeface="Arial"/>
                <a:cs typeface="Arial"/>
              </a:rPr>
              <a:t> </a:t>
            </a:r>
            <a:r>
              <a:rPr dirty="0" sz="1150" b="1">
                <a:solidFill>
                  <a:srgbClr val="2A3441"/>
                </a:solidFill>
                <a:latin typeface="Arial"/>
                <a:cs typeface="Arial"/>
              </a:rPr>
              <a:t>also</a:t>
            </a:r>
            <a:r>
              <a:rPr dirty="0" sz="1150" spc="-75" b="1">
                <a:solidFill>
                  <a:srgbClr val="2A3441"/>
                </a:solidFill>
                <a:latin typeface="Arial"/>
                <a:cs typeface="Arial"/>
              </a:rPr>
              <a:t> </a:t>
            </a:r>
            <a:r>
              <a:rPr dirty="0" sz="1150" b="1">
                <a:solidFill>
                  <a:srgbClr val="2A3441"/>
                </a:solidFill>
                <a:latin typeface="Arial"/>
                <a:cs typeface="Arial"/>
              </a:rPr>
              <a:t>recommend</a:t>
            </a:r>
            <a:r>
              <a:rPr dirty="0" sz="1150" spc="-20" b="1">
                <a:solidFill>
                  <a:srgbClr val="2A3441"/>
                </a:solidFill>
                <a:latin typeface="Arial"/>
                <a:cs typeface="Arial"/>
              </a:rPr>
              <a:t> </a:t>
            </a:r>
            <a:r>
              <a:rPr dirty="0" sz="1150" b="1">
                <a:solidFill>
                  <a:srgbClr val="2A3441"/>
                </a:solidFill>
                <a:latin typeface="Arial"/>
                <a:cs typeface="Arial"/>
              </a:rPr>
              <a:t>the</a:t>
            </a:r>
            <a:r>
              <a:rPr dirty="0" sz="1150" spc="-80" b="1">
                <a:solidFill>
                  <a:srgbClr val="2A3441"/>
                </a:solidFill>
                <a:latin typeface="Arial"/>
                <a:cs typeface="Arial"/>
              </a:rPr>
              <a:t> </a:t>
            </a:r>
            <a:r>
              <a:rPr dirty="0" sz="1150" b="1">
                <a:solidFill>
                  <a:srgbClr val="2A3441"/>
                </a:solidFill>
                <a:latin typeface="Arial"/>
                <a:cs typeface="Arial"/>
              </a:rPr>
              <a:t>most</a:t>
            </a:r>
            <a:r>
              <a:rPr dirty="0" sz="1150" spc="-60" b="1">
                <a:solidFill>
                  <a:srgbClr val="2A3441"/>
                </a:solidFill>
                <a:latin typeface="Arial"/>
                <a:cs typeface="Arial"/>
              </a:rPr>
              <a:t> </a:t>
            </a:r>
            <a:r>
              <a:rPr dirty="0" sz="1150" b="1">
                <a:solidFill>
                  <a:srgbClr val="2A3441"/>
                </a:solidFill>
                <a:latin typeface="Arial"/>
                <a:cs typeface="Arial"/>
              </a:rPr>
              <a:t>suitable</a:t>
            </a:r>
            <a:r>
              <a:rPr dirty="0" sz="1150" spc="-70" b="1">
                <a:solidFill>
                  <a:srgbClr val="2A3441"/>
                </a:solidFill>
                <a:latin typeface="Arial"/>
                <a:cs typeface="Arial"/>
              </a:rPr>
              <a:t> </a:t>
            </a:r>
            <a:r>
              <a:rPr dirty="0" sz="1150" b="1">
                <a:solidFill>
                  <a:srgbClr val="2A3441"/>
                </a:solidFill>
                <a:latin typeface="Arial"/>
                <a:cs typeface="Arial"/>
              </a:rPr>
              <a:t>NSAP</a:t>
            </a:r>
            <a:r>
              <a:rPr dirty="0" sz="1150" spc="-15" b="1">
                <a:solidFill>
                  <a:srgbClr val="2A3441"/>
                </a:solidFill>
                <a:latin typeface="Arial"/>
                <a:cs typeface="Arial"/>
              </a:rPr>
              <a:t> </a:t>
            </a:r>
            <a:r>
              <a:rPr dirty="0" sz="1150" b="1">
                <a:solidFill>
                  <a:srgbClr val="2A3441"/>
                </a:solidFill>
                <a:latin typeface="Arial"/>
                <a:cs typeface="Arial"/>
              </a:rPr>
              <a:t>scheme</a:t>
            </a:r>
            <a:r>
              <a:rPr dirty="0" sz="1150" spc="-50" b="1">
                <a:solidFill>
                  <a:srgbClr val="2A3441"/>
                </a:solidFill>
                <a:latin typeface="Arial"/>
                <a:cs typeface="Arial"/>
              </a:rPr>
              <a:t> </a:t>
            </a:r>
            <a:r>
              <a:rPr dirty="0" sz="1150" b="1">
                <a:solidFill>
                  <a:srgbClr val="2A3441"/>
                </a:solidFill>
                <a:latin typeface="Arial"/>
                <a:cs typeface="Arial"/>
              </a:rPr>
              <a:t>(Old</a:t>
            </a:r>
            <a:r>
              <a:rPr dirty="0" sz="1150" spc="-60" b="1">
                <a:solidFill>
                  <a:srgbClr val="2A3441"/>
                </a:solidFill>
                <a:latin typeface="Arial"/>
                <a:cs typeface="Arial"/>
              </a:rPr>
              <a:t> </a:t>
            </a:r>
            <a:r>
              <a:rPr dirty="0" sz="1150" b="1">
                <a:solidFill>
                  <a:srgbClr val="2A3441"/>
                </a:solidFill>
                <a:latin typeface="Arial"/>
                <a:cs typeface="Arial"/>
              </a:rPr>
              <a:t>Age</a:t>
            </a:r>
            <a:r>
              <a:rPr dirty="0" sz="1150" spc="-25" b="1">
                <a:solidFill>
                  <a:srgbClr val="2A3441"/>
                </a:solidFill>
                <a:latin typeface="Arial"/>
                <a:cs typeface="Arial"/>
              </a:rPr>
              <a:t> </a:t>
            </a:r>
            <a:r>
              <a:rPr dirty="0" sz="1150" spc="-10" b="1">
                <a:solidFill>
                  <a:srgbClr val="2A3441"/>
                </a:solidFill>
                <a:latin typeface="Arial"/>
                <a:cs typeface="Arial"/>
              </a:rPr>
              <a:t>Pension,</a:t>
            </a:r>
            <a:endParaRPr sz="1150">
              <a:latin typeface="Arial"/>
              <a:cs typeface="Arial"/>
            </a:endParaRPr>
          </a:p>
          <a:p>
            <a:pPr marL="63500">
              <a:lnSpc>
                <a:spcPct val="100000"/>
              </a:lnSpc>
              <a:spcBef>
                <a:spcPts val="555"/>
              </a:spcBef>
            </a:pPr>
            <a:r>
              <a:rPr dirty="0" baseline="16666" sz="2250" spc="-772">
                <a:solidFill>
                  <a:srgbClr val="2A3441"/>
                </a:solidFill>
                <a:latin typeface="Times New Roman"/>
                <a:cs typeface="Times New Roman"/>
              </a:rPr>
              <a:t>·</a:t>
            </a:r>
            <a:r>
              <a:rPr dirty="0" sz="1150" b="1">
                <a:solidFill>
                  <a:srgbClr val="2A3441"/>
                </a:solidFill>
                <a:latin typeface="Arial"/>
                <a:cs typeface="Arial"/>
              </a:rPr>
              <a:t>W</a:t>
            </a:r>
            <a:r>
              <a:rPr dirty="0" sz="1150" spc="-20" b="1">
                <a:solidFill>
                  <a:srgbClr val="2A3441"/>
                </a:solidFill>
                <a:latin typeface="Arial"/>
                <a:cs typeface="Arial"/>
              </a:rPr>
              <a:t>id</a:t>
            </a:r>
            <a:r>
              <a:rPr dirty="0" sz="1150" spc="5" b="1">
                <a:solidFill>
                  <a:srgbClr val="2A3441"/>
                </a:solidFill>
                <a:latin typeface="Arial"/>
                <a:cs typeface="Arial"/>
              </a:rPr>
              <a:t>o</a:t>
            </a:r>
            <a:r>
              <a:rPr dirty="0" sz="1150" spc="-5" b="1">
                <a:solidFill>
                  <a:srgbClr val="2A3441"/>
                </a:solidFill>
                <a:latin typeface="Arial"/>
                <a:cs typeface="Arial"/>
              </a:rPr>
              <a:t>w</a:t>
            </a:r>
            <a:r>
              <a:rPr dirty="0" sz="1150" spc="-55" b="1">
                <a:solidFill>
                  <a:srgbClr val="2A3441"/>
                </a:solidFill>
                <a:latin typeface="Arial"/>
                <a:cs typeface="Arial"/>
              </a:rPr>
              <a:t> </a:t>
            </a:r>
            <a:r>
              <a:rPr dirty="0" sz="1150" spc="-10" b="1">
                <a:solidFill>
                  <a:srgbClr val="2A3441"/>
                </a:solidFill>
                <a:latin typeface="Arial"/>
                <a:cs typeface="Arial"/>
              </a:rPr>
              <a:t>Pension,</a:t>
            </a:r>
            <a:r>
              <a:rPr dirty="0" sz="1150" spc="-65" b="1">
                <a:solidFill>
                  <a:srgbClr val="2A3441"/>
                </a:solidFill>
                <a:latin typeface="Arial"/>
                <a:cs typeface="Arial"/>
              </a:rPr>
              <a:t> </a:t>
            </a:r>
            <a:r>
              <a:rPr dirty="0" sz="1150" b="1">
                <a:solidFill>
                  <a:srgbClr val="2A3441"/>
                </a:solidFill>
                <a:latin typeface="Arial"/>
                <a:cs typeface="Arial"/>
              </a:rPr>
              <a:t>Disability</a:t>
            </a:r>
            <a:r>
              <a:rPr dirty="0" sz="1150" spc="-25" b="1">
                <a:solidFill>
                  <a:srgbClr val="2A3441"/>
                </a:solidFill>
                <a:latin typeface="Arial"/>
                <a:cs typeface="Arial"/>
              </a:rPr>
              <a:t> </a:t>
            </a:r>
            <a:r>
              <a:rPr dirty="0" sz="1150" b="1">
                <a:solidFill>
                  <a:srgbClr val="2A3441"/>
                </a:solidFill>
                <a:latin typeface="Arial"/>
                <a:cs typeface="Arial"/>
              </a:rPr>
              <a:t>Pension,</a:t>
            </a:r>
            <a:r>
              <a:rPr dirty="0" sz="1150" spc="-55" b="1">
                <a:solidFill>
                  <a:srgbClr val="2A3441"/>
                </a:solidFill>
                <a:latin typeface="Arial"/>
                <a:cs typeface="Arial"/>
              </a:rPr>
              <a:t> </a:t>
            </a:r>
            <a:r>
              <a:rPr dirty="0" sz="1150" b="1">
                <a:solidFill>
                  <a:srgbClr val="2A3441"/>
                </a:solidFill>
                <a:latin typeface="Arial"/>
                <a:cs typeface="Arial"/>
              </a:rPr>
              <a:t>etc.)</a:t>
            </a:r>
            <a:r>
              <a:rPr dirty="0" sz="1150" spc="5" b="1">
                <a:solidFill>
                  <a:srgbClr val="2A3441"/>
                </a:solidFill>
                <a:latin typeface="Arial"/>
                <a:cs typeface="Arial"/>
              </a:rPr>
              <a:t> </a:t>
            </a:r>
            <a:r>
              <a:rPr dirty="0" sz="1150" b="1">
                <a:solidFill>
                  <a:srgbClr val="2A3441"/>
                </a:solidFill>
                <a:latin typeface="Arial"/>
                <a:cs typeface="Arial"/>
              </a:rPr>
              <a:t>based</a:t>
            </a:r>
            <a:r>
              <a:rPr dirty="0" sz="1150" spc="-30" b="1">
                <a:solidFill>
                  <a:srgbClr val="2A3441"/>
                </a:solidFill>
                <a:latin typeface="Arial"/>
                <a:cs typeface="Arial"/>
              </a:rPr>
              <a:t> </a:t>
            </a:r>
            <a:r>
              <a:rPr dirty="0" sz="1150" b="1">
                <a:solidFill>
                  <a:srgbClr val="2A3441"/>
                </a:solidFill>
                <a:latin typeface="Arial"/>
                <a:cs typeface="Arial"/>
              </a:rPr>
              <a:t>on</a:t>
            </a:r>
            <a:r>
              <a:rPr dirty="0" sz="1150" spc="-30" b="1">
                <a:solidFill>
                  <a:srgbClr val="2A3441"/>
                </a:solidFill>
                <a:latin typeface="Arial"/>
                <a:cs typeface="Arial"/>
              </a:rPr>
              <a:t> </a:t>
            </a:r>
            <a:r>
              <a:rPr dirty="0" sz="1150" b="1">
                <a:solidFill>
                  <a:srgbClr val="2A3441"/>
                </a:solidFill>
                <a:latin typeface="Arial"/>
                <a:cs typeface="Arial"/>
              </a:rPr>
              <a:t>a</a:t>
            </a:r>
            <a:r>
              <a:rPr dirty="0" sz="1150" spc="-10" b="1">
                <a:solidFill>
                  <a:srgbClr val="2A3441"/>
                </a:solidFill>
                <a:latin typeface="Arial"/>
                <a:cs typeface="Arial"/>
              </a:rPr>
              <a:t> </a:t>
            </a:r>
            <a:r>
              <a:rPr dirty="0" sz="1150" b="1">
                <a:solidFill>
                  <a:srgbClr val="2A3441"/>
                </a:solidFill>
                <a:latin typeface="Arial"/>
                <a:cs typeface="Arial"/>
              </a:rPr>
              <a:t>citizen's</a:t>
            </a:r>
            <a:r>
              <a:rPr dirty="0" sz="1150" spc="-40" b="1">
                <a:solidFill>
                  <a:srgbClr val="2A3441"/>
                </a:solidFill>
                <a:latin typeface="Arial"/>
                <a:cs typeface="Arial"/>
              </a:rPr>
              <a:t> </a:t>
            </a:r>
            <a:r>
              <a:rPr dirty="0" sz="1150" b="1">
                <a:solidFill>
                  <a:srgbClr val="2A3441"/>
                </a:solidFill>
                <a:latin typeface="Arial"/>
                <a:cs typeface="Arial"/>
              </a:rPr>
              <a:t>profile</a:t>
            </a:r>
            <a:r>
              <a:rPr dirty="0" sz="1150" spc="-25" b="1">
                <a:solidFill>
                  <a:srgbClr val="2A3441"/>
                </a:solidFill>
                <a:latin typeface="Arial"/>
                <a:cs typeface="Arial"/>
              </a:rPr>
              <a:t> </a:t>
            </a:r>
            <a:r>
              <a:rPr dirty="0" sz="1150" b="1">
                <a:solidFill>
                  <a:srgbClr val="2A3441"/>
                </a:solidFill>
                <a:latin typeface="Arial"/>
                <a:cs typeface="Arial"/>
              </a:rPr>
              <a:t>and</a:t>
            </a:r>
            <a:r>
              <a:rPr dirty="0" sz="1150" spc="-40" b="1">
                <a:solidFill>
                  <a:srgbClr val="2A3441"/>
                </a:solidFill>
                <a:latin typeface="Arial"/>
                <a:cs typeface="Arial"/>
              </a:rPr>
              <a:t> </a:t>
            </a:r>
            <a:r>
              <a:rPr dirty="0" sz="1150" spc="-20" b="1">
                <a:solidFill>
                  <a:srgbClr val="2A3441"/>
                </a:solidFill>
                <a:latin typeface="Arial"/>
                <a:cs typeface="Arial"/>
              </a:rPr>
              <a:t>eligibility</a:t>
            </a:r>
            <a:r>
              <a:rPr dirty="0" sz="1150" spc="-60" b="1">
                <a:solidFill>
                  <a:srgbClr val="2A3441"/>
                </a:solidFill>
                <a:latin typeface="Arial"/>
                <a:cs typeface="Arial"/>
              </a:rPr>
              <a:t> </a:t>
            </a:r>
            <a:r>
              <a:rPr dirty="0" sz="1150" spc="-10" b="1">
                <a:solidFill>
                  <a:srgbClr val="2A3441"/>
                </a:solidFill>
                <a:latin typeface="Arial"/>
                <a:cs typeface="Arial"/>
              </a:rPr>
              <a:t>criteria.</a:t>
            </a:r>
            <a:endParaRPr sz="1150">
              <a:latin typeface="Arial"/>
              <a:cs typeface="Arial"/>
            </a:endParaRPr>
          </a:p>
          <a:p>
            <a:pPr marL="254000" indent="-190500">
              <a:lnSpc>
                <a:spcPct val="100000"/>
              </a:lnSpc>
              <a:spcBef>
                <a:spcPts val="960"/>
              </a:spcBef>
              <a:buSzPct val="103448"/>
              <a:buAutoNum type="arabicPeriod" startAt="3"/>
              <a:tabLst>
                <a:tab pos="254000" algn="l"/>
                <a:tab pos="2029460" algn="l"/>
              </a:tabLst>
            </a:pPr>
            <a:r>
              <a:rPr dirty="0" sz="1450" b="1">
                <a:solidFill>
                  <a:srgbClr val="2A3441"/>
                </a:solidFill>
                <a:latin typeface="Arial"/>
                <a:cs typeface="Arial"/>
              </a:rPr>
              <a:t>Mobile</a:t>
            </a:r>
            <a:r>
              <a:rPr dirty="0" sz="1450" spc="10" b="1">
                <a:solidFill>
                  <a:srgbClr val="2A3441"/>
                </a:solidFill>
                <a:latin typeface="Arial"/>
                <a:cs typeface="Arial"/>
              </a:rPr>
              <a:t> </a:t>
            </a:r>
            <a:r>
              <a:rPr dirty="0" sz="1450" spc="-10" b="1">
                <a:solidFill>
                  <a:srgbClr val="2A3441"/>
                </a:solidFill>
                <a:latin typeface="Arial"/>
                <a:cs typeface="Arial"/>
              </a:rPr>
              <a:t>Application</a:t>
            </a:r>
            <a:r>
              <a:rPr dirty="0" sz="1450" b="1">
                <a:solidFill>
                  <a:srgbClr val="2A3441"/>
                </a:solidFill>
                <a:latin typeface="Arial"/>
                <a:cs typeface="Arial"/>
              </a:rPr>
              <a:t>	Multilingual</a:t>
            </a:r>
            <a:r>
              <a:rPr dirty="0" sz="1450" spc="-25" b="1">
                <a:solidFill>
                  <a:srgbClr val="2A3441"/>
                </a:solidFill>
                <a:latin typeface="Arial"/>
                <a:cs typeface="Arial"/>
              </a:rPr>
              <a:t> </a:t>
            </a:r>
            <a:r>
              <a:rPr dirty="0" sz="1450" spc="-10" b="1">
                <a:solidFill>
                  <a:srgbClr val="2A3441"/>
                </a:solidFill>
                <a:latin typeface="Arial"/>
                <a:cs typeface="Arial"/>
              </a:rPr>
              <a:t>Support</a:t>
            </a:r>
            <a:endParaRPr sz="1450">
              <a:latin typeface="Arial"/>
              <a:cs typeface="Arial"/>
            </a:endParaRPr>
          </a:p>
          <a:p>
            <a:pPr marL="133350">
              <a:lnSpc>
                <a:spcPct val="100000"/>
              </a:lnSpc>
              <a:spcBef>
                <a:spcPts val="994"/>
              </a:spcBef>
            </a:pPr>
            <a:r>
              <a:rPr dirty="0" sz="1000" b="1">
                <a:solidFill>
                  <a:srgbClr val="2A3441"/>
                </a:solidFill>
                <a:latin typeface="Arial"/>
                <a:cs typeface="Arial"/>
              </a:rPr>
              <a:t>A</a:t>
            </a:r>
            <a:r>
              <a:rPr dirty="0" sz="1000" spc="-40" b="1">
                <a:solidFill>
                  <a:srgbClr val="2A3441"/>
                </a:solidFill>
                <a:latin typeface="Arial"/>
                <a:cs typeface="Arial"/>
              </a:rPr>
              <a:t> </a:t>
            </a:r>
            <a:r>
              <a:rPr dirty="0" sz="1150" b="1">
                <a:solidFill>
                  <a:srgbClr val="2A3441"/>
                </a:solidFill>
                <a:latin typeface="Arial"/>
                <a:cs typeface="Arial"/>
              </a:rPr>
              <a:t>mobile</a:t>
            </a:r>
            <a:r>
              <a:rPr dirty="0" sz="1150" spc="-55" b="1">
                <a:solidFill>
                  <a:srgbClr val="2A3441"/>
                </a:solidFill>
                <a:latin typeface="Arial"/>
                <a:cs typeface="Arial"/>
              </a:rPr>
              <a:t> </a:t>
            </a:r>
            <a:r>
              <a:rPr dirty="0" sz="1150" spc="-10" b="1">
                <a:solidFill>
                  <a:srgbClr val="2A3441"/>
                </a:solidFill>
                <a:latin typeface="Arial"/>
                <a:cs typeface="Arial"/>
              </a:rPr>
              <a:t>application</a:t>
            </a:r>
            <a:r>
              <a:rPr dirty="0" sz="1150" spc="-80" b="1">
                <a:solidFill>
                  <a:srgbClr val="2A3441"/>
                </a:solidFill>
                <a:latin typeface="Arial"/>
                <a:cs typeface="Arial"/>
              </a:rPr>
              <a:t> </a:t>
            </a:r>
            <a:r>
              <a:rPr dirty="0" sz="1150" b="1">
                <a:solidFill>
                  <a:srgbClr val="2A3441"/>
                </a:solidFill>
                <a:latin typeface="Arial"/>
                <a:cs typeface="Arial"/>
              </a:rPr>
              <a:t>with</a:t>
            </a:r>
            <a:r>
              <a:rPr dirty="0" sz="1150" spc="-75" b="1">
                <a:solidFill>
                  <a:srgbClr val="2A3441"/>
                </a:solidFill>
                <a:latin typeface="Arial"/>
                <a:cs typeface="Arial"/>
              </a:rPr>
              <a:t> </a:t>
            </a:r>
            <a:r>
              <a:rPr dirty="0" sz="1150" spc="-10" b="1">
                <a:solidFill>
                  <a:srgbClr val="2A3441"/>
                </a:solidFill>
                <a:latin typeface="Arial"/>
                <a:cs typeface="Arial"/>
              </a:rPr>
              <a:t>multilingual</a:t>
            </a:r>
            <a:r>
              <a:rPr dirty="0" sz="1150" spc="-60" b="1">
                <a:solidFill>
                  <a:srgbClr val="2A3441"/>
                </a:solidFill>
                <a:latin typeface="Arial"/>
                <a:cs typeface="Arial"/>
              </a:rPr>
              <a:t> </a:t>
            </a:r>
            <a:r>
              <a:rPr dirty="0" sz="1150" b="1">
                <a:solidFill>
                  <a:srgbClr val="2A3441"/>
                </a:solidFill>
                <a:latin typeface="Arial"/>
                <a:cs typeface="Arial"/>
              </a:rPr>
              <a:t>support</a:t>
            </a:r>
            <a:r>
              <a:rPr dirty="0" sz="1150" spc="-60" b="1">
                <a:solidFill>
                  <a:srgbClr val="2A3441"/>
                </a:solidFill>
                <a:latin typeface="Arial"/>
                <a:cs typeface="Arial"/>
              </a:rPr>
              <a:t> </a:t>
            </a:r>
            <a:r>
              <a:rPr dirty="0" sz="1150" b="1">
                <a:solidFill>
                  <a:srgbClr val="2A3441"/>
                </a:solidFill>
                <a:latin typeface="Arial"/>
                <a:cs typeface="Arial"/>
              </a:rPr>
              <a:t>can</a:t>
            </a:r>
            <a:r>
              <a:rPr dirty="0" sz="1150" spc="-30" b="1">
                <a:solidFill>
                  <a:srgbClr val="2A3441"/>
                </a:solidFill>
                <a:latin typeface="Arial"/>
                <a:cs typeface="Arial"/>
              </a:rPr>
              <a:t> </a:t>
            </a:r>
            <a:r>
              <a:rPr dirty="0" sz="1150" b="1">
                <a:solidFill>
                  <a:srgbClr val="2A3441"/>
                </a:solidFill>
                <a:latin typeface="Arial"/>
                <a:cs typeface="Arial"/>
              </a:rPr>
              <a:t>make</a:t>
            </a:r>
            <a:r>
              <a:rPr dirty="0" sz="1150" spc="-25" b="1">
                <a:solidFill>
                  <a:srgbClr val="2A3441"/>
                </a:solidFill>
                <a:latin typeface="Arial"/>
                <a:cs typeface="Arial"/>
              </a:rPr>
              <a:t> </a:t>
            </a:r>
            <a:r>
              <a:rPr dirty="0" sz="1150" b="1">
                <a:solidFill>
                  <a:srgbClr val="2A3441"/>
                </a:solidFill>
                <a:latin typeface="Arial"/>
                <a:cs typeface="Arial"/>
              </a:rPr>
              <a:t>the</a:t>
            </a:r>
            <a:r>
              <a:rPr dirty="0" sz="1150" spc="-60" b="1">
                <a:solidFill>
                  <a:srgbClr val="2A3441"/>
                </a:solidFill>
                <a:latin typeface="Arial"/>
                <a:cs typeface="Arial"/>
              </a:rPr>
              <a:t> </a:t>
            </a:r>
            <a:r>
              <a:rPr dirty="0" sz="1150" b="1">
                <a:solidFill>
                  <a:srgbClr val="2A3441"/>
                </a:solidFill>
                <a:latin typeface="Arial"/>
                <a:cs typeface="Arial"/>
              </a:rPr>
              <a:t>system</a:t>
            </a:r>
            <a:r>
              <a:rPr dirty="0" sz="1150" spc="55" b="1">
                <a:solidFill>
                  <a:srgbClr val="2A3441"/>
                </a:solidFill>
                <a:latin typeface="Arial"/>
                <a:cs typeface="Arial"/>
              </a:rPr>
              <a:t> </a:t>
            </a:r>
            <a:r>
              <a:rPr dirty="0" sz="1150" spc="-10" b="1">
                <a:solidFill>
                  <a:srgbClr val="2A3441"/>
                </a:solidFill>
                <a:latin typeface="Arial"/>
                <a:cs typeface="Arial"/>
              </a:rPr>
              <a:t>accessible</a:t>
            </a:r>
            <a:r>
              <a:rPr dirty="0" sz="1150" spc="-30" b="1">
                <a:solidFill>
                  <a:srgbClr val="2A3441"/>
                </a:solidFill>
                <a:latin typeface="Arial"/>
                <a:cs typeface="Arial"/>
              </a:rPr>
              <a:t> </a:t>
            </a:r>
            <a:r>
              <a:rPr dirty="0" sz="1150" b="1">
                <a:solidFill>
                  <a:srgbClr val="2A3441"/>
                </a:solidFill>
                <a:latin typeface="Arial"/>
                <a:cs typeface="Arial"/>
              </a:rPr>
              <a:t>to</a:t>
            </a:r>
            <a:r>
              <a:rPr dirty="0" sz="1150" spc="-40" b="1">
                <a:solidFill>
                  <a:srgbClr val="2A3441"/>
                </a:solidFill>
                <a:latin typeface="Arial"/>
                <a:cs typeface="Arial"/>
              </a:rPr>
              <a:t> </a:t>
            </a:r>
            <a:r>
              <a:rPr dirty="0" sz="1150" b="1">
                <a:solidFill>
                  <a:srgbClr val="2A3441"/>
                </a:solidFill>
                <a:latin typeface="Arial"/>
                <a:cs typeface="Arial"/>
              </a:rPr>
              <a:t>rural</a:t>
            </a:r>
            <a:r>
              <a:rPr dirty="0" sz="1150" spc="-15" b="1">
                <a:solidFill>
                  <a:srgbClr val="2A3441"/>
                </a:solidFill>
                <a:latin typeface="Arial"/>
                <a:cs typeface="Arial"/>
              </a:rPr>
              <a:t> </a:t>
            </a:r>
            <a:r>
              <a:rPr dirty="0" sz="1150" b="1">
                <a:solidFill>
                  <a:srgbClr val="2A3441"/>
                </a:solidFill>
                <a:latin typeface="Arial"/>
                <a:cs typeface="Arial"/>
              </a:rPr>
              <a:t>and</a:t>
            </a:r>
            <a:r>
              <a:rPr dirty="0" sz="1150" spc="-50" b="1">
                <a:solidFill>
                  <a:srgbClr val="2A3441"/>
                </a:solidFill>
                <a:latin typeface="Arial"/>
                <a:cs typeface="Arial"/>
              </a:rPr>
              <a:t> </a:t>
            </a:r>
            <a:r>
              <a:rPr dirty="0" sz="1150" b="1">
                <a:solidFill>
                  <a:srgbClr val="2A3441"/>
                </a:solidFill>
                <a:latin typeface="Arial"/>
                <a:cs typeface="Arial"/>
              </a:rPr>
              <a:t>urban</a:t>
            </a:r>
            <a:r>
              <a:rPr dirty="0" sz="1150" spc="-45" b="1">
                <a:solidFill>
                  <a:srgbClr val="2A3441"/>
                </a:solidFill>
                <a:latin typeface="Arial"/>
                <a:cs typeface="Arial"/>
              </a:rPr>
              <a:t> </a:t>
            </a:r>
            <a:r>
              <a:rPr dirty="0" sz="1150" b="1">
                <a:solidFill>
                  <a:srgbClr val="2A3441"/>
                </a:solidFill>
                <a:latin typeface="Arial"/>
                <a:cs typeface="Arial"/>
              </a:rPr>
              <a:t>users</a:t>
            </a:r>
            <a:r>
              <a:rPr dirty="0" sz="1150" spc="-35" b="1">
                <a:solidFill>
                  <a:srgbClr val="2A3441"/>
                </a:solidFill>
                <a:latin typeface="Arial"/>
                <a:cs typeface="Arial"/>
              </a:rPr>
              <a:t> </a:t>
            </a:r>
            <a:r>
              <a:rPr dirty="0" sz="1150" b="1">
                <a:solidFill>
                  <a:srgbClr val="2A3441"/>
                </a:solidFill>
                <a:latin typeface="Arial"/>
                <a:cs typeface="Arial"/>
              </a:rPr>
              <a:t>across</a:t>
            </a:r>
            <a:r>
              <a:rPr dirty="0" sz="1150" spc="-25" b="1">
                <a:solidFill>
                  <a:srgbClr val="2A3441"/>
                </a:solidFill>
                <a:latin typeface="Arial"/>
                <a:cs typeface="Arial"/>
              </a:rPr>
              <a:t> </a:t>
            </a:r>
            <a:r>
              <a:rPr dirty="0" sz="1150" spc="-10" b="1">
                <a:solidFill>
                  <a:srgbClr val="2A3441"/>
                </a:solidFill>
                <a:latin typeface="Arial"/>
                <a:cs typeface="Arial"/>
              </a:rPr>
              <a:t>India.</a:t>
            </a:r>
            <a:endParaRPr sz="1150">
              <a:latin typeface="Arial"/>
              <a:cs typeface="Arial"/>
            </a:endParaRPr>
          </a:p>
          <a:p>
            <a:pPr marL="63500">
              <a:lnSpc>
                <a:spcPct val="100000"/>
              </a:lnSpc>
              <a:spcBef>
                <a:spcPts val="1090"/>
              </a:spcBef>
            </a:pPr>
            <a:r>
              <a:rPr dirty="0" sz="1150" spc="-10" b="1">
                <a:solidFill>
                  <a:srgbClr val="2A3441"/>
                </a:solidFill>
                <a:latin typeface="Arial"/>
                <a:cs typeface="Arial"/>
              </a:rPr>
              <a:t>Citizens</a:t>
            </a:r>
            <a:r>
              <a:rPr dirty="0" sz="1150" spc="-55" b="1">
                <a:solidFill>
                  <a:srgbClr val="2A3441"/>
                </a:solidFill>
                <a:latin typeface="Arial"/>
                <a:cs typeface="Arial"/>
              </a:rPr>
              <a:t> </a:t>
            </a:r>
            <a:r>
              <a:rPr dirty="0" sz="1150" b="1">
                <a:solidFill>
                  <a:srgbClr val="2A3441"/>
                </a:solidFill>
                <a:latin typeface="Arial"/>
                <a:cs typeface="Arial"/>
              </a:rPr>
              <a:t>can</a:t>
            </a:r>
            <a:r>
              <a:rPr dirty="0" sz="1150" spc="-25" b="1">
                <a:solidFill>
                  <a:srgbClr val="2A3441"/>
                </a:solidFill>
                <a:latin typeface="Arial"/>
                <a:cs typeface="Arial"/>
              </a:rPr>
              <a:t> </a:t>
            </a:r>
            <a:r>
              <a:rPr dirty="0" sz="1150" b="1">
                <a:solidFill>
                  <a:srgbClr val="2A3441"/>
                </a:solidFill>
                <a:latin typeface="Arial"/>
                <a:cs typeface="Arial"/>
              </a:rPr>
              <a:t>check</a:t>
            </a:r>
            <a:r>
              <a:rPr dirty="0" sz="1150" spc="-30" b="1">
                <a:solidFill>
                  <a:srgbClr val="2A3441"/>
                </a:solidFill>
                <a:latin typeface="Arial"/>
                <a:cs typeface="Arial"/>
              </a:rPr>
              <a:t> </a:t>
            </a:r>
            <a:r>
              <a:rPr dirty="0" sz="1150" b="1">
                <a:solidFill>
                  <a:srgbClr val="2A3441"/>
                </a:solidFill>
                <a:latin typeface="Arial"/>
                <a:cs typeface="Arial"/>
              </a:rPr>
              <a:t>their</a:t>
            </a:r>
            <a:r>
              <a:rPr dirty="0" sz="1150" spc="-20" b="1">
                <a:solidFill>
                  <a:srgbClr val="2A3441"/>
                </a:solidFill>
                <a:latin typeface="Arial"/>
                <a:cs typeface="Arial"/>
              </a:rPr>
              <a:t> eligibility,</a:t>
            </a:r>
            <a:r>
              <a:rPr dirty="0" sz="1150" spc="-10" b="1">
                <a:solidFill>
                  <a:srgbClr val="2A3441"/>
                </a:solidFill>
                <a:latin typeface="Arial"/>
                <a:cs typeface="Arial"/>
              </a:rPr>
              <a:t> </a:t>
            </a:r>
            <a:r>
              <a:rPr dirty="0" sz="1150" b="1">
                <a:solidFill>
                  <a:srgbClr val="2A3441"/>
                </a:solidFill>
                <a:latin typeface="Arial"/>
                <a:cs typeface="Arial"/>
              </a:rPr>
              <a:t>submit</a:t>
            </a:r>
            <a:r>
              <a:rPr dirty="0" sz="1150" spc="-35" b="1">
                <a:solidFill>
                  <a:srgbClr val="2A3441"/>
                </a:solidFill>
                <a:latin typeface="Arial"/>
                <a:cs typeface="Arial"/>
              </a:rPr>
              <a:t> </a:t>
            </a:r>
            <a:r>
              <a:rPr dirty="0" sz="1150" spc="-10" b="1">
                <a:solidFill>
                  <a:srgbClr val="2A3441"/>
                </a:solidFill>
                <a:latin typeface="Arial"/>
                <a:cs typeface="Arial"/>
              </a:rPr>
              <a:t>applications,</a:t>
            </a:r>
            <a:r>
              <a:rPr dirty="0" sz="1150" spc="-60" b="1">
                <a:solidFill>
                  <a:srgbClr val="2A3441"/>
                </a:solidFill>
                <a:latin typeface="Arial"/>
                <a:cs typeface="Arial"/>
              </a:rPr>
              <a:t> </a:t>
            </a:r>
            <a:r>
              <a:rPr dirty="0" sz="1150" b="1">
                <a:solidFill>
                  <a:srgbClr val="2A3441"/>
                </a:solidFill>
                <a:latin typeface="Arial"/>
                <a:cs typeface="Arial"/>
              </a:rPr>
              <a:t>and</a:t>
            </a:r>
            <a:r>
              <a:rPr dirty="0" sz="1150" spc="-45" b="1">
                <a:solidFill>
                  <a:srgbClr val="2A3441"/>
                </a:solidFill>
                <a:latin typeface="Arial"/>
                <a:cs typeface="Arial"/>
              </a:rPr>
              <a:t> </a:t>
            </a:r>
            <a:r>
              <a:rPr dirty="0" sz="1150" b="1">
                <a:solidFill>
                  <a:srgbClr val="2A3441"/>
                </a:solidFill>
                <a:latin typeface="Arial"/>
                <a:cs typeface="Arial"/>
              </a:rPr>
              <a:t>track</a:t>
            </a:r>
            <a:r>
              <a:rPr dirty="0" sz="1150" spc="15" b="1">
                <a:solidFill>
                  <a:srgbClr val="2A3441"/>
                </a:solidFill>
                <a:latin typeface="Arial"/>
                <a:cs typeface="Arial"/>
              </a:rPr>
              <a:t> </a:t>
            </a:r>
            <a:r>
              <a:rPr dirty="0" sz="1150" spc="-10" b="1">
                <a:solidFill>
                  <a:srgbClr val="2A3441"/>
                </a:solidFill>
                <a:latin typeface="Arial"/>
                <a:cs typeface="Arial"/>
              </a:rPr>
              <a:t>application</a:t>
            </a:r>
            <a:r>
              <a:rPr dirty="0" sz="1150" spc="-60" b="1">
                <a:solidFill>
                  <a:srgbClr val="2A3441"/>
                </a:solidFill>
                <a:latin typeface="Arial"/>
                <a:cs typeface="Arial"/>
              </a:rPr>
              <a:t> </a:t>
            </a:r>
            <a:r>
              <a:rPr dirty="0" sz="1150" b="1">
                <a:solidFill>
                  <a:srgbClr val="2A3441"/>
                </a:solidFill>
                <a:latin typeface="Arial"/>
                <a:cs typeface="Arial"/>
              </a:rPr>
              <a:t>status</a:t>
            </a:r>
            <a:r>
              <a:rPr dirty="0" sz="1150" spc="-20" b="1">
                <a:solidFill>
                  <a:srgbClr val="2A3441"/>
                </a:solidFill>
                <a:latin typeface="Arial"/>
                <a:cs typeface="Arial"/>
              </a:rPr>
              <a:t> </a:t>
            </a:r>
            <a:r>
              <a:rPr dirty="0" sz="1150" b="1">
                <a:solidFill>
                  <a:srgbClr val="2A3441"/>
                </a:solidFill>
                <a:latin typeface="Arial"/>
                <a:cs typeface="Arial"/>
              </a:rPr>
              <a:t>in</a:t>
            </a:r>
            <a:r>
              <a:rPr dirty="0" sz="1150" spc="-45" b="1">
                <a:solidFill>
                  <a:srgbClr val="2A3441"/>
                </a:solidFill>
                <a:latin typeface="Arial"/>
                <a:cs typeface="Arial"/>
              </a:rPr>
              <a:t> </a:t>
            </a:r>
            <a:r>
              <a:rPr dirty="0" sz="1150" b="1">
                <a:solidFill>
                  <a:srgbClr val="2A3441"/>
                </a:solidFill>
                <a:latin typeface="Arial"/>
                <a:cs typeface="Arial"/>
              </a:rPr>
              <a:t>their</a:t>
            </a:r>
            <a:r>
              <a:rPr dirty="0" sz="1150" spc="-20" b="1">
                <a:solidFill>
                  <a:srgbClr val="2A3441"/>
                </a:solidFill>
                <a:latin typeface="Arial"/>
                <a:cs typeface="Arial"/>
              </a:rPr>
              <a:t> </a:t>
            </a:r>
            <a:r>
              <a:rPr dirty="0" sz="1150" b="1">
                <a:solidFill>
                  <a:srgbClr val="2A3441"/>
                </a:solidFill>
                <a:latin typeface="Arial"/>
                <a:cs typeface="Arial"/>
              </a:rPr>
              <a:t>preferred</a:t>
            </a:r>
            <a:r>
              <a:rPr dirty="0" sz="1150" spc="30" b="1">
                <a:solidFill>
                  <a:srgbClr val="2A3441"/>
                </a:solidFill>
                <a:latin typeface="Arial"/>
                <a:cs typeface="Arial"/>
              </a:rPr>
              <a:t> </a:t>
            </a:r>
            <a:r>
              <a:rPr dirty="0" sz="1150" spc="-10" b="1">
                <a:solidFill>
                  <a:srgbClr val="2A3441"/>
                </a:solidFill>
                <a:latin typeface="Arial"/>
                <a:cs typeface="Arial"/>
              </a:rPr>
              <a:t>language</a:t>
            </a:r>
            <a:r>
              <a:rPr dirty="0" sz="1500" spc="-10" b="1">
                <a:solidFill>
                  <a:srgbClr val="2A3441"/>
                </a:solidFill>
                <a:latin typeface="Times New Roman"/>
                <a:cs typeface="Times New Roman"/>
              </a:rPr>
              <a:t>.</a:t>
            </a:r>
            <a:endParaRPr sz="1500">
              <a:latin typeface="Times New Roman"/>
              <a:cs typeface="Times New Roman"/>
            </a:endParaRPr>
          </a:p>
          <a:p>
            <a:pPr marL="254635" indent="-191135">
              <a:lnSpc>
                <a:spcPct val="100000"/>
              </a:lnSpc>
              <a:spcBef>
                <a:spcPts val="1200"/>
              </a:spcBef>
              <a:buAutoNum type="arabicPeriod" startAt="4"/>
              <a:tabLst>
                <a:tab pos="254635" algn="l"/>
              </a:tabLst>
            </a:pPr>
            <a:r>
              <a:rPr dirty="0" sz="1500" b="1">
                <a:solidFill>
                  <a:srgbClr val="2A3441"/>
                </a:solidFill>
                <a:latin typeface="Arial"/>
                <a:cs typeface="Arial"/>
              </a:rPr>
              <a:t>Fraud</a:t>
            </a:r>
            <a:r>
              <a:rPr dirty="0" sz="1500" spc="30" b="1">
                <a:solidFill>
                  <a:srgbClr val="2A3441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2A3441"/>
                </a:solidFill>
                <a:latin typeface="Arial"/>
                <a:cs typeface="Arial"/>
              </a:rPr>
              <a:t>Detection</a:t>
            </a:r>
            <a:r>
              <a:rPr dirty="0" sz="1500" spc="-10" b="1">
                <a:solidFill>
                  <a:srgbClr val="2A3441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2A3441"/>
                </a:solidFill>
                <a:latin typeface="Arial"/>
                <a:cs typeface="Arial"/>
              </a:rPr>
              <a:t>and Beneficiary</a:t>
            </a:r>
            <a:r>
              <a:rPr dirty="0" sz="1500" spc="25" b="1">
                <a:solidFill>
                  <a:srgbClr val="2A3441"/>
                </a:solidFill>
                <a:latin typeface="Arial"/>
                <a:cs typeface="Arial"/>
              </a:rPr>
              <a:t> </a:t>
            </a:r>
            <a:r>
              <a:rPr dirty="0" sz="1500" spc="-10" b="1">
                <a:solidFill>
                  <a:srgbClr val="2A3441"/>
                </a:solidFill>
                <a:latin typeface="Arial"/>
                <a:cs typeface="Arial"/>
              </a:rPr>
              <a:t>Verification</a:t>
            </a:r>
            <a:endParaRPr sz="1500">
              <a:latin typeface="Arial"/>
              <a:cs typeface="Arial"/>
            </a:endParaRPr>
          </a:p>
          <a:p>
            <a:pPr marL="63500" marR="84455">
              <a:lnSpc>
                <a:spcPts val="2200"/>
              </a:lnSpc>
              <a:spcBef>
                <a:spcPts val="25"/>
              </a:spcBef>
            </a:pPr>
            <a:r>
              <a:rPr dirty="0" sz="1150" b="1">
                <a:solidFill>
                  <a:srgbClr val="2A3441"/>
                </a:solidFill>
                <a:latin typeface="Arial"/>
                <a:cs typeface="Arial"/>
              </a:rPr>
              <a:t>The</a:t>
            </a:r>
            <a:r>
              <a:rPr dirty="0" sz="1150" spc="-25" b="1">
                <a:solidFill>
                  <a:srgbClr val="2A3441"/>
                </a:solidFill>
                <a:latin typeface="Arial"/>
                <a:cs typeface="Arial"/>
              </a:rPr>
              <a:t> </a:t>
            </a:r>
            <a:r>
              <a:rPr dirty="0" sz="1150" spc="20" b="1">
                <a:solidFill>
                  <a:srgbClr val="2A3441"/>
                </a:solidFill>
                <a:latin typeface="Arial"/>
                <a:cs typeface="Arial"/>
              </a:rPr>
              <a:t>s</a:t>
            </a:r>
            <a:r>
              <a:rPr dirty="0" sz="1150" spc="-15" b="1">
                <a:solidFill>
                  <a:srgbClr val="2A3441"/>
                </a:solidFill>
                <a:latin typeface="Arial"/>
                <a:cs typeface="Arial"/>
              </a:rPr>
              <a:t>y</a:t>
            </a:r>
            <a:r>
              <a:rPr dirty="0" sz="1150" spc="35" b="1">
                <a:solidFill>
                  <a:srgbClr val="2A3441"/>
                </a:solidFill>
                <a:latin typeface="Arial"/>
                <a:cs typeface="Arial"/>
              </a:rPr>
              <a:t>s</a:t>
            </a:r>
            <a:r>
              <a:rPr dirty="0" sz="1150" spc="25" b="1">
                <a:solidFill>
                  <a:srgbClr val="2A3441"/>
                </a:solidFill>
                <a:latin typeface="Arial"/>
                <a:cs typeface="Arial"/>
              </a:rPr>
              <a:t>t</a:t>
            </a:r>
            <a:r>
              <a:rPr dirty="0" sz="1150" spc="20" b="1">
                <a:solidFill>
                  <a:srgbClr val="2A3441"/>
                </a:solidFill>
                <a:latin typeface="Arial"/>
                <a:cs typeface="Arial"/>
              </a:rPr>
              <a:t>e</a:t>
            </a:r>
            <a:r>
              <a:rPr dirty="0" sz="1150" spc="-725" b="1">
                <a:solidFill>
                  <a:srgbClr val="2A3441"/>
                </a:solidFill>
                <a:latin typeface="Arial"/>
                <a:cs typeface="Arial"/>
              </a:rPr>
              <a:t>m</a:t>
            </a:r>
            <a:r>
              <a:rPr dirty="0" baseline="14814" sz="2250" spc="30">
                <a:solidFill>
                  <a:srgbClr val="2A3441"/>
                </a:solidFill>
                <a:latin typeface="Arial MT"/>
                <a:cs typeface="Arial MT"/>
              </a:rPr>
              <a:t>·</a:t>
            </a:r>
            <a:r>
              <a:rPr dirty="0" baseline="14814" sz="2250" spc="292">
                <a:solidFill>
                  <a:srgbClr val="2A3441"/>
                </a:solidFill>
                <a:latin typeface="Arial MT"/>
                <a:cs typeface="Arial MT"/>
              </a:rPr>
              <a:t> </a:t>
            </a:r>
            <a:r>
              <a:rPr dirty="0" sz="1150" b="1">
                <a:solidFill>
                  <a:srgbClr val="2A3441"/>
                </a:solidFill>
                <a:latin typeface="Arial"/>
                <a:cs typeface="Arial"/>
              </a:rPr>
              <a:t>can</a:t>
            </a:r>
            <a:r>
              <a:rPr dirty="0" sz="1150" spc="-15" b="1">
                <a:solidFill>
                  <a:srgbClr val="2A3441"/>
                </a:solidFill>
                <a:latin typeface="Arial"/>
                <a:cs typeface="Arial"/>
              </a:rPr>
              <a:t> </a:t>
            </a:r>
            <a:r>
              <a:rPr dirty="0" sz="1150" spc="-10" b="1">
                <a:solidFill>
                  <a:srgbClr val="2A3441"/>
                </a:solidFill>
                <a:latin typeface="Arial"/>
                <a:cs typeface="Arial"/>
              </a:rPr>
              <a:t>incorporate</a:t>
            </a:r>
            <a:r>
              <a:rPr dirty="0" sz="1150" spc="-60" b="1">
                <a:solidFill>
                  <a:srgbClr val="2A3441"/>
                </a:solidFill>
                <a:latin typeface="Arial"/>
                <a:cs typeface="Arial"/>
              </a:rPr>
              <a:t> </a:t>
            </a:r>
            <a:r>
              <a:rPr dirty="0" sz="1150" b="1">
                <a:solidFill>
                  <a:srgbClr val="2A3441"/>
                </a:solidFill>
                <a:latin typeface="Arial"/>
                <a:cs typeface="Arial"/>
              </a:rPr>
              <a:t>fraud</a:t>
            </a:r>
            <a:r>
              <a:rPr dirty="0" sz="1150" spc="-25" b="1">
                <a:solidFill>
                  <a:srgbClr val="2A3441"/>
                </a:solidFill>
                <a:latin typeface="Arial"/>
                <a:cs typeface="Arial"/>
              </a:rPr>
              <a:t> </a:t>
            </a:r>
            <a:r>
              <a:rPr dirty="0" sz="1150" spc="-10" b="1">
                <a:solidFill>
                  <a:srgbClr val="2A3441"/>
                </a:solidFill>
                <a:latin typeface="Arial"/>
                <a:cs typeface="Arial"/>
              </a:rPr>
              <a:t>detection</a:t>
            </a:r>
            <a:r>
              <a:rPr dirty="0" sz="1150" spc="-65" b="1">
                <a:solidFill>
                  <a:srgbClr val="2A3441"/>
                </a:solidFill>
                <a:latin typeface="Arial"/>
                <a:cs typeface="Arial"/>
              </a:rPr>
              <a:t> </a:t>
            </a:r>
            <a:r>
              <a:rPr dirty="0" sz="1150" spc="-10" b="1">
                <a:solidFill>
                  <a:srgbClr val="2A3441"/>
                </a:solidFill>
                <a:latin typeface="Arial"/>
                <a:cs typeface="Arial"/>
              </a:rPr>
              <a:t>mechanisms </a:t>
            </a:r>
            <a:r>
              <a:rPr dirty="0" sz="1150" b="1">
                <a:solidFill>
                  <a:srgbClr val="2A3441"/>
                </a:solidFill>
                <a:latin typeface="Arial"/>
                <a:cs typeface="Arial"/>
              </a:rPr>
              <a:t>to</a:t>
            </a:r>
            <a:r>
              <a:rPr dirty="0" sz="1150" spc="-35" b="1">
                <a:solidFill>
                  <a:srgbClr val="2A3441"/>
                </a:solidFill>
                <a:latin typeface="Arial"/>
                <a:cs typeface="Arial"/>
              </a:rPr>
              <a:t> </a:t>
            </a:r>
            <a:r>
              <a:rPr dirty="0" sz="1150" b="1">
                <a:solidFill>
                  <a:srgbClr val="2A3441"/>
                </a:solidFill>
                <a:latin typeface="Arial"/>
                <a:cs typeface="Arial"/>
              </a:rPr>
              <a:t>identify</a:t>
            </a:r>
            <a:r>
              <a:rPr dirty="0" sz="1150" spc="-50" b="1">
                <a:solidFill>
                  <a:srgbClr val="2A3441"/>
                </a:solidFill>
                <a:latin typeface="Arial"/>
                <a:cs typeface="Arial"/>
              </a:rPr>
              <a:t> </a:t>
            </a:r>
            <a:r>
              <a:rPr dirty="0" sz="1150" spc="-10" b="1">
                <a:solidFill>
                  <a:srgbClr val="2A3441"/>
                </a:solidFill>
                <a:latin typeface="Arial"/>
                <a:cs typeface="Arial"/>
              </a:rPr>
              <a:t>duplicate</a:t>
            </a:r>
            <a:r>
              <a:rPr dirty="0" sz="1150" spc="-65" b="1">
                <a:solidFill>
                  <a:srgbClr val="2A3441"/>
                </a:solidFill>
                <a:latin typeface="Arial"/>
                <a:cs typeface="Arial"/>
              </a:rPr>
              <a:t> </a:t>
            </a:r>
            <a:r>
              <a:rPr dirty="0" sz="1150" b="1">
                <a:solidFill>
                  <a:srgbClr val="2A3441"/>
                </a:solidFill>
                <a:latin typeface="Arial"/>
                <a:cs typeface="Arial"/>
              </a:rPr>
              <a:t>or</a:t>
            </a:r>
            <a:r>
              <a:rPr dirty="0" sz="1150" spc="-40" b="1">
                <a:solidFill>
                  <a:srgbClr val="2A3441"/>
                </a:solidFill>
                <a:latin typeface="Arial"/>
                <a:cs typeface="Arial"/>
              </a:rPr>
              <a:t> </a:t>
            </a:r>
            <a:r>
              <a:rPr dirty="0" sz="1150" spc="-10" b="1">
                <a:solidFill>
                  <a:srgbClr val="2A3441"/>
                </a:solidFill>
                <a:latin typeface="Arial"/>
                <a:cs typeface="Arial"/>
              </a:rPr>
              <a:t>ineligible</a:t>
            </a:r>
            <a:r>
              <a:rPr dirty="0" sz="1150" spc="-90" b="1">
                <a:solidFill>
                  <a:srgbClr val="2A3441"/>
                </a:solidFill>
                <a:latin typeface="Arial"/>
                <a:cs typeface="Arial"/>
              </a:rPr>
              <a:t> </a:t>
            </a:r>
            <a:r>
              <a:rPr dirty="0" sz="1150" spc="-10" b="1">
                <a:solidFill>
                  <a:srgbClr val="2A3441"/>
                </a:solidFill>
                <a:latin typeface="Arial"/>
                <a:cs typeface="Arial"/>
              </a:rPr>
              <a:t>beneficiaries, ensuring</a:t>
            </a:r>
            <a:r>
              <a:rPr dirty="0" sz="1150" spc="-65" b="1">
                <a:solidFill>
                  <a:srgbClr val="2A3441"/>
                </a:solidFill>
                <a:latin typeface="Arial"/>
                <a:cs typeface="Arial"/>
              </a:rPr>
              <a:t> </a:t>
            </a:r>
            <a:r>
              <a:rPr dirty="0" sz="1150" spc="-20" b="1">
                <a:solidFill>
                  <a:srgbClr val="2A3441"/>
                </a:solidFill>
                <a:latin typeface="Arial"/>
                <a:cs typeface="Arial"/>
              </a:rPr>
              <a:t>that </a:t>
            </a:r>
            <a:r>
              <a:rPr dirty="0" sz="1150" b="1">
                <a:solidFill>
                  <a:srgbClr val="2A3441"/>
                </a:solidFill>
                <a:latin typeface="Arial"/>
                <a:cs typeface="Arial"/>
              </a:rPr>
              <a:t>welfare</a:t>
            </a:r>
            <a:r>
              <a:rPr dirty="0" sz="1150" spc="-45" b="1">
                <a:solidFill>
                  <a:srgbClr val="2A3441"/>
                </a:solidFill>
                <a:latin typeface="Arial"/>
                <a:cs typeface="Arial"/>
              </a:rPr>
              <a:t> </a:t>
            </a:r>
            <a:r>
              <a:rPr dirty="0" sz="1150" spc="-10" b="1">
                <a:solidFill>
                  <a:srgbClr val="2A3441"/>
                </a:solidFill>
                <a:latin typeface="Arial"/>
                <a:cs typeface="Arial"/>
              </a:rPr>
              <a:t>benefits</a:t>
            </a:r>
            <a:r>
              <a:rPr dirty="0" sz="1150" spc="-60" b="1">
                <a:solidFill>
                  <a:srgbClr val="2A3441"/>
                </a:solidFill>
                <a:latin typeface="Arial"/>
                <a:cs typeface="Arial"/>
              </a:rPr>
              <a:t> </a:t>
            </a:r>
            <a:r>
              <a:rPr dirty="0" sz="1150" b="1">
                <a:solidFill>
                  <a:srgbClr val="2A3441"/>
                </a:solidFill>
                <a:latin typeface="Arial"/>
                <a:cs typeface="Arial"/>
              </a:rPr>
              <a:t>reach</a:t>
            </a:r>
            <a:r>
              <a:rPr dirty="0" sz="1150" spc="-5" b="1">
                <a:solidFill>
                  <a:srgbClr val="2A3441"/>
                </a:solidFill>
                <a:latin typeface="Arial"/>
                <a:cs typeface="Arial"/>
              </a:rPr>
              <a:t> </a:t>
            </a:r>
            <a:r>
              <a:rPr dirty="0" sz="1150" b="1">
                <a:solidFill>
                  <a:srgbClr val="2A3441"/>
                </a:solidFill>
                <a:latin typeface="Arial"/>
                <a:cs typeface="Arial"/>
              </a:rPr>
              <a:t>only</a:t>
            </a:r>
            <a:r>
              <a:rPr dirty="0" sz="1150" spc="-75" b="1">
                <a:solidFill>
                  <a:srgbClr val="2A3441"/>
                </a:solidFill>
                <a:latin typeface="Arial"/>
                <a:cs typeface="Arial"/>
              </a:rPr>
              <a:t> </a:t>
            </a:r>
            <a:r>
              <a:rPr dirty="0" sz="1150" spc="-10" b="1">
                <a:solidFill>
                  <a:srgbClr val="2A3441"/>
                </a:solidFill>
                <a:latin typeface="Arial"/>
                <a:cs typeface="Arial"/>
              </a:rPr>
              <a:t>eligible</a:t>
            </a:r>
            <a:r>
              <a:rPr dirty="0" sz="1150" spc="-70" b="1">
                <a:solidFill>
                  <a:srgbClr val="2A3441"/>
                </a:solidFill>
                <a:latin typeface="Arial"/>
                <a:cs typeface="Arial"/>
              </a:rPr>
              <a:t> </a:t>
            </a:r>
            <a:r>
              <a:rPr dirty="0" sz="1150" b="1">
                <a:solidFill>
                  <a:srgbClr val="2A3441"/>
                </a:solidFill>
                <a:latin typeface="Arial"/>
                <a:cs typeface="Arial"/>
              </a:rPr>
              <a:t>citizens</a:t>
            </a:r>
            <a:r>
              <a:rPr dirty="0" sz="1150" spc="-45" b="1">
                <a:solidFill>
                  <a:srgbClr val="2A3441"/>
                </a:solidFill>
                <a:latin typeface="Arial"/>
                <a:cs typeface="Arial"/>
              </a:rPr>
              <a:t> </a:t>
            </a:r>
            <a:r>
              <a:rPr dirty="0" sz="1150" b="1">
                <a:solidFill>
                  <a:srgbClr val="2A3441"/>
                </a:solidFill>
                <a:latin typeface="Arial"/>
                <a:cs typeface="Arial"/>
              </a:rPr>
              <a:t>and</a:t>
            </a:r>
            <a:r>
              <a:rPr dirty="0" sz="1150" spc="-60" b="1">
                <a:solidFill>
                  <a:srgbClr val="2A3441"/>
                </a:solidFill>
                <a:latin typeface="Arial"/>
                <a:cs typeface="Arial"/>
              </a:rPr>
              <a:t> </a:t>
            </a:r>
            <a:r>
              <a:rPr dirty="0" sz="1150" b="1">
                <a:solidFill>
                  <a:srgbClr val="2A3441"/>
                </a:solidFill>
                <a:latin typeface="Arial"/>
                <a:cs typeface="Arial"/>
              </a:rPr>
              <a:t>improving</a:t>
            </a:r>
            <a:r>
              <a:rPr dirty="0" sz="1150" spc="-15" b="1">
                <a:solidFill>
                  <a:srgbClr val="2A3441"/>
                </a:solidFill>
                <a:latin typeface="Arial"/>
                <a:cs typeface="Arial"/>
              </a:rPr>
              <a:t> </a:t>
            </a:r>
            <a:r>
              <a:rPr dirty="0" sz="1150" spc="-10" b="1">
                <a:solidFill>
                  <a:srgbClr val="2A3441"/>
                </a:solidFill>
                <a:latin typeface="Arial"/>
                <a:cs typeface="Arial"/>
              </a:rPr>
              <a:t>transparency</a:t>
            </a:r>
            <a:r>
              <a:rPr dirty="0" sz="1150" spc="-35" b="1">
                <a:solidFill>
                  <a:srgbClr val="2A3441"/>
                </a:solidFill>
                <a:latin typeface="Arial"/>
                <a:cs typeface="Arial"/>
              </a:rPr>
              <a:t> </a:t>
            </a:r>
            <a:r>
              <a:rPr dirty="0" sz="1150" b="1">
                <a:solidFill>
                  <a:srgbClr val="2A3441"/>
                </a:solidFill>
                <a:latin typeface="Arial"/>
                <a:cs typeface="Arial"/>
              </a:rPr>
              <a:t>in</a:t>
            </a:r>
            <a:r>
              <a:rPr dirty="0" sz="1150" spc="-40" b="1">
                <a:solidFill>
                  <a:srgbClr val="2A3441"/>
                </a:solidFill>
                <a:latin typeface="Arial"/>
                <a:cs typeface="Arial"/>
              </a:rPr>
              <a:t> </a:t>
            </a:r>
            <a:r>
              <a:rPr dirty="0" sz="1150" b="1">
                <a:solidFill>
                  <a:srgbClr val="2A3441"/>
                </a:solidFill>
                <a:latin typeface="Arial"/>
                <a:cs typeface="Arial"/>
              </a:rPr>
              <a:t>scheme</a:t>
            </a:r>
            <a:r>
              <a:rPr dirty="0" sz="1150" spc="-20" b="1">
                <a:solidFill>
                  <a:srgbClr val="2A3441"/>
                </a:solidFill>
                <a:latin typeface="Arial"/>
                <a:cs typeface="Arial"/>
              </a:rPr>
              <a:t> </a:t>
            </a:r>
            <a:r>
              <a:rPr dirty="0" sz="1150" spc="-10" b="1">
                <a:solidFill>
                  <a:srgbClr val="2A3441"/>
                </a:solidFill>
                <a:latin typeface="Arial"/>
                <a:cs typeface="Arial"/>
              </a:rPr>
              <a:t>implementation.</a:t>
            </a:r>
            <a:endParaRPr sz="11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53911" y="1534141"/>
            <a:ext cx="279590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b="0">
                <a:latin typeface="Calibri"/>
                <a:cs typeface="Calibri"/>
              </a:rPr>
              <a:t>SCREEN</a:t>
            </a:r>
            <a:r>
              <a:rPr dirty="0" sz="3600" spc="-65" b="0">
                <a:latin typeface="Calibri"/>
                <a:cs typeface="Calibri"/>
              </a:rPr>
              <a:t> </a:t>
            </a:r>
            <a:r>
              <a:rPr dirty="0" sz="3600" spc="-20" b="0">
                <a:latin typeface="Calibri"/>
                <a:cs typeface="Calibri"/>
              </a:rPr>
              <a:t>SHOTS</a:t>
            </a:r>
            <a:endParaRPr sz="36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" y="2139695"/>
            <a:ext cx="9525000" cy="478383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20" y="2369820"/>
            <a:ext cx="1306195" cy="0"/>
          </a:xfrm>
          <a:custGeom>
            <a:avLst/>
            <a:gdLst/>
            <a:ahLst/>
            <a:cxnLst/>
            <a:rect l="l" t="t" r="r" b="b"/>
            <a:pathLst>
              <a:path w="1306195" h="0">
                <a:moveTo>
                  <a:pt x="0" y="0"/>
                </a:moveTo>
                <a:lnTo>
                  <a:pt x="1306067" y="0"/>
                </a:lnTo>
              </a:path>
            </a:pathLst>
          </a:custGeom>
          <a:ln w="13716">
            <a:solidFill>
              <a:srgbClr val="2856A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24571" y="2250948"/>
            <a:ext cx="96520" cy="0"/>
          </a:xfrm>
          <a:custGeom>
            <a:avLst/>
            <a:gdLst/>
            <a:ahLst/>
            <a:cxnLst/>
            <a:rect l="l" t="t" r="r" b="b"/>
            <a:pathLst>
              <a:path w="96520" h="0">
                <a:moveTo>
                  <a:pt x="0" y="0"/>
                </a:moveTo>
                <a:lnTo>
                  <a:pt x="96012" y="0"/>
                </a:lnTo>
              </a:path>
            </a:pathLst>
          </a:custGeom>
          <a:ln w="13716">
            <a:solidFill>
              <a:srgbClr val="44444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624571" y="2174748"/>
            <a:ext cx="96520" cy="0"/>
          </a:xfrm>
          <a:custGeom>
            <a:avLst/>
            <a:gdLst/>
            <a:ahLst/>
            <a:cxnLst/>
            <a:rect l="l" t="t" r="r" b="b"/>
            <a:pathLst>
              <a:path w="96520" h="0">
                <a:moveTo>
                  <a:pt x="0" y="0"/>
                </a:moveTo>
                <a:lnTo>
                  <a:pt x="96012" y="0"/>
                </a:lnTo>
              </a:path>
            </a:pathLst>
          </a:custGeom>
          <a:ln w="13716">
            <a:solidFill>
              <a:srgbClr val="44444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9043416" y="1563624"/>
            <a:ext cx="104139" cy="0"/>
          </a:xfrm>
          <a:custGeom>
            <a:avLst/>
            <a:gdLst/>
            <a:ahLst/>
            <a:cxnLst/>
            <a:rect l="l" t="t" r="r" b="b"/>
            <a:pathLst>
              <a:path w="104140" h="0">
                <a:moveTo>
                  <a:pt x="0" y="0"/>
                </a:moveTo>
                <a:lnTo>
                  <a:pt x="103632" y="0"/>
                </a:lnTo>
              </a:path>
            </a:pathLst>
          </a:custGeom>
          <a:ln w="13716">
            <a:solidFill>
              <a:srgbClr val="60606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9043416" y="1473708"/>
            <a:ext cx="104139" cy="96520"/>
          </a:xfrm>
          <a:custGeom>
            <a:avLst/>
            <a:gdLst/>
            <a:ahLst/>
            <a:cxnLst/>
            <a:rect l="l" t="t" r="r" b="b"/>
            <a:pathLst>
              <a:path w="104140" h="96519">
                <a:moveTo>
                  <a:pt x="0" y="7620"/>
                </a:moveTo>
                <a:lnTo>
                  <a:pt x="103632" y="7620"/>
                </a:lnTo>
              </a:path>
              <a:path w="104140" h="96519">
                <a:moveTo>
                  <a:pt x="7619" y="96012"/>
                </a:moveTo>
                <a:lnTo>
                  <a:pt x="7619" y="0"/>
                </a:lnTo>
              </a:path>
              <a:path w="104140" h="96519">
                <a:moveTo>
                  <a:pt x="96012" y="96012"/>
                </a:moveTo>
                <a:lnTo>
                  <a:pt x="96012" y="0"/>
                </a:lnTo>
              </a:path>
            </a:pathLst>
          </a:custGeom>
          <a:ln w="13716">
            <a:solidFill>
              <a:srgbClr val="60606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358883" y="1563624"/>
            <a:ext cx="102235" cy="0"/>
          </a:xfrm>
          <a:custGeom>
            <a:avLst/>
            <a:gdLst/>
            <a:ahLst/>
            <a:cxnLst/>
            <a:rect l="l" t="t" r="r" b="b"/>
            <a:pathLst>
              <a:path w="102234" h="0">
                <a:moveTo>
                  <a:pt x="0" y="0"/>
                </a:moveTo>
                <a:lnTo>
                  <a:pt x="102108" y="0"/>
                </a:lnTo>
              </a:path>
            </a:pathLst>
          </a:custGeom>
          <a:ln w="13716">
            <a:solidFill>
              <a:srgbClr val="5B5B5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9358883" y="1481327"/>
            <a:ext cx="102235" cy="0"/>
          </a:xfrm>
          <a:custGeom>
            <a:avLst/>
            <a:gdLst/>
            <a:ahLst/>
            <a:cxnLst/>
            <a:rect l="l" t="t" r="r" b="b"/>
            <a:pathLst>
              <a:path w="102234" h="0">
                <a:moveTo>
                  <a:pt x="0" y="0"/>
                </a:moveTo>
                <a:lnTo>
                  <a:pt x="102108" y="0"/>
                </a:lnTo>
              </a:path>
            </a:pathLst>
          </a:custGeom>
          <a:ln w="13716">
            <a:solidFill>
              <a:srgbClr val="5B5B5B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5380" y="2912364"/>
            <a:ext cx="114300" cy="11430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4608" y="3183635"/>
            <a:ext cx="112775" cy="108203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96695" y="3467100"/>
            <a:ext cx="114300" cy="108203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352788" y="1467612"/>
            <a:ext cx="585215" cy="108203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692640" y="2843783"/>
            <a:ext cx="70103" cy="62483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553200" y="6329171"/>
            <a:ext cx="428243" cy="76200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32587" y="1481327"/>
            <a:ext cx="102107" cy="88391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810000" y="1167383"/>
            <a:ext cx="377951" cy="94487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278623" y="2162555"/>
            <a:ext cx="448056" cy="103632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8420100" y="1469136"/>
            <a:ext cx="371855" cy="108204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7965947" y="2156460"/>
            <a:ext cx="1670303" cy="114300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2351051" y="1130286"/>
            <a:ext cx="553720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>
                <a:solidFill>
                  <a:srgbClr val="2D2D2D"/>
                </a:solidFill>
                <a:latin typeface="Calibri"/>
                <a:cs typeface="Calibri"/>
              </a:rPr>
              <a:t>IBM</a:t>
            </a:r>
            <a:r>
              <a:rPr dirty="0" sz="800" spc="-25">
                <a:solidFill>
                  <a:srgbClr val="2D2D2D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232323"/>
                </a:solidFill>
                <a:latin typeface="Calibri"/>
                <a:cs typeface="Calibri"/>
              </a:rPr>
              <a:t>watsonx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241527" y="1432046"/>
            <a:ext cx="1872614" cy="155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>
                <a:solidFill>
                  <a:srgbClr val="282828"/>
                </a:solidFill>
                <a:latin typeface="Calibri"/>
                <a:cs typeface="Calibri"/>
              </a:rPr>
              <a:t>httpc</a:t>
            </a:r>
            <a:r>
              <a:rPr dirty="0" sz="850" spc="385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dirty="0" sz="850" spc="-10">
                <a:solidFill>
                  <a:srgbClr val="282828"/>
                </a:solidFill>
                <a:latin typeface="Calibri"/>
                <a:cs typeface="Calibri"/>
              </a:rPr>
              <a:t>//cloud.ibm.com/watsonx/prnj</a:t>
            </a:r>
            <a:r>
              <a:rPr dirty="0" sz="850" spc="-10" i="1">
                <a:solidFill>
                  <a:srgbClr val="646464"/>
                </a:solidFill>
                <a:latin typeface="Calibri"/>
                <a:cs typeface="Calibri"/>
              </a:rPr>
              <a:t>ects/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16866" y="2107150"/>
            <a:ext cx="4956810" cy="48323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>
                <a:solidFill>
                  <a:srgbClr val="3F6B8C"/>
                </a:solidFill>
                <a:latin typeface="Calibri"/>
                <a:cs typeface="Calibri"/>
              </a:rPr>
              <a:t>Projects</a:t>
            </a:r>
            <a:r>
              <a:rPr dirty="0" sz="950" spc="425">
                <a:solidFill>
                  <a:srgbClr val="3F6B8C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F3F3F"/>
                </a:solidFill>
                <a:latin typeface="Calibri"/>
                <a:cs typeface="Calibri"/>
              </a:rPr>
              <a:t>/</a:t>
            </a:r>
            <a:r>
              <a:rPr dirty="0" sz="950" spc="34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86790"/>
                </a:solidFill>
                <a:latin typeface="Calibri"/>
                <a:cs typeface="Calibri"/>
              </a:rPr>
              <a:t>predicting</a:t>
            </a:r>
            <a:r>
              <a:rPr dirty="0" sz="950" spc="40">
                <a:solidFill>
                  <a:srgbClr val="38679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648CAC"/>
                </a:solidFill>
                <a:latin typeface="Calibri"/>
                <a:cs typeface="Calibri"/>
              </a:rPr>
              <a:t>eligibility</a:t>
            </a:r>
            <a:r>
              <a:rPr dirty="0" sz="950" spc="45">
                <a:solidFill>
                  <a:srgbClr val="648CAC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5279"/>
                </a:solidFill>
                <a:latin typeface="Calibri"/>
                <a:cs typeface="Calibri"/>
              </a:rPr>
              <a:t>for</a:t>
            </a:r>
            <a:r>
              <a:rPr dirty="0" sz="950" spc="-5">
                <a:solidFill>
                  <a:srgbClr val="235279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1C3D56"/>
                </a:solidFill>
                <a:latin typeface="Calibri"/>
                <a:cs typeface="Calibri"/>
              </a:rPr>
              <a:t>NSAP</a:t>
            </a:r>
            <a:r>
              <a:rPr dirty="0" sz="950" spc="35">
                <a:solidFill>
                  <a:srgbClr val="1C3D56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4D7595"/>
                </a:solidFill>
                <a:latin typeface="Calibri"/>
                <a:cs typeface="Calibri"/>
              </a:rPr>
              <a:t>schemes</a:t>
            </a:r>
            <a:r>
              <a:rPr dirty="0" sz="950" spc="55">
                <a:solidFill>
                  <a:srgbClr val="4D7595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6689A5"/>
                </a:solidFill>
                <a:latin typeface="Calibri"/>
                <a:cs typeface="Calibri"/>
              </a:rPr>
              <a:t>project</a:t>
            </a:r>
            <a:r>
              <a:rPr dirty="0" sz="950" spc="420">
                <a:solidFill>
                  <a:srgbClr val="6689A5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B3B3B"/>
                </a:solidFill>
                <a:latin typeface="Calibri"/>
                <a:cs typeface="Calibri"/>
              </a:rPr>
              <a:t>/</a:t>
            </a:r>
            <a:r>
              <a:rPr dirty="0" sz="950" spc="345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predicting</a:t>
            </a:r>
            <a:r>
              <a:rPr dirty="0" sz="950" spc="-45">
                <a:latin typeface="Calibri"/>
                <a:cs typeface="Calibri"/>
              </a:rPr>
              <a:t> </a:t>
            </a:r>
            <a:r>
              <a:rPr dirty="0" sz="950" spc="-30">
                <a:latin typeface="Calibri"/>
                <a:cs typeface="Calibri"/>
              </a:rPr>
              <a:t>etigit›itity</a:t>
            </a:r>
            <a:r>
              <a:rPr dirty="0" sz="950" spc="-2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for</a:t>
            </a:r>
            <a:r>
              <a:rPr dirty="0" sz="950" spc="-4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NSAP</a:t>
            </a:r>
            <a:r>
              <a:rPr dirty="0" sz="950" spc="-2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schemes</a:t>
            </a:r>
            <a:endParaRPr sz="9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85"/>
              </a:spcBef>
            </a:pPr>
            <a:endParaRPr sz="950">
              <a:latin typeface="Calibri"/>
              <a:cs typeface="Calibri"/>
            </a:endParaRPr>
          </a:p>
          <a:p>
            <a:pPr marL="13970">
              <a:lnSpc>
                <a:spcPct val="100000"/>
              </a:lnSpc>
              <a:tabLst>
                <a:tab pos="1344295" algn="l"/>
              </a:tabLst>
            </a:pPr>
            <a:r>
              <a:rPr dirty="0" sz="850">
                <a:latin typeface="Calibri"/>
                <a:cs typeface="Calibri"/>
              </a:rPr>
              <a:t>Experiment</a:t>
            </a:r>
            <a:r>
              <a:rPr dirty="0" sz="850" spc="345">
                <a:latin typeface="Calibri"/>
                <a:cs typeface="Calibri"/>
              </a:rPr>
              <a:t> </a:t>
            </a:r>
            <a:r>
              <a:rPr dirty="0" sz="850" spc="-10">
                <a:latin typeface="Calibri"/>
                <a:cs typeface="Calibri"/>
              </a:rPr>
              <a:t>summary</a:t>
            </a:r>
            <a:r>
              <a:rPr dirty="0" sz="850">
                <a:latin typeface="Calibri"/>
                <a:cs typeface="Calibri"/>
              </a:rPr>
              <a:t>	</a:t>
            </a:r>
            <a:r>
              <a:rPr dirty="0" sz="850">
                <a:solidFill>
                  <a:srgbClr val="677E9E"/>
                </a:solidFill>
                <a:latin typeface="Calibri"/>
                <a:cs typeface="Calibri"/>
              </a:rPr>
              <a:t>Pipeline</a:t>
            </a:r>
            <a:r>
              <a:rPr dirty="0" sz="850" spc="220">
                <a:solidFill>
                  <a:srgbClr val="677E9E"/>
                </a:solidFill>
                <a:latin typeface="Calibri"/>
                <a:cs typeface="Calibri"/>
              </a:rPr>
              <a:t> </a:t>
            </a:r>
            <a:r>
              <a:rPr dirty="0" sz="850" spc="-10">
                <a:solidFill>
                  <a:srgbClr val="5980A1"/>
                </a:solidFill>
                <a:latin typeface="Calibri"/>
                <a:cs typeface="Calibri"/>
              </a:rPr>
              <a:t>comparison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15315" y="4362722"/>
            <a:ext cx="968375" cy="5632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>
                <a:latin typeface="Calibri"/>
                <a:cs typeface="Calibri"/>
              </a:rPr>
              <a:t>Leaderboard</a:t>
            </a:r>
            <a:r>
              <a:rPr dirty="0" sz="1150" spc="155">
                <a:latin typeface="Calibri"/>
                <a:cs typeface="Calibri"/>
              </a:rPr>
              <a:t>  </a:t>
            </a:r>
            <a:r>
              <a:rPr dirty="0" sz="1150" spc="-50">
                <a:solidFill>
                  <a:srgbClr val="0F0F0F"/>
                </a:solidFill>
                <a:latin typeface="Calibri"/>
                <a:cs typeface="Calibri"/>
              </a:rPr>
              <a:t>9</a:t>
            </a:r>
            <a:endParaRPr sz="1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45"/>
              </a:spcBef>
            </a:pPr>
            <a:endParaRPr sz="1150">
              <a:latin typeface="Calibri"/>
              <a:cs typeface="Calibri"/>
            </a:endParaRPr>
          </a:p>
          <a:p>
            <a:pPr marL="632460">
              <a:lnSpc>
                <a:spcPct val="100000"/>
              </a:lnSpc>
            </a:pPr>
            <a:r>
              <a:rPr dirty="0" sz="1000" spc="-20">
                <a:latin typeface="Courier New"/>
                <a:cs typeface="Courier New"/>
              </a:rPr>
              <a:t>Name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29512" y="5158206"/>
            <a:ext cx="496570" cy="155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>
                <a:latin typeface="Calibri"/>
                <a:cs typeface="Calibri"/>
              </a:rPr>
              <a:t>Pipeline</a:t>
            </a:r>
            <a:r>
              <a:rPr dirty="0" sz="850" spc="245">
                <a:latin typeface="Calibri"/>
                <a:cs typeface="Calibri"/>
              </a:rPr>
              <a:t> </a:t>
            </a:r>
            <a:r>
              <a:rPr dirty="0" sz="850" spc="-50">
                <a:solidFill>
                  <a:srgbClr val="0C0C0C"/>
                </a:solidFill>
                <a:latin typeface="Calibri"/>
                <a:cs typeface="Calibri"/>
              </a:rPr>
              <a:t>4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27954" y="5517856"/>
            <a:ext cx="501015" cy="1701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 spc="-10">
                <a:latin typeface="Calibri"/>
                <a:cs typeface="Calibri"/>
              </a:rPr>
              <a:t>Pipeline</a:t>
            </a:r>
            <a:r>
              <a:rPr dirty="0" sz="950" spc="20">
                <a:latin typeface="Calibri"/>
                <a:cs typeface="Calibri"/>
              </a:rPr>
              <a:t> </a:t>
            </a:r>
            <a:r>
              <a:rPr dirty="0" sz="950" spc="-50">
                <a:solidFill>
                  <a:srgbClr val="161616"/>
                </a:solidFill>
                <a:latin typeface="Calibri"/>
                <a:cs typeface="Calibri"/>
              </a:rPr>
              <a:t>3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29512" y="5901977"/>
            <a:ext cx="493395" cy="155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>
                <a:latin typeface="Calibri"/>
                <a:cs typeface="Calibri"/>
              </a:rPr>
              <a:t>Pipeline</a:t>
            </a:r>
            <a:r>
              <a:rPr dirty="0" sz="850" spc="220">
                <a:latin typeface="Calibri"/>
                <a:cs typeface="Calibri"/>
              </a:rPr>
              <a:t> </a:t>
            </a:r>
            <a:r>
              <a:rPr dirty="0" sz="850" spc="-50">
                <a:solidFill>
                  <a:srgbClr val="2A2A2A"/>
                </a:solidFill>
                <a:latin typeface="Calibri"/>
                <a:cs typeface="Calibri"/>
              </a:rPr>
              <a:t>2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29512" y="6273796"/>
            <a:ext cx="488315" cy="155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>
                <a:latin typeface="Calibri"/>
                <a:cs typeface="Calibri"/>
              </a:rPr>
              <a:t>Pipeline</a:t>
            </a:r>
            <a:r>
              <a:rPr dirty="0" sz="850" spc="185">
                <a:latin typeface="Calibri"/>
                <a:cs typeface="Calibri"/>
              </a:rPr>
              <a:t> </a:t>
            </a:r>
            <a:r>
              <a:rPr dirty="0" sz="850" spc="-50">
                <a:latin typeface="Calibri"/>
                <a:cs typeface="Calibri"/>
              </a:rPr>
              <a:t>1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225054" y="1439703"/>
            <a:ext cx="526415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spc="-10">
                <a:solidFill>
                  <a:srgbClr val="565656"/>
                </a:solidFill>
                <a:latin typeface="Calibri"/>
                <a:cs typeface="Calibri"/>
              </a:rPr>
              <a:t>/experiment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757111" y="2427186"/>
            <a:ext cx="2188210" cy="1701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baseline="2923" sz="1425" spc="-15">
                <a:latin typeface="Calibri"/>
                <a:cs typeface="Calibri"/>
              </a:rPr>
              <a:t>Rank</a:t>
            </a:r>
            <a:r>
              <a:rPr dirty="0" baseline="2923" sz="1425" spc="-75">
                <a:latin typeface="Calibri"/>
                <a:cs typeface="Calibri"/>
              </a:rPr>
              <a:t> </a:t>
            </a:r>
            <a:r>
              <a:rPr dirty="0" baseline="2923" sz="1425">
                <a:latin typeface="Calibri"/>
                <a:cs typeface="Calibri"/>
              </a:rPr>
              <a:t>by:</a:t>
            </a:r>
            <a:r>
              <a:rPr dirty="0" baseline="2923" sz="1425" spc="127">
                <a:latin typeface="Calibri"/>
                <a:cs typeface="Calibri"/>
              </a:rPr>
              <a:t> </a:t>
            </a:r>
            <a:r>
              <a:rPr dirty="0" baseline="2923" sz="1425" spc="-15">
                <a:latin typeface="Calibri"/>
                <a:cs typeface="Calibri"/>
              </a:rPr>
              <a:t>Root</a:t>
            </a:r>
            <a:r>
              <a:rPr dirty="0" baseline="2923" sz="1425" spc="-67">
                <a:latin typeface="Calibri"/>
                <a:cs typeface="Calibri"/>
              </a:rPr>
              <a:t> </a:t>
            </a:r>
            <a:r>
              <a:rPr dirty="0" baseline="2923" sz="1425">
                <a:solidFill>
                  <a:srgbClr val="161616"/>
                </a:solidFill>
                <a:latin typeface="Calibri"/>
                <a:cs typeface="Calibri"/>
              </a:rPr>
              <a:t>mean</a:t>
            </a:r>
            <a:r>
              <a:rPr dirty="0" baseline="2923" sz="1425" spc="7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dirty="0" baseline="2923" sz="1425" spc="-15">
                <a:latin typeface="Calibri"/>
                <a:cs typeface="Calibri"/>
              </a:rPr>
              <a:t>squared</a:t>
            </a:r>
            <a:r>
              <a:rPr dirty="0" baseline="2923" sz="1425" spc="-7">
                <a:latin typeface="Calibri"/>
                <a:cs typeface="Calibri"/>
              </a:rPr>
              <a:t> </a:t>
            </a:r>
            <a:r>
              <a:rPr dirty="0" baseline="2923" sz="1425">
                <a:latin typeface="Calibri"/>
                <a:cs typeface="Calibri"/>
              </a:rPr>
              <a:t>error</a:t>
            </a:r>
            <a:r>
              <a:rPr dirty="0" baseline="2923" sz="1425" spc="-15"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111111"/>
                </a:solidFill>
                <a:latin typeface="Calibri"/>
                <a:cs typeface="Calibri"/>
              </a:rPr>
              <a:t>t</a:t>
            </a:r>
            <a:r>
              <a:rPr dirty="0" baseline="2923" sz="1425">
                <a:solidFill>
                  <a:srgbClr val="111111"/>
                </a:solidFill>
                <a:latin typeface="Calibri"/>
                <a:cs typeface="Calibri"/>
              </a:rPr>
              <a:t>RN5E)</a:t>
            </a:r>
            <a:r>
              <a:rPr dirty="0" baseline="2923" sz="1425" spc="27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baseline="2923" sz="1425" spc="-75">
                <a:latin typeface="Calibri"/>
                <a:cs typeface="Calibri"/>
              </a:rPr>
              <a:t>4</a:t>
            </a:r>
            <a:endParaRPr baseline="2923" sz="1425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452353" y="2760192"/>
            <a:ext cx="4337685" cy="1438275"/>
          </a:xfrm>
          <a:prstGeom prst="rect">
            <a:avLst/>
          </a:prstGeom>
        </p:spPr>
        <p:txBody>
          <a:bodyPr wrap="square" lIns="0" tIns="41275" rIns="0" bIns="0" rtlCol="0" vert="horz">
            <a:spAutoFit/>
          </a:bodyPr>
          <a:lstStyle/>
          <a:p>
            <a:pPr marL="2508885">
              <a:lnSpc>
                <a:spcPct val="100000"/>
              </a:lnSpc>
              <a:spcBef>
                <a:spcPts val="325"/>
              </a:spcBef>
            </a:pPr>
            <a:r>
              <a:rPr dirty="0" sz="800">
                <a:latin typeface="Calibri"/>
                <a:cs typeface="Calibri"/>
              </a:rPr>
              <a:t>Savnd</a:t>
            </a:r>
            <a:r>
              <a:rPr dirty="0" sz="800" spc="7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fflodel</a:t>
            </a:r>
            <a:r>
              <a:rPr dirty="0" sz="800" spc="45">
                <a:latin typeface="Calibri"/>
                <a:cs typeface="Calibri"/>
              </a:rPr>
              <a:t> </a:t>
            </a:r>
            <a:r>
              <a:rPr dirty="0" sz="800" spc="-10">
                <a:latin typeface="Calibri"/>
                <a:cs typeface="Calibri"/>
              </a:rPr>
              <a:t>successfully.</a:t>
            </a:r>
            <a:endParaRPr sz="800">
              <a:latin typeface="Calibri"/>
              <a:cs typeface="Calibri"/>
            </a:endParaRPr>
          </a:p>
          <a:p>
            <a:pPr marL="2502535" marR="302260">
              <a:lnSpc>
                <a:spcPct val="107900"/>
              </a:lnSpc>
              <a:spcBef>
                <a:spcPts val="155"/>
              </a:spcBef>
            </a:pPr>
            <a:r>
              <a:rPr dirty="0" sz="850">
                <a:latin typeface="Calibri"/>
                <a:cs typeface="Calibri"/>
              </a:rPr>
              <a:t>P3</a:t>
            </a:r>
            <a:r>
              <a:rPr dirty="0" sz="850" spc="-50"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383838"/>
                </a:solidFill>
                <a:latin typeface="Calibri"/>
                <a:cs typeface="Calibri"/>
              </a:rPr>
              <a:t>-</a:t>
            </a:r>
            <a:r>
              <a:rPr dirty="0" sz="850" spc="1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dirty="0" sz="850">
                <a:latin typeface="Calibri"/>
                <a:cs typeface="Calibri"/>
              </a:rPr>
              <a:t>Ridge:</a:t>
            </a:r>
            <a:r>
              <a:rPr dirty="0" sz="850" spc="30">
                <a:latin typeface="Calibri"/>
                <a:cs typeface="Calibri"/>
              </a:rPr>
              <a:t> </a:t>
            </a:r>
            <a:r>
              <a:rPr dirty="0" sz="850">
                <a:latin typeface="Calibri"/>
                <a:cs typeface="Calibri"/>
              </a:rPr>
              <a:t>predict</a:t>
            </a:r>
            <a:r>
              <a:rPr dirty="0" sz="850" spc="35">
                <a:latin typeface="Calibri"/>
                <a:cs typeface="Calibri"/>
              </a:rPr>
              <a:t> </a:t>
            </a:r>
            <a:r>
              <a:rPr dirty="0" sz="850" spc="-10">
                <a:latin typeface="Calibri"/>
                <a:cs typeface="Calibri"/>
              </a:rPr>
              <a:t>ng</a:t>
            </a:r>
            <a:r>
              <a:rPr dirty="0" sz="850" spc="-45"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161616"/>
                </a:solidFill>
                <a:latin typeface="Calibri"/>
                <a:cs typeface="Calibri"/>
              </a:rPr>
              <a:t>eligibility</a:t>
            </a:r>
            <a:r>
              <a:rPr dirty="0" sz="850" spc="6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dirty="0" sz="850" spc="-25">
                <a:solidFill>
                  <a:srgbClr val="2D2D2D"/>
                </a:solidFill>
                <a:latin typeface="Calibri"/>
                <a:cs typeface="Calibri"/>
              </a:rPr>
              <a:t>for</a:t>
            </a:r>
            <a:r>
              <a:rPr dirty="0" sz="850" spc="500">
                <a:solidFill>
                  <a:srgbClr val="2D2D2D"/>
                </a:solidFill>
                <a:latin typeface="Calibri"/>
                <a:cs typeface="Calibri"/>
              </a:rPr>
              <a:t> </a:t>
            </a:r>
            <a:r>
              <a:rPr dirty="0" sz="850">
                <a:latin typeface="Calibri"/>
                <a:cs typeface="Calibri"/>
              </a:rPr>
              <a:t>NSAP</a:t>
            </a:r>
            <a:r>
              <a:rPr dirty="0" sz="850" spc="30"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0C0C0C"/>
                </a:solidFill>
                <a:latin typeface="Calibri"/>
                <a:cs typeface="Calibri"/>
              </a:rPr>
              <a:t>schemes</a:t>
            </a:r>
            <a:r>
              <a:rPr dirty="0" sz="850" spc="10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0C0C0C"/>
                </a:solidFill>
                <a:latin typeface="Calibri"/>
                <a:cs typeface="Calibri"/>
              </a:rPr>
              <a:t>was</a:t>
            </a:r>
            <a:r>
              <a:rPr dirty="0" sz="850" spc="10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dirty="0" sz="850" spc="-10">
                <a:latin typeface="Calibri"/>
                <a:cs typeface="Calibri"/>
              </a:rPr>
              <a:t>successfully</a:t>
            </a:r>
            <a:r>
              <a:rPr dirty="0" sz="850" spc="500"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2A2A2A"/>
                </a:solidFill>
                <a:latin typeface="Calibri"/>
                <a:cs typeface="Calibri"/>
              </a:rPr>
              <a:t>saved</a:t>
            </a:r>
            <a:r>
              <a:rPr dirty="0" sz="800" spc="12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61616"/>
                </a:solidFill>
                <a:latin typeface="Calibri"/>
                <a:cs typeface="Calibri"/>
              </a:rPr>
              <a:t>to</a:t>
            </a:r>
            <a:r>
              <a:rPr dirty="0" sz="800" spc="14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predicting</a:t>
            </a:r>
            <a:r>
              <a:rPr dirty="0" sz="800" spc="12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eligibility</a:t>
            </a:r>
            <a:r>
              <a:rPr dirty="0" sz="800" spc="170">
                <a:latin typeface="Calibri"/>
                <a:cs typeface="Calibri"/>
              </a:rPr>
              <a:t> </a:t>
            </a:r>
            <a:r>
              <a:rPr dirty="0" sz="800" spc="-25">
                <a:latin typeface="Calibri"/>
                <a:cs typeface="Calibri"/>
              </a:rPr>
              <a:t>for</a:t>
            </a:r>
            <a:r>
              <a:rPr dirty="0" sz="800" spc="500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NSAP</a:t>
            </a:r>
            <a:r>
              <a:rPr dirty="0" sz="900" spc="-35">
                <a:latin typeface="Calibri"/>
                <a:cs typeface="Calibri"/>
              </a:rPr>
              <a:t> </a:t>
            </a:r>
            <a:r>
              <a:rPr dirty="0" sz="900" spc="-10">
                <a:latin typeface="Calibri"/>
                <a:cs typeface="Calibri"/>
              </a:rPr>
              <a:t>schemes</a:t>
            </a:r>
            <a:r>
              <a:rPr dirty="0" sz="900" spc="-15"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F1F1F"/>
                </a:solidFill>
                <a:latin typeface="Calibri"/>
                <a:cs typeface="Calibri"/>
              </a:rPr>
              <a:t>project.</a:t>
            </a:r>
            <a:endParaRPr sz="900">
              <a:latin typeface="Calibri"/>
              <a:cs typeface="Calibri"/>
            </a:endParaRPr>
          </a:p>
          <a:p>
            <a:pPr marL="2505710">
              <a:lnSpc>
                <a:spcPct val="100000"/>
              </a:lnSpc>
              <a:spcBef>
                <a:spcPts val="955"/>
              </a:spcBef>
            </a:pPr>
            <a:r>
              <a:rPr dirty="0" u="sng" sz="750">
                <a:solidFill>
                  <a:srgbClr val="213F79"/>
                </a:solidFill>
                <a:uFill>
                  <a:solidFill>
                    <a:srgbClr val="607490"/>
                  </a:solidFill>
                </a:uFill>
                <a:latin typeface="Calibri"/>
                <a:cs typeface="Calibri"/>
              </a:rPr>
              <a:t>View</a:t>
            </a:r>
            <a:r>
              <a:rPr dirty="0" u="sng" sz="750" spc="200">
                <a:solidFill>
                  <a:srgbClr val="213F79"/>
                </a:solidFill>
                <a:uFill>
                  <a:solidFill>
                    <a:srgbClr val="60749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750">
                <a:solidFill>
                  <a:srgbClr val="697E9E"/>
                </a:solidFill>
                <a:uFill>
                  <a:solidFill>
                    <a:srgbClr val="607490"/>
                  </a:solidFill>
                </a:uFill>
                <a:latin typeface="Calibri"/>
                <a:cs typeface="Calibri"/>
              </a:rPr>
              <a:t>in</a:t>
            </a:r>
            <a:r>
              <a:rPr dirty="0" sz="750" spc="120">
                <a:solidFill>
                  <a:srgbClr val="697E9E"/>
                </a:solidFill>
                <a:latin typeface="Calibri"/>
                <a:cs typeface="Calibri"/>
              </a:rPr>
              <a:t> </a:t>
            </a:r>
            <a:r>
              <a:rPr dirty="0" sz="750" spc="-10">
                <a:solidFill>
                  <a:srgbClr val="5D79A1"/>
                </a:solidFill>
                <a:latin typeface="Calibri"/>
                <a:cs typeface="Calibri"/>
              </a:rPr>
              <a:t>proj</a:t>
            </a:r>
            <a:r>
              <a:rPr dirty="0" u="sng" sz="750" spc="-10">
                <a:solidFill>
                  <a:srgbClr val="5D79A1"/>
                </a:solidFill>
                <a:uFill>
                  <a:solidFill>
                    <a:srgbClr val="607490"/>
                  </a:solidFill>
                </a:uFill>
                <a:latin typeface="Calibri"/>
                <a:cs typeface="Calibri"/>
              </a:rPr>
              <a:t>ect</a:t>
            </a:r>
            <a:endParaRPr sz="7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85"/>
              </a:spcBef>
            </a:pPr>
            <a:r>
              <a:rPr dirty="0" sz="850">
                <a:solidFill>
                  <a:srgbClr val="131313"/>
                </a:solidFill>
                <a:latin typeface="Calibri"/>
                <a:cs typeface="Calibri"/>
              </a:rPr>
              <a:t>P3</a:t>
            </a:r>
            <a:r>
              <a:rPr dirty="0" sz="850" spc="170">
                <a:solidFill>
                  <a:srgbClr val="131313"/>
                </a:solidFill>
                <a:latin typeface="Calibri"/>
                <a:cs typeface="Calibri"/>
              </a:rPr>
              <a:t>  </a:t>
            </a:r>
            <a:r>
              <a:rPr dirty="0" sz="850">
                <a:solidFill>
                  <a:srgbClr val="2F2F2F"/>
                </a:solidFill>
                <a:latin typeface="Calibri"/>
                <a:cs typeface="Calibri"/>
              </a:rPr>
              <a:t>-</a:t>
            </a:r>
            <a:r>
              <a:rPr dirty="0" sz="850" spc="19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dirty="0" sz="850">
                <a:latin typeface="Calibri"/>
                <a:cs typeface="Calibri"/>
              </a:rPr>
              <a:t>Ridge:</a:t>
            </a:r>
            <a:r>
              <a:rPr dirty="0" sz="850" spc="90">
                <a:latin typeface="Calibri"/>
                <a:cs typeface="Calibri"/>
              </a:rPr>
              <a:t> </a:t>
            </a:r>
            <a:r>
              <a:rPr dirty="0" sz="850">
                <a:latin typeface="Calibri"/>
                <a:cs typeface="Calibri"/>
              </a:rPr>
              <a:t>predicting</a:t>
            </a:r>
            <a:r>
              <a:rPr dirty="0" sz="850" spc="155">
                <a:latin typeface="Calibri"/>
                <a:cs typeface="Calibri"/>
              </a:rPr>
              <a:t> </a:t>
            </a:r>
            <a:r>
              <a:rPr dirty="0" sz="850">
                <a:latin typeface="Calibri"/>
                <a:cs typeface="Calibri"/>
              </a:rPr>
              <a:t>eligibility</a:t>
            </a:r>
            <a:r>
              <a:rPr dirty="0" sz="850" spc="240">
                <a:latin typeface="Calibri"/>
                <a:cs typeface="Calibri"/>
              </a:rPr>
              <a:t> </a:t>
            </a:r>
            <a:r>
              <a:rPr dirty="0" sz="850">
                <a:latin typeface="Calibri"/>
                <a:cs typeface="Calibri"/>
              </a:rPr>
              <a:t>for</a:t>
            </a:r>
            <a:r>
              <a:rPr dirty="0" sz="850" spc="135">
                <a:latin typeface="Calibri"/>
                <a:cs typeface="Calibri"/>
              </a:rPr>
              <a:t> </a:t>
            </a:r>
            <a:r>
              <a:rPr dirty="0" sz="850" spc="50">
                <a:solidFill>
                  <a:srgbClr val="0F0F0F"/>
                </a:solidFill>
                <a:latin typeface="Calibri"/>
                <a:cs typeface="Calibri"/>
              </a:rPr>
              <a:t>NSAP</a:t>
            </a:r>
            <a:r>
              <a:rPr dirty="0" sz="850" spc="145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1C1C1C"/>
                </a:solidFill>
                <a:latin typeface="Calibri"/>
                <a:cs typeface="Calibri"/>
              </a:rPr>
              <a:t>schemes</a:t>
            </a:r>
            <a:r>
              <a:rPr dirty="0" sz="850" spc="145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dirty="0" sz="850">
                <a:latin typeface="Calibri"/>
                <a:cs typeface="Calibri"/>
              </a:rPr>
              <a:t>was</a:t>
            </a:r>
            <a:r>
              <a:rPr dirty="0" sz="850" spc="200">
                <a:latin typeface="Calibri"/>
                <a:cs typeface="Calibri"/>
              </a:rPr>
              <a:t> </a:t>
            </a:r>
            <a:r>
              <a:rPr dirty="0" sz="850">
                <a:latin typeface="Calibri"/>
                <a:cs typeface="Calibri"/>
              </a:rPr>
              <a:t>successfully</a:t>
            </a:r>
            <a:r>
              <a:rPr dirty="0" sz="850" spc="225"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111111"/>
                </a:solidFill>
                <a:latin typeface="Calibri"/>
                <a:cs typeface="Calibri"/>
              </a:rPr>
              <a:t>saved...View</a:t>
            </a:r>
            <a:r>
              <a:rPr dirty="0" sz="850" spc="204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64729A"/>
                </a:solidFill>
                <a:latin typeface="Calibri"/>
                <a:cs typeface="Calibri"/>
              </a:rPr>
              <a:t>in</a:t>
            </a:r>
            <a:r>
              <a:rPr dirty="0" sz="850" spc="75">
                <a:solidFill>
                  <a:srgbClr val="64729A"/>
                </a:solidFill>
                <a:latin typeface="Calibri"/>
                <a:cs typeface="Calibri"/>
              </a:rPr>
              <a:t> </a:t>
            </a:r>
            <a:r>
              <a:rPr dirty="0" sz="850" spc="-10">
                <a:solidFill>
                  <a:srgbClr val="8289B1"/>
                </a:solidFill>
                <a:latin typeface="Calibri"/>
                <a:cs typeface="Calibri"/>
              </a:rPr>
              <a:t>project</a:t>
            </a:r>
            <a:endParaRPr sz="850">
              <a:latin typeface="Calibri"/>
              <a:cs typeface="Calibri"/>
            </a:endParaRPr>
          </a:p>
          <a:p>
            <a:pPr marL="2447925">
              <a:lnSpc>
                <a:spcPct val="100000"/>
              </a:lnSpc>
              <a:spcBef>
                <a:spcPts val="600"/>
              </a:spcBef>
              <a:tabLst>
                <a:tab pos="3505200" algn="l"/>
              </a:tabLst>
            </a:pPr>
            <a:r>
              <a:rPr dirty="0" sz="850">
                <a:solidFill>
                  <a:srgbClr val="333B60"/>
                </a:solidFill>
                <a:latin typeface="Calibri"/>
                <a:cs typeface="Calibri"/>
              </a:rPr>
              <a:t>View</a:t>
            </a:r>
            <a:r>
              <a:rPr dirty="0" sz="850" spc="15">
                <a:solidFill>
                  <a:srgbClr val="333B60"/>
                </a:solidFill>
                <a:latin typeface="Calibri"/>
                <a:cs typeface="Calibri"/>
              </a:rPr>
              <a:t> </a:t>
            </a:r>
            <a:r>
              <a:rPr dirty="0" sz="850" spc="-25">
                <a:solidFill>
                  <a:srgbClr val="626985"/>
                </a:solidFill>
                <a:latin typeface="Calibri"/>
                <a:cs typeface="Calibri"/>
              </a:rPr>
              <a:t>log</a:t>
            </a:r>
            <a:r>
              <a:rPr dirty="0" sz="850">
                <a:solidFill>
                  <a:srgbClr val="626985"/>
                </a:solidFill>
                <a:latin typeface="Calibri"/>
                <a:cs typeface="Calibri"/>
              </a:rPr>
              <a:t>	</a:t>
            </a:r>
            <a:r>
              <a:rPr dirty="0" sz="850">
                <a:solidFill>
                  <a:srgbClr val="878CAC"/>
                </a:solidFill>
                <a:latin typeface="Calibri"/>
                <a:cs typeface="Calibri"/>
              </a:rPr>
              <a:t>Save</a:t>
            </a:r>
            <a:r>
              <a:rPr dirty="0" sz="850" spc="114">
                <a:solidFill>
                  <a:srgbClr val="878CAC"/>
                </a:solidFill>
                <a:latin typeface="Calibri"/>
                <a:cs typeface="Calibri"/>
              </a:rPr>
              <a:t> </a:t>
            </a:r>
            <a:r>
              <a:rPr dirty="0" sz="850" spc="-20">
                <a:solidFill>
                  <a:srgbClr val="7C7CA1"/>
                </a:solidFill>
                <a:latin typeface="Calibri"/>
                <a:cs typeface="Calibri"/>
              </a:rPr>
              <a:t>code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9759078" y="1753602"/>
            <a:ext cx="17018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latin typeface="Courier New"/>
                <a:cs typeface="Courier New"/>
              </a:rPr>
              <a:t>DA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535926" y="5146030"/>
            <a:ext cx="459740" cy="1701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>
                <a:latin typeface="Calibri"/>
                <a:cs typeface="Calibri"/>
              </a:rPr>
              <a:t>00:00</a:t>
            </a:r>
            <a:r>
              <a:rPr dirty="0" sz="950" spc="40">
                <a:latin typeface="Calibri"/>
                <a:cs typeface="Calibri"/>
              </a:rPr>
              <a:t> </a:t>
            </a:r>
            <a:r>
              <a:rPr dirty="0" sz="950" spc="-25">
                <a:latin typeface="Calibri"/>
                <a:cs typeface="Calibri"/>
              </a:rPr>
              <a:t>57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535913" y="5530125"/>
            <a:ext cx="352425" cy="155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spc="-10">
                <a:solidFill>
                  <a:srgbClr val="0E0E0E"/>
                </a:solidFill>
                <a:latin typeface="Calibri"/>
                <a:cs typeface="Calibri"/>
              </a:rPr>
              <a:t>00:001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532908" y="5906501"/>
            <a:ext cx="434340" cy="155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spc="-10">
                <a:solidFill>
                  <a:srgbClr val="131313"/>
                </a:solidFill>
                <a:latin typeface="Cambria"/>
                <a:cs typeface="Cambria"/>
              </a:rPr>
              <a:t>00:00:OS</a:t>
            </a:r>
            <a:endParaRPr sz="850">
              <a:latin typeface="Cambria"/>
              <a:cs typeface="Cambria"/>
            </a:endParaRPr>
          </a:p>
        </p:txBody>
      </p:sp>
      <p:pic>
        <p:nvPicPr>
          <p:cNvPr id="35" name="object 35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0" y="228600"/>
            <a:ext cx="10058400" cy="70104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2460" y="4649723"/>
            <a:ext cx="170687" cy="55930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26792" y="4649723"/>
            <a:ext cx="105156" cy="55930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776727" y="3558540"/>
            <a:ext cx="105156" cy="165049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756903" y="2743200"/>
            <a:ext cx="262127" cy="13106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592311" y="6326123"/>
            <a:ext cx="1466087" cy="39928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43840" y="3945635"/>
            <a:ext cx="59435" cy="53339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217931" y="4005072"/>
            <a:ext cx="321945" cy="269875"/>
            <a:chOff x="217931" y="4005072"/>
            <a:chExt cx="321945" cy="269875"/>
          </a:xfrm>
        </p:grpSpPr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43840" y="4189476"/>
              <a:ext cx="59435" cy="85343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17931" y="4005072"/>
              <a:ext cx="321563" cy="178307"/>
            </a:xfrm>
            <a:prstGeom prst="rect">
              <a:avLst/>
            </a:prstGeom>
          </p:spPr>
        </p:pic>
      </p:grpSp>
      <p:pic>
        <p:nvPicPr>
          <p:cNvPr id="11" name="object 1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599688" y="3118103"/>
            <a:ext cx="71627" cy="71627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3605784" y="3380232"/>
            <a:ext cx="65532" cy="73151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3605784" y="3906011"/>
            <a:ext cx="59435" cy="73151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3605784" y="4169664"/>
            <a:ext cx="65532" cy="79247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3611879" y="4439411"/>
            <a:ext cx="53339" cy="71627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3605784" y="5498592"/>
            <a:ext cx="59435" cy="65531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4052315" y="3118103"/>
            <a:ext cx="553211" cy="71627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4052315" y="4439411"/>
            <a:ext cx="711708" cy="71627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7664196" y="1539240"/>
            <a:ext cx="1961387" cy="105155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231647" y="3220211"/>
            <a:ext cx="1179575" cy="80772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4046220" y="3640835"/>
            <a:ext cx="854964" cy="82296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217931" y="4360164"/>
            <a:ext cx="85344" cy="99059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9453371" y="1908048"/>
            <a:ext cx="605028" cy="347471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220509" y="2517300"/>
            <a:ext cx="1054735" cy="441959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170"/>
              </a:spcBef>
            </a:pPr>
            <a:r>
              <a:rPr dirty="0" sz="850">
                <a:latin typeface="Calibri"/>
                <a:cs typeface="Calibri"/>
              </a:rPr>
              <a:t>Prediction</a:t>
            </a:r>
            <a:r>
              <a:rPr dirty="0" sz="850" spc="204">
                <a:latin typeface="Calibri"/>
                <a:cs typeface="Calibri"/>
              </a:rPr>
              <a:t> </a:t>
            </a:r>
            <a:r>
              <a:rPr dirty="0" sz="850" spc="-20">
                <a:solidFill>
                  <a:srgbClr val="232323"/>
                </a:solidFill>
                <a:latin typeface="Calibri"/>
                <a:cs typeface="Calibri"/>
              </a:rPr>
              <a:t>type</a:t>
            </a:r>
            <a:endParaRPr sz="8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z="1700" spc="40">
                <a:latin typeface="Calibri"/>
                <a:cs typeface="Calibri"/>
              </a:rPr>
              <a:t>Regression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69487" y="5258850"/>
            <a:ext cx="438784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spc="-10">
                <a:latin typeface="Arial MT"/>
                <a:cs typeface="Arial MT"/>
              </a:rPr>
              <a:t>15168.63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372610" y="5420307"/>
            <a:ext cx="6396355" cy="6184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>
                <a:latin typeface="Calibri"/>
                <a:cs typeface="Calibri"/>
              </a:rPr>
              <a:t>Prediction </a:t>
            </a:r>
            <a:r>
              <a:rPr dirty="0" sz="950" spc="-10">
                <a:latin typeface="Calibri"/>
                <a:cs typeface="Calibri"/>
              </a:rPr>
              <a:t>value</a:t>
            </a:r>
            <a:endParaRPr sz="95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9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950">
              <a:latin typeface="Calibri"/>
              <a:cs typeface="Calibri"/>
            </a:endParaRPr>
          </a:p>
          <a:p>
            <a:pPr marL="1231265">
              <a:lnSpc>
                <a:spcPct val="100000"/>
              </a:lnSpc>
              <a:spcBef>
                <a:spcPts val="5"/>
              </a:spcBef>
            </a:pPr>
            <a:r>
              <a:rPr dirty="0" sz="900">
                <a:solidFill>
                  <a:srgbClr val="90A5CF"/>
                </a:solidFill>
                <a:latin typeface="Calibri"/>
                <a:cs typeface="Calibri"/>
              </a:rPr>
              <a:t>Projects</a:t>
            </a:r>
            <a:r>
              <a:rPr dirty="0" sz="900" spc="440">
                <a:solidFill>
                  <a:srgbClr val="90A5CF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7C7C7C"/>
                </a:solidFill>
                <a:latin typeface="Calibri"/>
                <a:cs typeface="Calibri"/>
              </a:rPr>
              <a:t>/</a:t>
            </a:r>
            <a:r>
              <a:rPr dirty="0" sz="900" spc="180">
                <a:solidFill>
                  <a:srgbClr val="7C7C7C"/>
                </a:solidFill>
                <a:latin typeface="Calibri"/>
                <a:cs typeface="Calibri"/>
              </a:rPr>
              <a:t>  </a:t>
            </a:r>
            <a:r>
              <a:rPr dirty="0" sz="900">
                <a:solidFill>
                  <a:srgbClr val="495B89"/>
                </a:solidFill>
                <a:latin typeface="Calibri"/>
                <a:cs typeface="Calibri"/>
              </a:rPr>
              <a:t>preclicting</a:t>
            </a:r>
            <a:r>
              <a:rPr dirty="0" sz="900" spc="200">
                <a:solidFill>
                  <a:srgbClr val="495B8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5980B8"/>
                </a:solidFill>
                <a:latin typeface="Calibri"/>
                <a:cs typeface="Calibri"/>
              </a:rPr>
              <a:t>eligibility</a:t>
            </a:r>
            <a:r>
              <a:rPr dirty="0" sz="900" spc="265">
                <a:solidFill>
                  <a:srgbClr val="5980B8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526EA3"/>
                </a:solidFill>
                <a:latin typeface="Calibri"/>
                <a:cs typeface="Calibri"/>
              </a:rPr>
              <a:t>fnr</a:t>
            </a:r>
            <a:r>
              <a:rPr dirty="0" sz="900" spc="105">
                <a:solidFill>
                  <a:srgbClr val="526EA3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6080C3"/>
                </a:solidFill>
                <a:latin typeface="Calibri"/>
                <a:cs typeface="Calibri"/>
              </a:rPr>
              <a:t>NSAP</a:t>
            </a:r>
            <a:r>
              <a:rPr dirty="0" sz="900" spc="175">
                <a:solidFill>
                  <a:srgbClr val="6080C3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5B7CAC"/>
                </a:solidFill>
                <a:latin typeface="Calibri"/>
                <a:cs typeface="Calibri"/>
              </a:rPr>
              <a:t>schemes</a:t>
            </a:r>
            <a:r>
              <a:rPr dirty="0" sz="900" spc="215">
                <a:solidFill>
                  <a:srgbClr val="5B7CAC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3656A1"/>
                </a:solidFill>
                <a:latin typeface="Calibri"/>
                <a:cs typeface="Calibri"/>
              </a:rPr>
              <a:t>project</a:t>
            </a:r>
            <a:r>
              <a:rPr dirty="0" sz="900" spc="185">
                <a:solidFill>
                  <a:srgbClr val="3656A1"/>
                </a:solidFill>
                <a:latin typeface="Calibri"/>
                <a:cs typeface="Calibri"/>
              </a:rPr>
              <a:t>  </a:t>
            </a:r>
            <a:r>
              <a:rPr dirty="0" sz="900">
                <a:solidFill>
                  <a:srgbClr val="727272"/>
                </a:solidFill>
                <a:latin typeface="Calibri"/>
                <a:cs typeface="Calibri"/>
              </a:rPr>
              <a:t>/</a:t>
            </a:r>
            <a:r>
              <a:rPr dirty="0" sz="900" spc="204">
                <a:solidFill>
                  <a:srgbClr val="727272"/>
                </a:solidFill>
                <a:latin typeface="Calibri"/>
                <a:cs typeface="Calibri"/>
              </a:rPr>
              <a:t>  </a:t>
            </a:r>
            <a:r>
              <a:rPr dirty="0" sz="900">
                <a:solidFill>
                  <a:srgbClr val="212121"/>
                </a:solidFill>
                <a:latin typeface="Calibri"/>
                <a:cs typeface="Calibri"/>
              </a:rPr>
              <a:t>precl</a:t>
            </a:r>
            <a:r>
              <a:rPr dirty="0" sz="900">
                <a:solidFill>
                  <a:srgbClr val="343434"/>
                </a:solidFill>
                <a:latin typeface="Calibri"/>
                <a:cs typeface="Calibri"/>
              </a:rPr>
              <a:t>icting</a:t>
            </a:r>
            <a:r>
              <a:rPr dirty="0" sz="900" spc="105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313131"/>
                </a:solidFill>
                <a:latin typeface="Calibri"/>
                <a:cs typeface="Calibri"/>
              </a:rPr>
              <a:t>Etigihility</a:t>
            </a:r>
            <a:r>
              <a:rPr dirty="0" sz="900" spc="180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313131"/>
                </a:solidFill>
                <a:latin typeface="Calibri"/>
                <a:cs typeface="Calibri"/>
              </a:rPr>
              <a:t>for</a:t>
            </a:r>
            <a:r>
              <a:rPr dirty="0" sz="900" spc="85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dirty="0" sz="900" spc="75">
                <a:solidFill>
                  <a:srgbClr val="343434"/>
                </a:solidFill>
                <a:latin typeface="Calibri"/>
                <a:cs typeface="Calibri"/>
              </a:rPr>
              <a:t>NASP</a:t>
            </a:r>
            <a:r>
              <a:rPr dirty="0" sz="900" spc="22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dirty="0" sz="900" spc="45">
                <a:solidFill>
                  <a:srgbClr val="1A1A1A"/>
                </a:solidFill>
                <a:latin typeface="Calibri"/>
                <a:cs typeface="Calibri"/>
              </a:rPr>
              <a:t>schemes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475997" y="5235926"/>
            <a:ext cx="51054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60">
                <a:solidFill>
                  <a:srgbClr val="080808"/>
                </a:solidFill>
                <a:latin typeface="Courier New"/>
                <a:cs typeface="Courier New"/>
              </a:rPr>
              <a:t>15i83.40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353783" y="2445503"/>
            <a:ext cx="1776095" cy="4127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5745" marR="5080" indent="-233679">
              <a:lnSpc>
                <a:spcPct val="141100"/>
              </a:lnSpc>
              <a:spcBef>
                <a:spcPts val="100"/>
              </a:spcBef>
              <a:tabLst>
                <a:tab pos="1229360" algn="l"/>
              </a:tabLst>
            </a:pPr>
            <a:r>
              <a:rPr dirty="0" sz="900">
                <a:latin typeface="Calibri"/>
                <a:cs typeface="Calibri"/>
              </a:rPr>
              <a:t>Display</a:t>
            </a:r>
            <a:r>
              <a:rPr dirty="0" sz="900" spc="15"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0C0C0C"/>
                </a:solidFill>
                <a:latin typeface="Calibri"/>
                <a:cs typeface="Calibri"/>
              </a:rPr>
              <a:t>format</a:t>
            </a:r>
            <a:r>
              <a:rPr dirty="0" sz="900" spc="-15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12121"/>
                </a:solidFill>
                <a:latin typeface="Calibri"/>
                <a:cs typeface="Calibri"/>
              </a:rPr>
              <a:t>for</a:t>
            </a:r>
            <a:r>
              <a:rPr dirty="0" sz="900" spc="-3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prediction </a:t>
            </a:r>
            <a:r>
              <a:rPr dirty="0" sz="900" spc="-10">
                <a:latin typeface="Calibri"/>
                <a:cs typeface="Calibri"/>
              </a:rPr>
              <a:t>results</a:t>
            </a:r>
            <a:r>
              <a:rPr dirty="0" sz="900" spc="500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Table</a:t>
            </a:r>
            <a:r>
              <a:rPr dirty="0" sz="900" spc="215">
                <a:latin typeface="Calibri"/>
                <a:cs typeface="Calibri"/>
              </a:rPr>
              <a:t> </a:t>
            </a:r>
            <a:r>
              <a:rPr dirty="0" sz="900" spc="-20">
                <a:latin typeface="Calibri"/>
                <a:cs typeface="Calibri"/>
              </a:rPr>
              <a:t>view</a:t>
            </a:r>
            <a:r>
              <a:rPr dirty="0" sz="900">
                <a:latin typeface="Calibri"/>
                <a:cs typeface="Calibri"/>
              </a:rPr>
              <a:t>	I</a:t>
            </a:r>
            <a:r>
              <a:rPr dirty="0" sz="900" spc="-45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S</a:t>
            </a:r>
            <a:r>
              <a:rPr dirty="0" sz="900" spc="-50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D</a:t>
            </a:r>
            <a:r>
              <a:rPr dirty="0" sz="900" spc="-60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N</a:t>
            </a:r>
            <a:r>
              <a:rPr dirty="0" sz="900" spc="135">
                <a:latin typeface="Calibri"/>
                <a:cs typeface="Calibri"/>
              </a:rPr>
              <a:t> </a:t>
            </a:r>
            <a:r>
              <a:rPr dirty="0" sz="900" spc="-30">
                <a:latin typeface="Calibri"/>
                <a:cs typeface="Calibri"/>
              </a:rPr>
              <a:t>view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030484" y="3315720"/>
            <a:ext cx="70993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45">
                <a:latin typeface="Calibri"/>
                <a:cs typeface="Calibri"/>
              </a:rPr>
              <a:t>15183.40625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027415" y="3835364"/>
            <a:ext cx="1032510" cy="4337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latin typeface="Courier New"/>
                <a:cs typeface="Courier New"/>
              </a:rPr>
              <a:t>15181.568359375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95"/>
              </a:spcBef>
            </a:pPr>
            <a:r>
              <a:rPr dirty="0" sz="950">
                <a:latin typeface="Courier New"/>
                <a:cs typeface="Courier New"/>
              </a:rPr>
              <a:t>1</a:t>
            </a:r>
            <a:r>
              <a:rPr dirty="0" sz="950" spc="480">
                <a:latin typeface="Courier New"/>
                <a:cs typeface="Courier New"/>
              </a:rPr>
              <a:t> </a:t>
            </a:r>
            <a:r>
              <a:rPr dirty="0" sz="950" spc="-10">
                <a:latin typeface="Courier New"/>
                <a:cs typeface="Courier New"/>
              </a:rPr>
              <a:t>S3.40G25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709701" y="1500629"/>
            <a:ext cx="396240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spc="-10">
                <a:solidFill>
                  <a:srgbClr val="6E59A1"/>
                </a:solidFill>
                <a:latin typeface="Calibri"/>
                <a:cs typeface="Calibri"/>
              </a:rPr>
              <a:t>upgrade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9068768" y="2704596"/>
            <a:ext cx="77724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latin typeface="Calibri"/>
                <a:cs typeface="Calibri"/>
              </a:rPr>
              <a:t>Show</a:t>
            </a:r>
            <a:r>
              <a:rPr dirty="0" sz="900" spc="-20"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0A0A0A"/>
                </a:solidFill>
                <a:latin typeface="Calibri"/>
                <a:cs typeface="Calibri"/>
              </a:rPr>
              <a:t>input</a:t>
            </a:r>
            <a:r>
              <a:rPr dirty="0" sz="900" spc="-20">
                <a:solidFill>
                  <a:srgbClr val="0A0A0A"/>
                </a:solidFill>
                <a:latin typeface="Calibri"/>
                <a:cs typeface="Calibri"/>
              </a:rPr>
              <a:t> </a:t>
            </a:r>
            <a:r>
              <a:rPr dirty="0" sz="900" spc="-20">
                <a:latin typeface="Calibri"/>
                <a:cs typeface="Calibri"/>
              </a:rPr>
              <a:t>oata</a:t>
            </a:r>
            <a:endParaRPr sz="900">
              <a:latin typeface="Calibri"/>
              <a:cs typeface="Calibri"/>
            </a:endParaRPr>
          </a:p>
        </p:txBody>
      </p:sp>
      <p:pic>
        <p:nvPicPr>
          <p:cNvPr id="33" name="object 33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0" y="499872"/>
            <a:ext cx="10058400" cy="677417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15823"/>
            <a:ext cx="10058400" cy="754227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88919" y="3319272"/>
            <a:ext cx="4465319" cy="150113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2A344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himabindu kanuri</dc:creator>
  <dc:title>Microsoft PowerPoint - durgaprasad project ppt</dc:title>
  <dcterms:created xsi:type="dcterms:W3CDTF">2026-06-12T15:39:04Z</dcterms:created>
  <dcterms:modified xsi:type="dcterms:W3CDTF">2026-06-12T15:39:04Z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2026-06-12T00:00:00Z</vt:filetime>
  </property>
  <property fmtid="{D5CDD505-2E9C-101B-9397-08002B2CF9AE}" pid="4" name="LastSaved">
    <vt:filetime>2026-06-12T00:00:00Z</vt:filetime>
  </property>
  <property fmtid="{D5CDD505-2E9C-101B-9397-08002B2CF9AE}" pid="5" name="Producer">
    <vt:lpwstr>Microsoft: Print To PDF</vt:lpwstr>
  </property>
</Properties>
</file>