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4334" y="2471439"/>
            <a:ext cx="8029730" cy="1602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2A34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2A34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3613" y="1474688"/>
            <a:ext cx="2948940" cy="327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2330" y="1863380"/>
            <a:ext cx="8332470" cy="434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2A34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namdevula1/PREDICTING-THE-ELIGIBILITY-FOR-NSAP-USING-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jpg"/><Relationship Id="rId19" Type="http://schemas.openxmlformats.org/officeDocument/2006/relationships/image" Target="../media/image2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image" Target="../media/image30.jp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jpg"/><Relationship Id="rId19" Type="http://schemas.openxmlformats.org/officeDocument/2006/relationships/image" Target="../media/image43.png"/><Relationship Id="rId20" Type="http://schemas.openxmlformats.org/officeDocument/2006/relationships/image" Target="../media/image44.jp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7315" rIns="0" bIns="0" rtlCol="0" vert="horz">
            <a:spAutoFit/>
          </a:bodyPr>
          <a:lstStyle/>
          <a:p>
            <a:pPr marL="1275715" marR="5080" indent="-1263650">
              <a:lnSpc>
                <a:spcPts val="5880"/>
              </a:lnSpc>
              <a:spcBef>
                <a:spcPts val="845"/>
              </a:spcBef>
            </a:pPr>
            <a:r>
              <a:rPr dirty="0" sz="5450">
                <a:latin typeface="Calibri"/>
                <a:cs typeface="Calibri"/>
              </a:rPr>
              <a:t>IBM</a:t>
            </a:r>
            <a:r>
              <a:rPr dirty="0" sz="5450" spc="-100">
                <a:latin typeface="Calibri"/>
                <a:cs typeface="Calibri"/>
              </a:rPr>
              <a:t> </a:t>
            </a:r>
            <a:r>
              <a:rPr dirty="0" sz="5450">
                <a:latin typeface="Calibri"/>
                <a:cs typeface="Calibri"/>
              </a:rPr>
              <a:t>University</a:t>
            </a:r>
            <a:r>
              <a:rPr dirty="0" sz="5450" spc="-145">
                <a:latin typeface="Calibri"/>
                <a:cs typeface="Calibri"/>
              </a:rPr>
              <a:t> </a:t>
            </a:r>
            <a:r>
              <a:rPr dirty="0" sz="5450" spc="-10">
                <a:latin typeface="Calibri"/>
                <a:cs typeface="Calibri"/>
              </a:rPr>
              <a:t>Engagement </a:t>
            </a:r>
            <a:r>
              <a:rPr dirty="0" sz="5450">
                <a:latin typeface="Calibri"/>
                <a:cs typeface="Calibri"/>
              </a:rPr>
              <a:t>Project</a:t>
            </a:r>
            <a:r>
              <a:rPr dirty="0" sz="5450" spc="-100">
                <a:latin typeface="Calibri"/>
                <a:cs typeface="Calibri"/>
              </a:rPr>
              <a:t> </a:t>
            </a:r>
            <a:r>
              <a:rPr dirty="0" sz="5450" spc="-10">
                <a:latin typeface="Calibri"/>
                <a:cs typeface="Calibri"/>
              </a:rPr>
              <a:t>Submission</a:t>
            </a:r>
            <a:endParaRPr sz="5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061" y="4361183"/>
            <a:ext cx="710310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“Exploring</a:t>
            </a:r>
            <a:r>
              <a:rPr dirty="0" sz="1950" spc="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the</a:t>
            </a:r>
            <a:r>
              <a:rPr dirty="0" sz="1950" spc="5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Power</a:t>
            </a:r>
            <a:r>
              <a:rPr dirty="0" sz="1950" spc="5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of</a:t>
            </a:r>
            <a:r>
              <a:rPr dirty="0" sz="1950" spc="1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Agentic</a:t>
            </a:r>
            <a:r>
              <a:rPr dirty="0" sz="1950" spc="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dirty="0" sz="1950" spc="1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with</a:t>
            </a:r>
            <a:r>
              <a:rPr dirty="0" sz="1950" spc="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z="1950" spc="4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Granite</a:t>
            </a:r>
            <a:r>
              <a:rPr dirty="0" sz="1950" spc="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and</a:t>
            </a:r>
            <a:r>
              <a:rPr dirty="0" sz="1950" spc="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spc="-10" b="1" i="1">
                <a:solidFill>
                  <a:srgbClr val="878787"/>
                </a:solidFill>
                <a:latin typeface="Calibri"/>
                <a:cs typeface="Calibri"/>
              </a:rPr>
              <a:t>LangFlow”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895" y="3203448"/>
            <a:ext cx="7751064" cy="178765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561" y="3198114"/>
          <a:ext cx="7838440" cy="1786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3705"/>
                <a:gridCol w="2014855"/>
                <a:gridCol w="2016125"/>
                <a:gridCol w="2016124"/>
              </a:tblGrid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6379">
                        <a:lnSpc>
                          <a:spcPct val="100000"/>
                        </a:lnSpc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4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0">
                          <a:latin typeface="Arial MT"/>
                          <a:cs typeface="Arial MT"/>
                        </a:rPr>
                        <a:t>Name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8825" marR="302895" indent="-449580">
                        <a:lnSpc>
                          <a:spcPct val="102800"/>
                        </a:lnSpc>
                        <a:spcBef>
                          <a:spcPts val="1320"/>
                        </a:spcBef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4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10">
                          <a:latin typeface="Arial MT"/>
                          <a:cs typeface="Arial MT"/>
                        </a:rPr>
                        <a:t>Passport Photo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5024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Email</a:t>
                      </a:r>
                      <a:r>
                        <a:rPr dirty="0" sz="14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5">
                          <a:latin typeface="Arial MT"/>
                          <a:cs typeface="Arial MT"/>
                        </a:rPr>
                        <a:t>ID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 marR="377825" indent="-134620">
                        <a:lnSpc>
                          <a:spcPct val="102800"/>
                        </a:lnSpc>
                        <a:spcBef>
                          <a:spcPts val="1320"/>
                        </a:spcBef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4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10">
                          <a:latin typeface="Arial MT"/>
                          <a:cs typeface="Arial MT"/>
                        </a:rPr>
                        <a:t>number [WhatsApp]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84250">
                <a:tc>
                  <a:txBody>
                    <a:bodyPr/>
                    <a:lstStyle/>
                    <a:p>
                      <a:pPr marL="74295" marR="4489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50">
                          <a:latin typeface="Arial MT"/>
                          <a:cs typeface="Arial MT"/>
                        </a:rPr>
                        <a:t>DURGA </a:t>
                      </a:r>
                      <a:r>
                        <a:rPr dirty="0" sz="1150" spc="-10">
                          <a:latin typeface="Arial MT"/>
                          <a:cs typeface="Arial MT"/>
                        </a:rPr>
                        <a:t>PRASAD ANNAMDEVULA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80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annamdevuladurgaprasad88 @gmail.com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9618762533</a:t>
                      </a:r>
                      <a:endParaRPr sz="1150">
                        <a:latin typeface="Arial MT"/>
                        <a:cs typeface="Arial MT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9618762533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57104" y="2280878"/>
            <a:ext cx="24536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latin typeface="Arial"/>
                <a:cs typeface="Arial"/>
              </a:rPr>
              <a:t>Domain</a:t>
            </a:r>
            <a:r>
              <a:rPr dirty="0" sz="1950" spc="4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of</a:t>
            </a:r>
            <a:r>
              <a:rPr dirty="0" sz="1950" spc="30" b="1">
                <a:latin typeface="Arial"/>
                <a:cs typeface="Arial"/>
              </a:rPr>
              <a:t>  </a:t>
            </a:r>
            <a:r>
              <a:rPr dirty="0" sz="1950" b="1">
                <a:latin typeface="Arial"/>
                <a:cs typeface="Arial"/>
              </a:rPr>
              <a:t>Project</a:t>
            </a:r>
            <a:r>
              <a:rPr dirty="0" sz="1950" spc="25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–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0732" y="2321051"/>
            <a:ext cx="5626735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1950" b="1">
                <a:latin typeface="Arial"/>
                <a:cs typeface="Arial"/>
              </a:rPr>
              <a:t>[</a:t>
            </a:r>
            <a:r>
              <a:rPr dirty="0" sz="1950" spc="5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Machine</a:t>
            </a:r>
            <a:r>
              <a:rPr dirty="0" sz="1950" spc="4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Learning</a:t>
            </a:r>
            <a:r>
              <a:rPr dirty="0" sz="1950" spc="3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/</a:t>
            </a:r>
            <a:r>
              <a:rPr dirty="0" sz="1950" spc="4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Social</a:t>
            </a:r>
            <a:r>
              <a:rPr dirty="0" sz="1950" spc="1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Welfare</a:t>
            </a:r>
            <a:r>
              <a:rPr dirty="0" sz="1950" spc="5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Analytics</a:t>
            </a:r>
            <a:r>
              <a:rPr dirty="0" sz="1950" spc="50" b="1">
                <a:latin typeface="Arial"/>
                <a:cs typeface="Arial"/>
              </a:rPr>
              <a:t>  </a:t>
            </a:r>
            <a:r>
              <a:rPr dirty="0" sz="1950" spc="-50" b="1">
                <a:latin typeface="Arial"/>
                <a:cs typeface="Arial"/>
              </a:rPr>
              <a:t>]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7104" y="1531045"/>
            <a:ext cx="15887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latin typeface="Arial"/>
                <a:cs typeface="Arial"/>
              </a:rPr>
              <a:t>Project</a:t>
            </a:r>
            <a:r>
              <a:rPr dirty="0" sz="1950" spc="5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Tile</a:t>
            </a:r>
            <a:r>
              <a:rPr dirty="0" sz="1950" spc="30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–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5100" y="1571244"/>
            <a:ext cx="565150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1950" b="1">
                <a:latin typeface="Arial"/>
                <a:cs typeface="Arial"/>
              </a:rPr>
              <a:t>[Predicting</a:t>
            </a:r>
            <a:r>
              <a:rPr dirty="0" sz="1950" spc="2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Eligibility</a:t>
            </a:r>
            <a:r>
              <a:rPr dirty="0" sz="1950" spc="4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For</a:t>
            </a:r>
            <a:r>
              <a:rPr dirty="0" sz="1950" spc="5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NSAP</a:t>
            </a:r>
            <a:r>
              <a:rPr dirty="0" sz="1950" spc="7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Using</a:t>
            </a:r>
            <a:r>
              <a:rPr dirty="0" sz="1950" spc="55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Machine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1372" y="1872996"/>
            <a:ext cx="114808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1950" spc="-10" b="1">
                <a:latin typeface="Arial"/>
                <a:cs typeface="Arial"/>
              </a:rPr>
              <a:t>Learning]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0044" y="4037076"/>
            <a:ext cx="646175" cy="954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40" y="2098063"/>
            <a:ext cx="8559165" cy="3719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Problem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Statement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: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Predicting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Eligibility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NSAP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Using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Machine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Learning.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10" b="1">
                <a:latin typeface="Arial"/>
                <a:cs typeface="Arial"/>
              </a:rPr>
              <a:t> Challenge</a:t>
            </a:r>
            <a:endParaRPr sz="1150">
              <a:latin typeface="Arial"/>
              <a:cs typeface="Arial"/>
            </a:endParaRPr>
          </a:p>
          <a:p>
            <a:pPr marL="12700" marR="335280">
              <a:lnSpc>
                <a:spcPts val="1390"/>
              </a:lnSpc>
              <a:spcBef>
                <a:spcPts val="40"/>
              </a:spcBef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National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Social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Assistance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Programme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(NSAP)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 financial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assistance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elderly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persons,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widows,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persons</a:t>
            </a:r>
            <a:r>
              <a:rPr dirty="0" sz="1150" spc="-20">
                <a:latin typeface="Arial MT"/>
                <a:cs typeface="Arial MT"/>
              </a:rPr>
              <a:t> with </a:t>
            </a:r>
            <a:r>
              <a:rPr dirty="0" sz="1150">
                <a:latin typeface="Arial MT"/>
                <a:cs typeface="Arial MT"/>
              </a:rPr>
              <a:t>disabilities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belonging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Below Poverty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(BPL)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households.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current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process of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Analysis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verifying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applications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assigning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welfare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time-</a:t>
            </a:r>
            <a:r>
              <a:rPr dirty="0" sz="1150">
                <a:latin typeface="Arial MT"/>
                <a:cs typeface="Arial MT"/>
              </a:rPr>
              <a:t>consuming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prone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errors.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Incorrect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classification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delay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prevent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deserving beneficiaries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receiving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assistance.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10" b="1">
                <a:latin typeface="Arial"/>
                <a:cs typeface="Arial"/>
              </a:rPr>
              <a:t> Objective</a:t>
            </a:r>
            <a:endParaRPr sz="1150">
              <a:latin typeface="Arial"/>
              <a:cs typeface="Arial"/>
            </a:endParaRPr>
          </a:p>
          <a:p>
            <a:pPr marL="12700" marR="126364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Build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Learning-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appropriate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 using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demographic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and </a:t>
            </a:r>
            <a:r>
              <a:rPr dirty="0" sz="1150" spc="-10">
                <a:latin typeface="Arial MT"/>
                <a:cs typeface="Arial MT"/>
              </a:rPr>
              <a:t>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information.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10">
                <a:latin typeface="Arial MT"/>
                <a:cs typeface="Arial MT"/>
              </a:rPr>
              <a:t> should: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2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Applicant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Classification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Classify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applicants</a:t>
            </a:r>
            <a:r>
              <a:rPr dirty="0" sz="1150" spc="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3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Eligibility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 age,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gender,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disability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income,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other </a:t>
            </a:r>
            <a:r>
              <a:rPr dirty="0" sz="1150" spc="-10">
                <a:latin typeface="Arial MT"/>
                <a:cs typeface="Arial MT"/>
              </a:rPr>
              <a:t>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factors.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4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Analysis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 data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identify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allocation.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40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Automated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Decision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Support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government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agencies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reducing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manual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verification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efforts.</a:t>
            </a:r>
            <a:endParaRPr sz="1150">
              <a:latin typeface="Arial MT"/>
              <a:cs typeface="Arial MT"/>
            </a:endParaRPr>
          </a:p>
          <a:p>
            <a:pPr marL="12700" marR="609600" indent="91440">
              <a:lnSpc>
                <a:spcPct val="101400"/>
              </a:lnSpc>
              <a:spcBef>
                <a:spcPts val="20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Multi-Class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Classification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 Use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ML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algorithms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Regression,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 prediction.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2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Performance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Evaluation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Evaluate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Mean absolute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(MAE),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MSE,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RMSE.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3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Visualization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Dashboard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Display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district-</a:t>
            </a:r>
            <a:r>
              <a:rPr dirty="0" sz="1150">
                <a:latin typeface="Arial MT"/>
                <a:cs typeface="Arial MT"/>
              </a:rPr>
              <a:t>wise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 statistics,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distribution,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results.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7488" y="1656038"/>
            <a:ext cx="247078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75"/>
              <a:t> </a:t>
            </a:r>
            <a:r>
              <a:rPr dirty="0"/>
              <a:t>Statement</a:t>
            </a:r>
            <a:r>
              <a:rPr dirty="0" spc="70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663" y="2216935"/>
            <a:ext cx="3862070" cy="905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Tech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Stack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(Mandatory)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Use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b="1">
                <a:latin typeface="Arial"/>
                <a:cs typeface="Arial"/>
              </a:rPr>
              <a:t>any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one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following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approaches: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LangFlow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Agentic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Lab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with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Replicate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with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LangChain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RAG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663" y="3273068"/>
            <a:ext cx="42290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I</a:t>
            </a:r>
            <a:r>
              <a:rPr dirty="0" sz="1150" spc="-20">
                <a:latin typeface="Arial MT"/>
                <a:cs typeface="Arial MT"/>
              </a:rPr>
              <a:t> used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2604" y="3300984"/>
            <a:ext cx="1477645" cy="1651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1260"/>
              </a:lnSpc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studio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7488" y="1656038"/>
            <a:ext cx="211836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Technology</a:t>
            </a:r>
            <a:r>
              <a:rPr dirty="0" spc="70"/>
              <a:t> </a:t>
            </a:r>
            <a:r>
              <a:rPr dirty="0" spc="-20"/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35" y="2273300"/>
            <a:ext cx="8505190" cy="3747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Proposed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Solution: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Predicting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Eligibility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NSAP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Schemes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using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Machine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Learning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400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proposed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-10">
                <a:latin typeface="Arial MT"/>
                <a:cs typeface="Arial MT"/>
              </a:rPr>
              <a:t> Learning-</a:t>
            </a:r>
            <a:r>
              <a:rPr dirty="0" sz="1150">
                <a:latin typeface="Arial MT"/>
                <a:cs typeface="Arial MT"/>
              </a:rPr>
              <a:t>based eligibility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built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Python,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Lite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Services, 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AI </a:t>
            </a:r>
            <a:r>
              <a:rPr dirty="0" sz="1150">
                <a:latin typeface="Arial MT"/>
                <a:cs typeface="Arial MT"/>
              </a:rPr>
              <a:t>Kosh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datasets.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helps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government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agencies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automatically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identify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suitable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National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Social</a:t>
            </a:r>
            <a:r>
              <a:rPr dirty="0" sz="1150" spc="-10">
                <a:latin typeface="Arial MT"/>
                <a:cs typeface="Arial MT"/>
              </a:rPr>
              <a:t> Assistance </a:t>
            </a:r>
            <a:r>
              <a:rPr dirty="0" sz="1150">
                <a:latin typeface="Arial MT"/>
                <a:cs typeface="Arial MT"/>
              </a:rPr>
              <a:t>Programme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(NSAP) scheme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their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demographic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-10">
                <a:latin typeface="Arial MT"/>
                <a:cs typeface="Arial MT"/>
              </a:rPr>
              <a:t> information.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historical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AI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Kosh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including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factors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gender,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disability </a:t>
            </a:r>
            <a:r>
              <a:rPr dirty="0" sz="1150" spc="-10">
                <a:latin typeface="Arial MT"/>
                <a:cs typeface="Arial MT"/>
              </a:rPr>
              <a:t>status,</a:t>
            </a:r>
            <a:endParaRPr sz="1150">
              <a:latin typeface="Arial MT"/>
              <a:cs typeface="Arial MT"/>
            </a:endParaRPr>
          </a:p>
          <a:p>
            <a:pPr marL="12700" marR="11303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income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level,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BPL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information.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cleaned,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preprocessed,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multi-</a:t>
            </a:r>
            <a:r>
              <a:rPr dirty="0" sz="1150">
                <a:latin typeface="Arial MT"/>
                <a:cs typeface="Arial MT"/>
              </a:rPr>
              <a:t>class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classification model.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 consists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four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key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modules: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Processing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cleans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transforms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training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prediction.</a:t>
            </a:r>
            <a:endParaRPr sz="1150">
              <a:latin typeface="Arial MT"/>
              <a:cs typeface="Arial MT"/>
            </a:endParaRPr>
          </a:p>
          <a:p>
            <a:pPr marL="248920" marR="56515" indent="-236854">
              <a:lnSpc>
                <a:spcPct val="101400"/>
              </a:lnSpc>
              <a:spcBef>
                <a:spcPts val="10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Eligibility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Module:</a:t>
            </a:r>
            <a:r>
              <a:rPr dirty="0" sz="1450" spc="-1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uses Machine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Learning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algorithms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Random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Forest, Decision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Tree,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XGBoost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to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appropriate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scheme.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Beneficiary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Analysis Module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analyzes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trends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across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different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categories.</a:t>
            </a:r>
            <a:endParaRPr sz="1150">
              <a:latin typeface="Arial MT"/>
              <a:cs typeface="Arial MT"/>
            </a:endParaRPr>
          </a:p>
          <a:p>
            <a:pPr marL="248920" marR="383540" indent="-236854">
              <a:lnSpc>
                <a:spcPct val="101400"/>
              </a:lnSpc>
              <a:spcBef>
                <a:spcPts val="2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Visualization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Dashboard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scheme-</a:t>
            </a:r>
            <a:r>
              <a:rPr dirty="0" sz="1150">
                <a:latin typeface="Arial MT"/>
                <a:cs typeface="Arial MT"/>
              </a:rPr>
              <a:t>wise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statistics,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district-</a:t>
            </a:r>
            <a:r>
              <a:rPr dirty="0" sz="1150">
                <a:latin typeface="Arial MT"/>
                <a:cs typeface="Arial MT"/>
              </a:rPr>
              <a:t>wise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distribution,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 </a:t>
            </a:r>
            <a:r>
              <a:rPr dirty="0" sz="1150">
                <a:latin typeface="Arial MT"/>
                <a:cs typeface="Arial MT"/>
              </a:rPr>
              <a:t>results,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performance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metrics.</a:t>
            </a:r>
            <a:endParaRPr sz="1150">
              <a:latin typeface="Arial MT"/>
              <a:cs typeface="Arial MT"/>
            </a:endParaRPr>
          </a:p>
          <a:p>
            <a:pPr marL="247650" marR="244475" indent="-235585">
              <a:lnSpc>
                <a:spcPts val="1390"/>
              </a:lnSpc>
              <a:spcBef>
                <a:spcPts val="35"/>
              </a:spcBef>
              <a:buChar char="•"/>
              <a:tabLst>
                <a:tab pos="248920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user-</a:t>
            </a:r>
            <a:r>
              <a:rPr dirty="0" sz="1150">
                <a:latin typeface="Arial MT"/>
                <a:cs typeface="Arial MT"/>
              </a:rPr>
              <a:t>friendly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dashboard built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Streamlit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allows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users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enter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details 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instantly </a:t>
            </a:r>
            <a:r>
              <a:rPr dirty="0" sz="1150" spc="-10">
                <a:latin typeface="Arial MT"/>
                <a:cs typeface="Arial MT"/>
              </a:rPr>
              <a:t>	</a:t>
            </a:r>
            <a:r>
              <a:rPr dirty="0" sz="1150">
                <a:latin typeface="Arial MT"/>
                <a:cs typeface="Arial MT"/>
              </a:rPr>
              <a:t>receive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3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Lite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services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are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deployment,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storage,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application hosting.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 </a:t>
            </a:r>
            <a:r>
              <a:rPr dirty="0" sz="1150" spc="-20">
                <a:latin typeface="Arial MT"/>
                <a:cs typeface="Arial MT"/>
              </a:rPr>
              <a:t>fast</a:t>
            </a:r>
            <a:endParaRPr sz="11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accurate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predictions,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reducing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manual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effort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transparency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welfare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allocation.</a:t>
            </a:r>
            <a:endParaRPr sz="1150">
              <a:latin typeface="Arial MT"/>
              <a:cs typeface="Arial MT"/>
            </a:endParaRPr>
          </a:p>
          <a:p>
            <a:pPr marL="247650" marR="62230" indent="-235585">
              <a:lnSpc>
                <a:spcPts val="1390"/>
              </a:lnSpc>
              <a:spcBef>
                <a:spcPts val="35"/>
              </a:spcBef>
              <a:buChar char="•"/>
              <a:tabLst>
                <a:tab pos="248920" algn="l"/>
              </a:tabLst>
            </a:pPr>
            <a:r>
              <a:rPr dirty="0" sz="1150">
                <a:latin typeface="Arial MT"/>
                <a:cs typeface="Arial MT"/>
              </a:rPr>
              <a:t>Overall,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delivers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intelligent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decision-</a:t>
            </a:r>
            <a:r>
              <a:rPr dirty="0" sz="1150">
                <a:latin typeface="Arial MT"/>
                <a:cs typeface="Arial MT"/>
              </a:rPr>
              <a:t>support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helps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ensure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eligible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citizens receive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-20">
                <a:latin typeface="Arial MT"/>
                <a:cs typeface="Arial MT"/>
              </a:rPr>
              <a:t> NSAP </a:t>
            </a:r>
            <a:r>
              <a:rPr dirty="0" sz="1150" spc="-20">
                <a:latin typeface="Arial MT"/>
                <a:cs typeface="Arial MT"/>
              </a:rPr>
              <a:t>	</a:t>
            </a:r>
            <a:r>
              <a:rPr dirty="0" sz="1150">
                <a:latin typeface="Arial MT"/>
                <a:cs typeface="Arial MT"/>
              </a:rPr>
              <a:t>benefits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efficiently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accurately.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7488" y="1656038"/>
            <a:ext cx="241046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dirty="0" spc="55"/>
              <a:t> </a:t>
            </a:r>
            <a:r>
              <a:rPr dirty="0"/>
              <a:t>Solution</a:t>
            </a:r>
            <a:r>
              <a:rPr dirty="0" spc="60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790" y="1413788"/>
            <a:ext cx="429831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51C3A"/>
                </a:solidFill>
                <a:latin typeface="Times New Roman"/>
                <a:cs typeface="Times New Roman"/>
              </a:rPr>
              <a:t>Machine</a:t>
            </a:r>
            <a:r>
              <a:rPr dirty="0" spc="60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51C3A"/>
                </a:solidFill>
                <a:latin typeface="Times New Roman"/>
                <a:cs typeface="Times New Roman"/>
              </a:rPr>
              <a:t>Learning</a:t>
            </a:r>
            <a:r>
              <a:rPr dirty="0" spc="320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/>
              <a:t>component</a:t>
            </a:r>
            <a:r>
              <a:rPr dirty="0" spc="30"/>
              <a:t> </a:t>
            </a:r>
            <a:r>
              <a:rPr dirty="0"/>
              <a:t>Used</a:t>
            </a:r>
            <a:r>
              <a:rPr dirty="0" spc="65"/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007" y="1771927"/>
            <a:ext cx="7150100" cy="4453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35"/>
              </a:spcBef>
              <a:buSzPct val="79310"/>
              <a:buAutoNum type="arabicParenR"/>
              <a:tabLst>
                <a:tab pos="207010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Input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Collects NSAP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dataset.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Inputs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State,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Code,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Aadhaar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OBC,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details.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 MT"/>
                <a:cs typeface="Arial MT"/>
              </a:rPr>
              <a:t>2)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Preprocessing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Handles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missing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values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duplicate </a:t>
            </a:r>
            <a:r>
              <a:rPr dirty="0" sz="1150" spc="-10">
                <a:latin typeface="Arial MT"/>
                <a:cs typeface="Arial MT"/>
              </a:rPr>
              <a:t>records.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Converts categorical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(District,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State,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Code)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numerical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format.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Normalizes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prepares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training.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 MT"/>
                <a:cs typeface="Arial MT"/>
              </a:rPr>
              <a:t>3)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Feature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Selection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Selects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important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attributes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affecting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prediction: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  <a:tab pos="1703705" algn="l"/>
                <a:tab pos="2825750" algn="l"/>
              </a:tabLst>
            </a:pP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Code</a:t>
            </a:r>
            <a:r>
              <a:rPr dirty="0" sz="1150">
                <a:latin typeface="Arial MT"/>
                <a:cs typeface="Arial MT"/>
              </a:rPr>
              <a:t>	District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Name</a:t>
            </a:r>
            <a:r>
              <a:rPr dirty="0" sz="1150">
                <a:latin typeface="Arial MT"/>
                <a:cs typeface="Arial MT"/>
              </a:rPr>
              <a:t>	State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Name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  <a:tab pos="1737360" algn="l"/>
              </a:tabLst>
            </a:pPr>
            <a:r>
              <a:rPr dirty="0" sz="1150">
                <a:latin typeface="Arial MT"/>
                <a:cs typeface="Arial MT"/>
              </a:rPr>
              <a:t>Aadhaar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Availability</a:t>
            </a:r>
            <a:r>
              <a:rPr dirty="0" sz="1150">
                <a:latin typeface="Arial MT"/>
                <a:cs typeface="Arial MT"/>
              </a:rPr>
              <a:t>	Social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Category</a:t>
            </a:r>
            <a:r>
              <a:rPr dirty="0" sz="1150" spc="-10">
                <a:latin typeface="Arial MT"/>
                <a:cs typeface="Arial MT"/>
              </a:rPr>
              <a:t> (OBC/SC/ST)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Statistics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 MT"/>
                <a:cs typeface="Arial MT"/>
              </a:rPr>
              <a:t>4)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Machine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Learning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  <a:tab pos="1962785" algn="l"/>
              </a:tabLst>
            </a:pP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r>
              <a:rPr dirty="0" sz="1150">
                <a:latin typeface="Arial MT"/>
                <a:cs typeface="Arial MT"/>
              </a:rPr>
              <a:t>	Ridge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Trains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patterns.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 used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automatically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optimize,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compare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multiple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machine</a:t>
            </a:r>
            <a:endParaRPr sz="1150">
              <a:latin typeface="Arial MT"/>
              <a:cs typeface="Arial MT"/>
            </a:endParaRPr>
          </a:p>
          <a:p>
            <a:pPr marL="248285" marR="1143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learning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pension dataset.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 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characteristics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AutoAI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suitable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algorithms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development.</a:t>
            </a:r>
            <a:endParaRPr sz="1150">
              <a:latin typeface="Arial MT"/>
              <a:cs typeface="Arial MT"/>
            </a:endParaRPr>
          </a:p>
          <a:p>
            <a:pPr marL="248285" marR="328930" indent="-236220">
              <a:lnSpc>
                <a:spcPct val="100400"/>
              </a:lnSpc>
              <a:spcBef>
                <a:spcPts val="5"/>
              </a:spcBef>
              <a:buChar char="•"/>
              <a:tabLst>
                <a:tab pos="248285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enhanced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through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Feature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 (FE)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Hyperparameter </a:t>
            </a:r>
            <a:r>
              <a:rPr dirty="0" sz="1150">
                <a:latin typeface="Arial MT"/>
                <a:cs typeface="Arial MT"/>
              </a:rPr>
              <a:t>Optimization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(HPO)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performance.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 trained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evaluated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using cross-</a:t>
            </a:r>
            <a:r>
              <a:rPr dirty="0" sz="1150">
                <a:latin typeface="Arial MT"/>
                <a:cs typeface="Arial MT"/>
              </a:rPr>
              <a:t>validation,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their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performance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 measured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Root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Mean Squared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(RMSE).</a:t>
            </a:r>
            <a:endParaRPr sz="1150">
              <a:latin typeface="Arial MT"/>
              <a:cs typeface="Arial MT"/>
            </a:endParaRPr>
          </a:p>
          <a:p>
            <a:pPr marL="248285" indent="-236220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150">
                <a:latin typeface="Arial MT"/>
                <a:cs typeface="Arial MT"/>
              </a:rPr>
              <a:t>Among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all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pipelines, the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optimized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 Regression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achieved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best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</a:t>
            </a:r>
            <a:endParaRPr sz="1150">
              <a:latin typeface="Arial MT"/>
              <a:cs typeface="Arial MT"/>
            </a:endParaRPr>
          </a:p>
          <a:p>
            <a:pPr marL="248285" marR="38735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with 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lowest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RMSE score.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Therefore,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 pipeline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final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for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deployment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proposed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system.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284" y="1870939"/>
            <a:ext cx="7261859" cy="4101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latin typeface="Arial MT"/>
                <a:cs typeface="Arial MT"/>
              </a:rPr>
              <a:t>5)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Evaluation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Splits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Testing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datasets.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 evaluated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Cross-</a:t>
            </a:r>
            <a:r>
              <a:rPr dirty="0" sz="1150">
                <a:latin typeface="Arial MT"/>
                <a:cs typeface="Arial MT"/>
              </a:rPr>
              <a:t>Validation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RMSE.</a:t>
            </a:r>
            <a:endParaRPr sz="1150">
              <a:latin typeface="Arial MT"/>
              <a:cs typeface="Arial MT"/>
            </a:endParaRPr>
          </a:p>
          <a:p>
            <a:pPr marL="290195" indent="-277495">
              <a:lnSpc>
                <a:spcPct val="100000"/>
              </a:lnSpc>
              <a:buChar char="•"/>
              <a:tabLst>
                <a:tab pos="290195" algn="l"/>
              </a:tabLst>
            </a:pP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applied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Feature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(FE)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Hyperparameter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Optimization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(HPO)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Evaluates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performance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using</a:t>
            </a:r>
            <a:endParaRPr sz="1150">
              <a:latin typeface="Arial MT"/>
              <a:cs typeface="Arial MT"/>
            </a:endParaRPr>
          </a:p>
          <a:p>
            <a:pPr marL="417830" marR="1112520" indent="-40005">
              <a:lnSpc>
                <a:spcPts val="1390"/>
              </a:lnSpc>
              <a:spcBef>
                <a:spcPts val="40"/>
              </a:spcBef>
              <a:tabLst>
                <a:tab pos="1710689" algn="l"/>
                <a:tab pos="2299335" algn="l"/>
              </a:tabLst>
            </a:pPr>
            <a:r>
              <a:rPr dirty="0" sz="1150">
                <a:latin typeface="Arial MT"/>
                <a:cs typeface="Arial MT"/>
              </a:rPr>
              <a:t>cross</a:t>
            </a:r>
            <a:r>
              <a:rPr dirty="0" sz="1150" spc="-10">
                <a:latin typeface="Arial MT"/>
                <a:cs typeface="Arial MT"/>
              </a:rPr>
              <a:t> validation</a:t>
            </a:r>
            <a:r>
              <a:rPr dirty="0" sz="1150">
                <a:latin typeface="Arial MT"/>
                <a:cs typeface="Arial MT"/>
              </a:rPr>
              <a:t>	</a:t>
            </a:r>
            <a:r>
              <a:rPr dirty="0" sz="1150" spc="-20">
                <a:latin typeface="Arial MT"/>
                <a:cs typeface="Arial MT"/>
              </a:rPr>
              <a:t>RMSE</a:t>
            </a:r>
            <a:r>
              <a:rPr dirty="0" sz="1150">
                <a:latin typeface="Arial MT"/>
                <a:cs typeface="Arial MT"/>
              </a:rPr>
              <a:t>	Feature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</a:t>
            </a:r>
            <a:r>
              <a:rPr dirty="0" sz="1150" spc="140">
                <a:latin typeface="Arial MT"/>
                <a:cs typeface="Arial MT"/>
              </a:rPr>
              <a:t>  </a:t>
            </a:r>
            <a:r>
              <a:rPr dirty="0" sz="1150">
                <a:latin typeface="Arial MT"/>
                <a:cs typeface="Arial MT"/>
              </a:rPr>
              <a:t>HPO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Hyper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parameter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optimization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endParaRPr sz="1150">
              <a:latin typeface="Arial MT"/>
              <a:cs typeface="Arial MT"/>
            </a:endParaRPr>
          </a:p>
          <a:p>
            <a:pPr marL="175895" indent="-163195">
              <a:lnSpc>
                <a:spcPts val="1720"/>
              </a:lnSpc>
              <a:buSzPct val="79310"/>
              <a:buAutoNum type="arabicPeriod" startAt="6"/>
              <a:tabLst>
                <a:tab pos="175895" algn="l"/>
              </a:tabLst>
            </a:pP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90195" indent="-277495">
              <a:lnSpc>
                <a:spcPct val="100000"/>
              </a:lnSpc>
              <a:spcBef>
                <a:spcPts val="20"/>
              </a:spcBef>
              <a:buChar char="•"/>
              <a:tabLst>
                <a:tab pos="290195" algn="l"/>
              </a:tabLst>
            </a:pPr>
            <a:r>
              <a:rPr dirty="0" sz="1150">
                <a:latin typeface="Arial MT"/>
                <a:cs typeface="Arial MT"/>
              </a:rPr>
              <a:t>predicts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whether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eligible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 scheme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input</a:t>
            </a:r>
            <a:r>
              <a:rPr dirty="0" sz="1150" spc="-10">
                <a:latin typeface="Arial MT"/>
                <a:cs typeface="Arial MT"/>
              </a:rPr>
              <a:t> details.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Uses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input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features.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Processes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attributes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numerical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values.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Produces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15183.41,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15168.63,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15181.57.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table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graph</a:t>
            </a:r>
            <a:r>
              <a:rPr dirty="0" sz="1150" spc="-10">
                <a:latin typeface="Arial MT"/>
                <a:cs typeface="Arial MT"/>
              </a:rPr>
              <a:t> formats.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Supports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analysis 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planning.</a:t>
            </a:r>
            <a:endParaRPr sz="1150">
              <a:latin typeface="Arial MT"/>
              <a:cs typeface="Arial MT"/>
            </a:endParaRPr>
          </a:p>
          <a:p>
            <a:pPr marL="175895" indent="-163195">
              <a:lnSpc>
                <a:spcPct val="100000"/>
              </a:lnSpc>
              <a:spcBef>
                <a:spcPts val="25"/>
              </a:spcBef>
              <a:buSzPct val="79310"/>
              <a:buAutoNum type="arabicPeriod" startAt="7"/>
              <a:tabLst>
                <a:tab pos="175895" algn="l"/>
              </a:tabLst>
            </a:pPr>
            <a:r>
              <a:rPr dirty="0" sz="1450">
                <a:latin typeface="Arial MT"/>
                <a:cs typeface="Arial MT"/>
              </a:rPr>
              <a:t>Output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final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Learning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Presents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tabular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format.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Visualizes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graphs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charts.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Enables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users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 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interpret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values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easily.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outputs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support</a:t>
            </a:r>
            <a:r>
              <a:rPr dirty="0" sz="1150" spc="-10">
                <a:latin typeface="Arial MT"/>
                <a:cs typeface="Arial MT"/>
              </a:rPr>
              <a:t> decision-</a:t>
            </a:r>
            <a:r>
              <a:rPr dirty="0" sz="1150">
                <a:latin typeface="Arial MT"/>
                <a:cs typeface="Arial MT"/>
              </a:rPr>
              <a:t>making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planning.</a:t>
            </a:r>
            <a:endParaRPr sz="115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spcBef>
                <a:spcPts val="20"/>
              </a:spcBef>
              <a:buSzPct val="79310"/>
              <a:buAutoNum type="arabicPeriod" startAt="8"/>
              <a:tabLst>
                <a:tab pos="198120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Storage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2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Stores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future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use.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286" y="1413788"/>
            <a:ext cx="23812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051C3A"/>
                </a:solidFill>
                <a:latin typeface="Times New Roman"/>
                <a:cs typeface="Times New Roman"/>
              </a:rPr>
              <a:t>Langflow</a:t>
            </a:r>
            <a:r>
              <a:rPr dirty="0" sz="1950" spc="300" b="1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latin typeface="Arial"/>
                <a:cs typeface="Arial"/>
              </a:rPr>
              <a:t>workflow</a:t>
            </a:r>
            <a:r>
              <a:rPr dirty="0" sz="1950" spc="70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-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04" y="1825751"/>
            <a:ext cx="9614916" cy="4890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790" y="1297881"/>
            <a:ext cx="235331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latin typeface="Calibri"/>
                <a:cs typeface="Calibri"/>
              </a:rPr>
              <a:t>Architecture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blueprint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4" y="1616964"/>
            <a:ext cx="8668512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" y="1057655"/>
            <a:ext cx="6705599" cy="5554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Technology</a:t>
            </a:r>
            <a:r>
              <a:rPr dirty="0" spc="70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3620" y="2072130"/>
            <a:ext cx="6838950" cy="23647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Langflow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platform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-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Used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for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designing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orchestrating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AI</a:t>
            </a:r>
            <a:r>
              <a:rPr dirty="0" sz="1300" spc="8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workflows</a:t>
            </a:r>
            <a:r>
              <a:rPr dirty="0" sz="1300" spc="-10" b="1">
                <a:latin typeface="Arial"/>
                <a:cs typeface="Arial"/>
              </a:rPr>
              <a:t> visually</a:t>
            </a:r>
            <a:r>
              <a:rPr dirty="0" sz="1450" spc="-10" b="1"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Grainte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model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-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 for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natural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language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understanding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 intelligent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responses.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Cloud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– </a:t>
            </a: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secure and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scalable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infrastructure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deployment.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RAG–</a:t>
            </a:r>
            <a:r>
              <a:rPr dirty="0" sz="1450" spc="-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Provides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secure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scalable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infrastructure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deployment.</a:t>
            </a:r>
            <a:r>
              <a:rPr dirty="0" sz="1150" spc="-10">
                <a:latin typeface="Arial MT"/>
                <a:cs typeface="Arial MT"/>
              </a:rPr>
              <a:t>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Watsonx.ai-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Provides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secure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scalable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infrastructure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 </a:t>
            </a:r>
            <a:r>
              <a:rPr dirty="0" sz="1150" spc="-10" b="1">
                <a:latin typeface="Arial"/>
                <a:cs typeface="Arial"/>
              </a:rPr>
              <a:t>deployment.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Font typeface="Arial MT"/>
              <a:buChar char="•"/>
            </a:pPr>
            <a:endParaRPr sz="11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Vector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Database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(FAISS/Chroma) –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Stores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retrieves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documents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efficiently.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37045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b="0">
                <a:latin typeface="Calibri"/>
                <a:cs typeface="Calibri"/>
              </a:rPr>
              <a:t>Token</a:t>
            </a:r>
            <a:r>
              <a:rPr dirty="0" sz="3600" spc="45" b="0">
                <a:latin typeface="Calibri"/>
                <a:cs typeface="Calibri"/>
              </a:rPr>
              <a:t> </a:t>
            </a:r>
            <a:r>
              <a:rPr dirty="0" sz="3600" spc="-20" b="0">
                <a:latin typeface="Calibri"/>
                <a:cs typeface="Calibri"/>
              </a:rPr>
              <a:t>usage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95" y="2107692"/>
            <a:ext cx="9366503" cy="4608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Novelty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 spc="-10"/>
              <a:t>Uniqueness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6089" y="1857225"/>
            <a:ext cx="9142730" cy="2994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67564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proposed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NSAP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Eligibility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System</a:t>
            </a:r>
            <a:r>
              <a:rPr dirty="0" sz="1450" spc="114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combines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Machine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Learning,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RAG,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AI-</a:t>
            </a:r>
            <a:r>
              <a:rPr dirty="0" sz="1450" spc="-10">
                <a:latin typeface="Arial MT"/>
                <a:cs typeface="Arial MT"/>
              </a:rPr>
              <a:t>powered </a:t>
            </a:r>
            <a:r>
              <a:rPr dirty="0" sz="1450">
                <a:latin typeface="Arial MT"/>
                <a:cs typeface="Arial MT"/>
              </a:rPr>
              <a:t>assistance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simplify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identification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eligible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beneficiaries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government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welfare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schemes.</a:t>
            </a: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Automated Eligibility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 – U</a:t>
            </a:r>
            <a:r>
              <a:rPr dirty="0" sz="1150">
                <a:latin typeface="Arial MT"/>
                <a:cs typeface="Arial MT"/>
              </a:rPr>
              <a:t>ses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 learning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 and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accurately..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Data driven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Decision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Making–</a:t>
            </a:r>
            <a:r>
              <a:rPr dirty="0" sz="1450" spc="-1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Reduces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manual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screening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improves consistency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 beneficiary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selection.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4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RAG-Based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Information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Retrieval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Retrieves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latest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guidelines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 eligibility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criteria before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generating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responses.</a:t>
            </a:r>
            <a:endParaRPr sz="1150">
              <a:latin typeface="Arial MT"/>
              <a:cs typeface="Arial MT"/>
            </a:endParaRPr>
          </a:p>
          <a:p>
            <a:pPr marL="248285" marR="5080" indent="-236220">
              <a:lnSpc>
                <a:spcPct val="101400"/>
              </a:lnSpc>
              <a:spcBef>
                <a:spcPts val="2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Personalized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Scheme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Recommendation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 Suggests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 suitable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income,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disability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status,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other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-10">
                <a:latin typeface="Arial MT"/>
                <a:cs typeface="Arial MT"/>
              </a:rPr>
              <a:t> details.</a:t>
            </a:r>
            <a:endParaRPr sz="1150">
              <a:latin typeface="Arial MT"/>
              <a:cs typeface="Arial MT"/>
            </a:endParaRPr>
          </a:p>
          <a:p>
            <a:pPr marL="248285" marR="71120" indent="-236220">
              <a:lnSpc>
                <a:spcPct val="101400"/>
              </a:lnSpc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Real-Time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Query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Assistance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instant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answers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questions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regarding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benefits,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documents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required,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and </a:t>
            </a:r>
            <a:r>
              <a:rPr dirty="0" sz="1150">
                <a:latin typeface="Arial MT"/>
                <a:cs typeface="Arial MT"/>
              </a:rPr>
              <a:t>application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procedures.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Transparency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&amp;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Fairness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Minimizes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human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bias by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applying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uniform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criteria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across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applicants.</a:t>
            </a:r>
            <a:endParaRPr sz="1150">
              <a:latin typeface="Arial MT"/>
              <a:cs typeface="Arial MT"/>
            </a:endParaRPr>
          </a:p>
          <a:p>
            <a:pPr marL="248285" marR="426720" indent="-236220">
              <a:lnSpc>
                <a:spcPct val="101400"/>
              </a:lnSpc>
              <a:spcBef>
                <a:spcPts val="1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Scalable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&amp;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Government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Ready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Built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watsonx.ai,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Granite, and Langflow,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making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suitable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large-scale deployment.</a:t>
            </a:r>
            <a:endParaRPr sz="1150">
              <a:latin typeface="Arial MT"/>
              <a:cs typeface="Arial MT"/>
            </a:endParaRPr>
          </a:p>
          <a:p>
            <a:pPr marL="248285" marR="127000" indent="-236220">
              <a:lnSpc>
                <a:spcPct val="101400"/>
              </a:lnSpc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User-Friendly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Interface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Enables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citizens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officials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check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quickly and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efficiently–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Enables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citizens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officials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to </a:t>
            </a:r>
            <a:r>
              <a:rPr dirty="0" sz="1150">
                <a:latin typeface="Arial MT"/>
                <a:cs typeface="Arial MT"/>
              </a:rPr>
              <a:t>check eligibility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quickly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efficiently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130"/>
              </a:spcBef>
            </a:pPr>
            <a:r>
              <a:rPr dirty="0"/>
              <a:t>Git</a:t>
            </a:r>
            <a:r>
              <a:rPr dirty="0" spc="25"/>
              <a:t> </a:t>
            </a:r>
            <a:r>
              <a:rPr dirty="0"/>
              <a:t>Hub</a:t>
            </a:r>
            <a:r>
              <a:rPr dirty="0" spc="30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0" y="2085812"/>
            <a:ext cx="7483475" cy="1012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Please</a:t>
            </a:r>
            <a:r>
              <a:rPr dirty="0" sz="1500" spc="9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create</a:t>
            </a:r>
            <a:r>
              <a:rPr dirty="0" sz="1500" spc="8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public</a:t>
            </a:r>
            <a:r>
              <a:rPr dirty="0" sz="1500" spc="2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github</a:t>
            </a:r>
            <a:r>
              <a:rPr dirty="0" sz="1500" spc="3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repository</a:t>
            </a:r>
            <a:r>
              <a:rPr dirty="0" sz="1500" spc="6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(Enable</a:t>
            </a:r>
            <a:r>
              <a:rPr dirty="0" sz="1500" spc="4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Add</a:t>
            </a:r>
            <a:r>
              <a:rPr dirty="0" sz="1500" spc="5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README</a:t>
            </a:r>
            <a:r>
              <a:rPr dirty="0" sz="1500" spc="47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button</a:t>
            </a:r>
            <a:r>
              <a:rPr dirty="0" sz="1500" spc="5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while</a:t>
            </a:r>
            <a:r>
              <a:rPr dirty="0" sz="1500" spc="6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creating</a:t>
            </a:r>
            <a:r>
              <a:rPr dirty="0" sz="1500" spc="10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A3441"/>
                </a:solidFill>
                <a:latin typeface="Times New Roman"/>
                <a:cs typeface="Times New Roman"/>
              </a:rPr>
              <a:t>repository)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with</a:t>
            </a:r>
            <a:r>
              <a:rPr dirty="0" sz="1500" spc="3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format</a:t>
            </a:r>
            <a:r>
              <a:rPr dirty="0" sz="1500" spc="3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–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Please</a:t>
            </a:r>
            <a:r>
              <a:rPr dirty="0" sz="1500" spc="7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test</a:t>
            </a:r>
            <a:r>
              <a:rPr dirty="0" sz="1500" spc="4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and</a:t>
            </a:r>
            <a:r>
              <a:rPr dirty="0" sz="1500" spc="5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Paste</a:t>
            </a:r>
            <a:r>
              <a:rPr dirty="0" sz="1500" spc="6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the</a:t>
            </a:r>
            <a:r>
              <a:rPr dirty="0" sz="1500" spc="2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working</a:t>
            </a:r>
            <a:r>
              <a:rPr dirty="0" sz="1500" spc="44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Github</a:t>
            </a:r>
            <a:r>
              <a:rPr dirty="0" sz="1500" spc="1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URL</a:t>
            </a:r>
            <a:r>
              <a:rPr dirty="0" sz="1500" spc="3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450" spc="-50">
                <a:solidFill>
                  <a:srgbClr val="2A3441"/>
                </a:solidFill>
                <a:latin typeface="Arial MT"/>
                <a:cs typeface="Arial MT"/>
              </a:rPr>
              <a:t>–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839" y="3247643"/>
            <a:ext cx="7350759" cy="21082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50">
                <a:solidFill>
                  <a:srgbClr val="2A3441"/>
                </a:solidFill>
                <a:latin typeface="Arial MT"/>
                <a:cs typeface="Arial MT"/>
                <a:hlinkClick r:id="rId2"/>
              </a:rPr>
              <a:t>https://github.com/Annamdevula1/PREDICTING-THE-ELIGIBILITY-FOR-NSAP-USING-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839" y="3614927"/>
            <a:ext cx="526415" cy="21082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50" spc="-10">
                <a:solidFill>
                  <a:srgbClr val="2A3441"/>
                </a:solidFill>
                <a:latin typeface="Arial MT"/>
                <a:cs typeface="Arial MT"/>
              </a:rPr>
              <a:t>ML.git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0" y="3905530"/>
            <a:ext cx="90170" cy="257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0" y="4758922"/>
            <a:ext cx="90170" cy="257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0" y="5613920"/>
            <a:ext cx="90170" cy="257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dirty="0" spc="55"/>
              <a:t> </a:t>
            </a:r>
            <a:r>
              <a:rPr dirty="0" spc="-20"/>
              <a:t>Scope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264160" indent="-200660">
              <a:lnSpc>
                <a:spcPct val="100000"/>
              </a:lnSpc>
              <a:spcBef>
                <a:spcPts val="85"/>
              </a:spcBef>
              <a:buSzPct val="103448"/>
              <a:buFont typeface="Times New Roman"/>
              <a:buAutoNum type="arabicPeriod"/>
              <a:tabLst>
                <a:tab pos="264160" algn="l"/>
              </a:tabLst>
            </a:pPr>
            <a:r>
              <a:rPr dirty="0"/>
              <a:t>Integration</a:t>
            </a:r>
            <a:r>
              <a:rPr dirty="0" spc="85"/>
              <a:t> </a:t>
            </a:r>
            <a:r>
              <a:rPr dirty="0"/>
              <a:t>with</a:t>
            </a:r>
            <a:r>
              <a:rPr dirty="0" spc="70"/>
              <a:t> </a:t>
            </a:r>
            <a:r>
              <a:rPr dirty="0"/>
              <a:t>Government</a:t>
            </a:r>
            <a:r>
              <a:rPr dirty="0" spc="105"/>
              <a:t> </a:t>
            </a:r>
            <a:r>
              <a:rPr dirty="0" spc="-10"/>
              <a:t>Databases</a:t>
            </a:r>
          </a:p>
          <a:p>
            <a:pPr marL="63500" marR="126364">
              <a:lnSpc>
                <a:spcPct val="162600"/>
              </a:lnSpc>
              <a:spcBef>
                <a:spcPts val="110"/>
              </a:spcBef>
            </a:pPr>
            <a:r>
              <a:rPr dirty="0" sz="1150"/>
              <a:t>The</a:t>
            </a:r>
            <a:r>
              <a:rPr dirty="0" sz="1150" spc="-20"/>
              <a:t> </a:t>
            </a:r>
            <a:r>
              <a:rPr dirty="0" sz="1150"/>
              <a:t>system</a:t>
            </a:r>
            <a:r>
              <a:rPr dirty="0" sz="1150" spc="10"/>
              <a:t> </a:t>
            </a:r>
            <a:r>
              <a:rPr dirty="0" sz="1150"/>
              <a:t>can</a:t>
            </a:r>
            <a:r>
              <a:rPr dirty="0" sz="1150" spc="-20"/>
              <a:t> </a:t>
            </a:r>
            <a:r>
              <a:rPr dirty="0" sz="1150"/>
              <a:t>be</a:t>
            </a:r>
            <a:r>
              <a:rPr dirty="0" sz="1150" spc="-40"/>
              <a:t> </a:t>
            </a:r>
            <a:r>
              <a:rPr dirty="0" sz="1150"/>
              <a:t>integrated</a:t>
            </a:r>
            <a:r>
              <a:rPr dirty="0" sz="1150" spc="-35"/>
              <a:t> </a:t>
            </a:r>
            <a:r>
              <a:rPr dirty="0" sz="1150"/>
              <a:t>with</a:t>
            </a:r>
            <a:r>
              <a:rPr dirty="0" sz="1150" spc="-55"/>
              <a:t> </a:t>
            </a:r>
            <a:r>
              <a:rPr dirty="0" sz="1150"/>
              <a:t>government</a:t>
            </a:r>
            <a:r>
              <a:rPr dirty="0" sz="1150" spc="-10"/>
              <a:t> </a:t>
            </a:r>
            <a:r>
              <a:rPr dirty="0" sz="1150"/>
              <a:t>databases</a:t>
            </a:r>
            <a:r>
              <a:rPr dirty="0" sz="1150" spc="-30"/>
              <a:t> </a:t>
            </a:r>
            <a:r>
              <a:rPr dirty="0" sz="1150"/>
              <a:t>such</a:t>
            </a:r>
            <a:r>
              <a:rPr dirty="0" sz="1150" spc="-30"/>
              <a:t> </a:t>
            </a:r>
            <a:r>
              <a:rPr dirty="0" sz="1150"/>
              <a:t>as</a:t>
            </a:r>
            <a:r>
              <a:rPr dirty="0" sz="1150" spc="-25"/>
              <a:t> </a:t>
            </a:r>
            <a:r>
              <a:rPr dirty="0" sz="1150"/>
              <a:t>Aadhaar,</a:t>
            </a:r>
            <a:r>
              <a:rPr dirty="0" sz="1150" spc="15"/>
              <a:t> </a:t>
            </a:r>
            <a:r>
              <a:rPr dirty="0" sz="1150"/>
              <a:t>ration</a:t>
            </a:r>
            <a:r>
              <a:rPr dirty="0" sz="1150" spc="-30"/>
              <a:t> </a:t>
            </a:r>
            <a:r>
              <a:rPr dirty="0" sz="1150"/>
              <a:t>card,</a:t>
            </a:r>
            <a:r>
              <a:rPr dirty="0" sz="1150" spc="-20"/>
              <a:t> </a:t>
            </a:r>
            <a:r>
              <a:rPr dirty="0" sz="1150"/>
              <a:t>and</a:t>
            </a:r>
            <a:r>
              <a:rPr dirty="0" sz="1150" spc="-30"/>
              <a:t> </a:t>
            </a:r>
            <a:r>
              <a:rPr dirty="0" sz="1150" spc="-10"/>
              <a:t>socio-</a:t>
            </a:r>
            <a:r>
              <a:rPr dirty="0" sz="1150"/>
              <a:t>economic</a:t>
            </a:r>
            <a:r>
              <a:rPr dirty="0" sz="1150" spc="-50"/>
              <a:t> </a:t>
            </a:r>
            <a:r>
              <a:rPr dirty="0" sz="1150" spc="-10"/>
              <a:t>records </a:t>
            </a:r>
            <a:r>
              <a:rPr dirty="0" sz="1150"/>
              <a:t>to</a:t>
            </a:r>
            <a:r>
              <a:rPr dirty="0" sz="1150" spc="-30"/>
              <a:t> </a:t>
            </a:r>
            <a:r>
              <a:rPr dirty="0" sz="1150"/>
              <a:t>automatically</a:t>
            </a:r>
            <a:r>
              <a:rPr dirty="0" sz="1150" spc="-35"/>
              <a:t> </a:t>
            </a:r>
            <a:r>
              <a:rPr dirty="0" sz="1150"/>
              <a:t>verify</a:t>
            </a:r>
            <a:r>
              <a:rPr dirty="0" sz="1150" spc="-15"/>
              <a:t> </a:t>
            </a:r>
            <a:r>
              <a:rPr dirty="0" sz="1150"/>
              <a:t>applicant</a:t>
            </a:r>
            <a:r>
              <a:rPr dirty="0" sz="1150" spc="-50"/>
              <a:t> </a:t>
            </a:r>
            <a:r>
              <a:rPr dirty="0" sz="1150"/>
              <a:t>details</a:t>
            </a:r>
            <a:r>
              <a:rPr dirty="0" sz="1150" spc="-35"/>
              <a:t> </a:t>
            </a:r>
            <a:r>
              <a:rPr dirty="0" sz="1150"/>
              <a:t>and</a:t>
            </a:r>
            <a:r>
              <a:rPr dirty="0" sz="1150" spc="-30"/>
              <a:t> </a:t>
            </a:r>
            <a:r>
              <a:rPr dirty="0" sz="1150"/>
              <a:t>improve</a:t>
            </a:r>
            <a:r>
              <a:rPr dirty="0" sz="1150" spc="-15"/>
              <a:t> </a:t>
            </a:r>
            <a:r>
              <a:rPr dirty="0" sz="1150" spc="-10"/>
              <a:t>eligibility</a:t>
            </a:r>
            <a:r>
              <a:rPr dirty="0" sz="1150" spc="-65"/>
              <a:t> </a:t>
            </a:r>
            <a:r>
              <a:rPr dirty="0" sz="1150"/>
              <a:t>prediction</a:t>
            </a:r>
            <a:r>
              <a:rPr dirty="0" sz="1150" spc="-50"/>
              <a:t> </a:t>
            </a:r>
            <a:r>
              <a:rPr dirty="0" sz="1150"/>
              <a:t>accuracy.</a:t>
            </a:r>
            <a:r>
              <a:rPr dirty="0" sz="1150" spc="5"/>
              <a:t> </a:t>
            </a:r>
            <a:r>
              <a:rPr dirty="0" sz="1150"/>
              <a:t>This</a:t>
            </a:r>
            <a:r>
              <a:rPr dirty="0" sz="1150" spc="-35"/>
              <a:t> </a:t>
            </a:r>
            <a:r>
              <a:rPr dirty="0" sz="1150"/>
              <a:t>will</a:t>
            </a:r>
            <a:r>
              <a:rPr dirty="0" sz="1150" spc="-45"/>
              <a:t> </a:t>
            </a:r>
            <a:r>
              <a:rPr dirty="0" sz="1150"/>
              <a:t>reduce</a:t>
            </a:r>
            <a:r>
              <a:rPr dirty="0" sz="1150" spc="-35"/>
              <a:t> </a:t>
            </a:r>
            <a:r>
              <a:rPr dirty="0" sz="1150" spc="-10"/>
              <a:t>manual </a:t>
            </a:r>
            <a:r>
              <a:rPr dirty="0" sz="1150"/>
              <a:t>verification</a:t>
            </a:r>
            <a:r>
              <a:rPr dirty="0" sz="1150" spc="-15"/>
              <a:t> </a:t>
            </a:r>
            <a:r>
              <a:rPr dirty="0" sz="1150"/>
              <a:t>efforts</a:t>
            </a:r>
            <a:r>
              <a:rPr dirty="0" sz="1150" spc="-20"/>
              <a:t> </a:t>
            </a:r>
            <a:r>
              <a:rPr dirty="0" sz="1150"/>
              <a:t>and</a:t>
            </a:r>
            <a:r>
              <a:rPr dirty="0" sz="1150" spc="-25"/>
              <a:t> </a:t>
            </a:r>
            <a:r>
              <a:rPr dirty="0" sz="1150"/>
              <a:t>help</a:t>
            </a:r>
            <a:r>
              <a:rPr dirty="0" sz="1150" spc="-35"/>
              <a:t> </a:t>
            </a:r>
            <a:r>
              <a:rPr dirty="0" sz="1150"/>
              <a:t>identify</a:t>
            </a:r>
            <a:r>
              <a:rPr dirty="0" sz="1150" spc="-45"/>
              <a:t> </a:t>
            </a:r>
            <a:r>
              <a:rPr dirty="0" sz="1150"/>
              <a:t>eligible</a:t>
            </a:r>
            <a:r>
              <a:rPr dirty="0" sz="1150" spc="-35"/>
              <a:t> </a:t>
            </a:r>
            <a:r>
              <a:rPr dirty="0" sz="1150" spc="-10"/>
              <a:t>beneficiaries</a:t>
            </a:r>
            <a:r>
              <a:rPr dirty="0" sz="1150" spc="-30"/>
              <a:t> </a:t>
            </a:r>
            <a:r>
              <a:rPr dirty="0" sz="1150"/>
              <a:t>more</a:t>
            </a:r>
            <a:r>
              <a:rPr dirty="0" sz="1150" spc="-10"/>
              <a:t> efficiently.</a:t>
            </a:r>
            <a:endParaRPr sz="1150"/>
          </a:p>
          <a:p>
            <a:pPr marL="256540" indent="-193040">
              <a:lnSpc>
                <a:spcPct val="100000"/>
              </a:lnSpc>
              <a:spcBef>
                <a:spcPts val="1055"/>
              </a:spcBef>
              <a:buSzPct val="103448"/>
              <a:buFont typeface="Times New Roman"/>
              <a:buAutoNum type="arabicPeriod" startAt="2"/>
              <a:tabLst>
                <a:tab pos="256540" algn="l"/>
              </a:tabLst>
            </a:pPr>
            <a:r>
              <a:rPr dirty="0" spc="-20"/>
              <a:t>AI-</a:t>
            </a:r>
            <a:r>
              <a:rPr dirty="0"/>
              <a:t>Powered</a:t>
            </a:r>
            <a:r>
              <a:rPr dirty="0" spc="114"/>
              <a:t> </a:t>
            </a:r>
            <a:r>
              <a:rPr dirty="0"/>
              <a:t>Recommendation</a:t>
            </a:r>
            <a:r>
              <a:rPr dirty="0" spc="85"/>
              <a:t> </a:t>
            </a:r>
            <a:r>
              <a:rPr dirty="0"/>
              <a:t>&amp;</a:t>
            </a:r>
            <a:r>
              <a:rPr dirty="0" spc="100"/>
              <a:t> </a:t>
            </a:r>
            <a:r>
              <a:rPr dirty="0"/>
              <a:t>Real-Time</a:t>
            </a:r>
            <a:r>
              <a:rPr dirty="0" spc="145"/>
              <a:t> </a:t>
            </a:r>
            <a:r>
              <a:rPr dirty="0"/>
              <a:t>Eligibility</a:t>
            </a:r>
            <a:r>
              <a:rPr dirty="0" spc="125"/>
              <a:t> </a:t>
            </a:r>
            <a:r>
              <a:rPr dirty="0" spc="-10"/>
              <a:t>Checking</a:t>
            </a:r>
          </a:p>
          <a:p>
            <a:pPr marL="63500" marR="410209">
              <a:lnSpc>
                <a:spcPct val="163500"/>
              </a:lnSpc>
              <a:spcBef>
                <a:spcPts val="100"/>
              </a:spcBef>
            </a:pPr>
            <a:r>
              <a:rPr dirty="0" sz="1150"/>
              <a:t>Future</a:t>
            </a:r>
            <a:r>
              <a:rPr dirty="0" sz="1150" spc="-35"/>
              <a:t> </a:t>
            </a:r>
            <a:r>
              <a:rPr dirty="0" sz="1150"/>
              <a:t>versions</a:t>
            </a:r>
            <a:r>
              <a:rPr dirty="0" sz="1150" spc="-25"/>
              <a:t> </a:t>
            </a:r>
            <a:r>
              <a:rPr dirty="0" sz="1150"/>
              <a:t>can</a:t>
            </a:r>
            <a:r>
              <a:rPr dirty="0" sz="1150" spc="-25"/>
              <a:t> </a:t>
            </a:r>
            <a:r>
              <a:rPr dirty="0" sz="1150"/>
              <a:t>use</a:t>
            </a:r>
            <a:r>
              <a:rPr dirty="0" sz="1150" spc="-45"/>
              <a:t> </a:t>
            </a:r>
            <a:r>
              <a:rPr dirty="0" sz="1150"/>
              <a:t>advanced</a:t>
            </a:r>
            <a:r>
              <a:rPr dirty="0" sz="1150" spc="-5"/>
              <a:t> </a:t>
            </a:r>
            <a:r>
              <a:rPr dirty="0" sz="1150"/>
              <a:t>Machine</a:t>
            </a:r>
            <a:r>
              <a:rPr dirty="0" sz="1150" spc="-25"/>
              <a:t> </a:t>
            </a:r>
            <a:r>
              <a:rPr dirty="0" sz="1150"/>
              <a:t>Learning</a:t>
            </a:r>
            <a:r>
              <a:rPr dirty="0" sz="1150" spc="-35"/>
              <a:t> </a:t>
            </a:r>
            <a:r>
              <a:rPr dirty="0" sz="1150"/>
              <a:t>and</a:t>
            </a:r>
            <a:r>
              <a:rPr dirty="0" sz="1150" spc="-30"/>
              <a:t> </a:t>
            </a:r>
            <a:r>
              <a:rPr dirty="0" sz="1150"/>
              <a:t>AI</a:t>
            </a:r>
            <a:r>
              <a:rPr dirty="0" sz="1150" spc="-5"/>
              <a:t> </a:t>
            </a:r>
            <a:r>
              <a:rPr dirty="0" sz="1150"/>
              <a:t>models</a:t>
            </a:r>
            <a:r>
              <a:rPr dirty="0" sz="1150" spc="-45"/>
              <a:t> </a:t>
            </a:r>
            <a:r>
              <a:rPr dirty="0" sz="1150"/>
              <a:t>to</a:t>
            </a:r>
            <a:r>
              <a:rPr dirty="0" sz="1150" spc="-25"/>
              <a:t> </a:t>
            </a:r>
            <a:r>
              <a:rPr dirty="0" sz="1150"/>
              <a:t>provide</a:t>
            </a:r>
            <a:r>
              <a:rPr dirty="0" sz="1150" spc="-35"/>
              <a:t> </a:t>
            </a:r>
            <a:r>
              <a:rPr dirty="0" sz="1150" spc="-10"/>
              <a:t>real-</a:t>
            </a:r>
            <a:r>
              <a:rPr dirty="0" sz="1150"/>
              <a:t>time</a:t>
            </a:r>
            <a:r>
              <a:rPr dirty="0" sz="1150" spc="-20"/>
              <a:t> </a:t>
            </a:r>
            <a:r>
              <a:rPr dirty="0" sz="1150"/>
              <a:t>eligibility</a:t>
            </a:r>
            <a:r>
              <a:rPr dirty="0" sz="1150" spc="-55"/>
              <a:t> </a:t>
            </a:r>
            <a:r>
              <a:rPr dirty="0" sz="1150"/>
              <a:t>predictions</a:t>
            </a:r>
            <a:r>
              <a:rPr dirty="0" sz="1150" spc="-55"/>
              <a:t> </a:t>
            </a:r>
            <a:r>
              <a:rPr dirty="0" sz="1150" spc="-25"/>
              <a:t>for </a:t>
            </a:r>
            <a:r>
              <a:rPr dirty="0" sz="1150"/>
              <a:t>multiple</a:t>
            </a:r>
            <a:r>
              <a:rPr dirty="0" sz="1150" spc="-65"/>
              <a:t> </a:t>
            </a:r>
            <a:r>
              <a:rPr dirty="0" sz="1150"/>
              <a:t>welfare</a:t>
            </a:r>
            <a:r>
              <a:rPr dirty="0" sz="1150" spc="-40"/>
              <a:t> </a:t>
            </a:r>
            <a:r>
              <a:rPr dirty="0" sz="1150"/>
              <a:t>schemes.</a:t>
            </a:r>
            <a:r>
              <a:rPr dirty="0" sz="1150" spc="-10"/>
              <a:t> </a:t>
            </a:r>
            <a:r>
              <a:rPr dirty="0" sz="1150"/>
              <a:t>The</a:t>
            </a:r>
            <a:r>
              <a:rPr dirty="0" sz="1150" spc="-35"/>
              <a:t> </a:t>
            </a:r>
            <a:r>
              <a:rPr dirty="0" sz="1150"/>
              <a:t>system can</a:t>
            </a:r>
            <a:r>
              <a:rPr dirty="0" sz="1150" spc="-30"/>
              <a:t> </a:t>
            </a:r>
            <a:r>
              <a:rPr dirty="0" sz="1150"/>
              <a:t>also</a:t>
            </a:r>
            <a:r>
              <a:rPr dirty="0" sz="1150" spc="-35"/>
              <a:t> </a:t>
            </a:r>
            <a:r>
              <a:rPr dirty="0" sz="1150"/>
              <a:t>recommend</a:t>
            </a:r>
            <a:r>
              <a:rPr dirty="0" sz="1150" spc="-5"/>
              <a:t> </a:t>
            </a:r>
            <a:r>
              <a:rPr dirty="0" sz="1150"/>
              <a:t>the</a:t>
            </a:r>
            <a:r>
              <a:rPr dirty="0" sz="1150" spc="-40"/>
              <a:t> </a:t>
            </a:r>
            <a:r>
              <a:rPr dirty="0" sz="1150"/>
              <a:t>most</a:t>
            </a:r>
            <a:r>
              <a:rPr dirty="0" sz="1150" spc="-40"/>
              <a:t> </a:t>
            </a:r>
            <a:r>
              <a:rPr dirty="0" sz="1150"/>
              <a:t>suitable</a:t>
            </a:r>
            <a:r>
              <a:rPr dirty="0" sz="1150" spc="-50"/>
              <a:t> </a:t>
            </a:r>
            <a:r>
              <a:rPr dirty="0" sz="1150"/>
              <a:t>NSAP</a:t>
            </a:r>
            <a:r>
              <a:rPr dirty="0" sz="1150" spc="10"/>
              <a:t> </a:t>
            </a:r>
            <a:r>
              <a:rPr dirty="0" sz="1150"/>
              <a:t>scheme</a:t>
            </a:r>
            <a:r>
              <a:rPr dirty="0" sz="1150" spc="-35"/>
              <a:t> </a:t>
            </a:r>
            <a:r>
              <a:rPr dirty="0" sz="1150"/>
              <a:t>(Old</a:t>
            </a:r>
            <a:r>
              <a:rPr dirty="0" sz="1150" spc="-35"/>
              <a:t> </a:t>
            </a:r>
            <a:r>
              <a:rPr dirty="0" sz="1150"/>
              <a:t>Age</a:t>
            </a:r>
            <a:r>
              <a:rPr dirty="0" sz="1150" spc="-5"/>
              <a:t> </a:t>
            </a:r>
            <a:r>
              <a:rPr dirty="0" sz="1150" spc="-10"/>
              <a:t>Pension,</a:t>
            </a:r>
            <a:endParaRPr sz="1150"/>
          </a:p>
          <a:p>
            <a:pPr marL="63500">
              <a:lnSpc>
                <a:spcPct val="100000"/>
              </a:lnSpc>
              <a:spcBef>
                <a:spcPts val="509"/>
              </a:spcBef>
            </a:pPr>
            <a:r>
              <a:rPr dirty="0" baseline="18518" sz="2250" spc="-772" b="0">
                <a:latin typeface="Times New Roman"/>
                <a:cs typeface="Times New Roman"/>
              </a:rPr>
              <a:t>·</a:t>
            </a:r>
            <a:r>
              <a:rPr dirty="0" sz="1150" spc="-5"/>
              <a:t>W</a:t>
            </a:r>
            <a:r>
              <a:rPr dirty="0" sz="1150" spc="-10"/>
              <a:t>i</a:t>
            </a:r>
            <a:r>
              <a:rPr dirty="0" sz="1150" spc="-15"/>
              <a:t>d</a:t>
            </a:r>
            <a:r>
              <a:rPr dirty="0" sz="1150"/>
              <a:t>o</a:t>
            </a:r>
            <a:r>
              <a:rPr dirty="0" sz="1150" spc="-10"/>
              <a:t>w</a:t>
            </a:r>
            <a:r>
              <a:rPr dirty="0" sz="1150" spc="-20"/>
              <a:t> </a:t>
            </a:r>
            <a:r>
              <a:rPr dirty="0" sz="1150"/>
              <a:t>Pension,</a:t>
            </a:r>
            <a:r>
              <a:rPr dirty="0" sz="1150" spc="-45"/>
              <a:t> </a:t>
            </a:r>
            <a:r>
              <a:rPr dirty="0" sz="1150"/>
              <a:t>Disability</a:t>
            </a:r>
            <a:r>
              <a:rPr dirty="0" sz="1150" spc="-15"/>
              <a:t> </a:t>
            </a:r>
            <a:r>
              <a:rPr dirty="0" sz="1150"/>
              <a:t>Pension,</a:t>
            </a:r>
            <a:r>
              <a:rPr dirty="0" sz="1150" spc="-30"/>
              <a:t> </a:t>
            </a:r>
            <a:r>
              <a:rPr dirty="0" sz="1150"/>
              <a:t>etc.)</a:t>
            </a:r>
            <a:r>
              <a:rPr dirty="0" sz="1150" spc="-5"/>
              <a:t> </a:t>
            </a:r>
            <a:r>
              <a:rPr dirty="0" sz="1150"/>
              <a:t>based</a:t>
            </a:r>
            <a:r>
              <a:rPr dirty="0" sz="1150" spc="-20"/>
              <a:t> </a:t>
            </a:r>
            <a:r>
              <a:rPr dirty="0" sz="1150"/>
              <a:t>on</a:t>
            </a:r>
            <a:r>
              <a:rPr dirty="0" sz="1150" spc="-20"/>
              <a:t> </a:t>
            </a:r>
            <a:r>
              <a:rPr dirty="0" sz="1150"/>
              <a:t>a</a:t>
            </a:r>
            <a:r>
              <a:rPr dirty="0" sz="1150" spc="-10"/>
              <a:t> </a:t>
            </a:r>
            <a:r>
              <a:rPr dirty="0" sz="1150"/>
              <a:t>citizen's</a:t>
            </a:r>
            <a:r>
              <a:rPr dirty="0" sz="1150" spc="-30"/>
              <a:t> </a:t>
            </a:r>
            <a:r>
              <a:rPr dirty="0" sz="1150"/>
              <a:t>profile</a:t>
            </a:r>
            <a:r>
              <a:rPr dirty="0" sz="1150" spc="-15"/>
              <a:t> </a:t>
            </a:r>
            <a:r>
              <a:rPr dirty="0" sz="1150"/>
              <a:t>and</a:t>
            </a:r>
            <a:r>
              <a:rPr dirty="0" sz="1150" spc="-25"/>
              <a:t> </a:t>
            </a:r>
            <a:r>
              <a:rPr dirty="0" sz="1150" spc="-10"/>
              <a:t>eligibility</a:t>
            </a:r>
            <a:r>
              <a:rPr dirty="0" sz="1150" spc="-50"/>
              <a:t> </a:t>
            </a:r>
            <a:r>
              <a:rPr dirty="0" sz="1150" spc="-10"/>
              <a:t>criteria.</a:t>
            </a:r>
            <a:endParaRPr sz="1150">
              <a:latin typeface="Times New Roman"/>
              <a:cs typeface="Times New Roman"/>
            </a:endParaRPr>
          </a:p>
          <a:p>
            <a:pPr marL="256540" indent="-193040">
              <a:lnSpc>
                <a:spcPct val="100000"/>
              </a:lnSpc>
              <a:spcBef>
                <a:spcPts val="985"/>
              </a:spcBef>
              <a:buSzPct val="103448"/>
              <a:buFont typeface="Times New Roman"/>
              <a:buAutoNum type="arabicPeriod" startAt="3"/>
              <a:tabLst>
                <a:tab pos="256540" algn="l"/>
              </a:tabLst>
            </a:pPr>
            <a:r>
              <a:rPr dirty="0"/>
              <a:t>Mobile</a:t>
            </a:r>
            <a:r>
              <a:rPr dirty="0" spc="70"/>
              <a:t> </a:t>
            </a:r>
            <a:r>
              <a:rPr dirty="0"/>
              <a:t>Application</a:t>
            </a:r>
            <a:r>
              <a:rPr dirty="0" spc="95"/>
              <a:t>  </a:t>
            </a:r>
            <a:r>
              <a:rPr dirty="0"/>
              <a:t>Multilingual</a:t>
            </a:r>
            <a:r>
              <a:rPr dirty="0" spc="70"/>
              <a:t> </a:t>
            </a:r>
            <a:r>
              <a:rPr dirty="0" spc="-10"/>
              <a:t>Support</a:t>
            </a:r>
          </a:p>
          <a:p>
            <a:pPr marL="133350">
              <a:lnSpc>
                <a:spcPct val="100000"/>
              </a:lnSpc>
              <a:spcBef>
                <a:spcPts val="975"/>
              </a:spcBef>
            </a:pPr>
            <a:r>
              <a:rPr dirty="0" sz="1000"/>
              <a:t>A</a:t>
            </a:r>
            <a:r>
              <a:rPr dirty="0" sz="1000" spc="-30"/>
              <a:t> </a:t>
            </a:r>
            <a:r>
              <a:rPr dirty="0" sz="1150"/>
              <a:t>mobile</a:t>
            </a:r>
            <a:r>
              <a:rPr dirty="0" sz="1150" spc="-45"/>
              <a:t> </a:t>
            </a:r>
            <a:r>
              <a:rPr dirty="0" sz="1150"/>
              <a:t>application</a:t>
            </a:r>
            <a:r>
              <a:rPr dirty="0" sz="1150" spc="-55"/>
              <a:t> </a:t>
            </a:r>
            <a:r>
              <a:rPr dirty="0" sz="1150"/>
              <a:t>with</a:t>
            </a:r>
            <a:r>
              <a:rPr dirty="0" sz="1150" spc="-60"/>
              <a:t> </a:t>
            </a:r>
            <a:r>
              <a:rPr dirty="0" sz="1150"/>
              <a:t>multilingual</a:t>
            </a:r>
            <a:r>
              <a:rPr dirty="0" sz="1150" spc="-50"/>
              <a:t> </a:t>
            </a:r>
            <a:r>
              <a:rPr dirty="0" sz="1150"/>
              <a:t>support</a:t>
            </a:r>
            <a:r>
              <a:rPr dirty="0" sz="1150" spc="-40"/>
              <a:t> </a:t>
            </a:r>
            <a:r>
              <a:rPr dirty="0" sz="1150"/>
              <a:t>can</a:t>
            </a:r>
            <a:r>
              <a:rPr dirty="0" sz="1150" spc="-15"/>
              <a:t> </a:t>
            </a:r>
            <a:r>
              <a:rPr dirty="0" sz="1150"/>
              <a:t>make</a:t>
            </a:r>
            <a:r>
              <a:rPr dirty="0" sz="1150" spc="-25"/>
              <a:t> </a:t>
            </a:r>
            <a:r>
              <a:rPr dirty="0" sz="1150"/>
              <a:t>the</a:t>
            </a:r>
            <a:r>
              <a:rPr dirty="0" sz="1150" spc="-40"/>
              <a:t> </a:t>
            </a:r>
            <a:r>
              <a:rPr dirty="0" sz="1150"/>
              <a:t>system</a:t>
            </a:r>
            <a:r>
              <a:rPr dirty="0" sz="1150" spc="20"/>
              <a:t> </a:t>
            </a:r>
            <a:r>
              <a:rPr dirty="0" sz="1150"/>
              <a:t>accessible</a:t>
            </a:r>
            <a:r>
              <a:rPr dirty="0" sz="1150" spc="-30"/>
              <a:t> </a:t>
            </a:r>
            <a:r>
              <a:rPr dirty="0" sz="1150"/>
              <a:t>to</a:t>
            </a:r>
            <a:r>
              <a:rPr dirty="0" sz="1150" spc="-35"/>
              <a:t> </a:t>
            </a:r>
            <a:r>
              <a:rPr dirty="0" sz="1150"/>
              <a:t>rural</a:t>
            </a:r>
            <a:r>
              <a:rPr dirty="0" sz="1150" spc="-15"/>
              <a:t> </a:t>
            </a:r>
            <a:r>
              <a:rPr dirty="0" sz="1150"/>
              <a:t>and</a:t>
            </a:r>
            <a:r>
              <a:rPr dirty="0" sz="1150" spc="-45"/>
              <a:t> </a:t>
            </a:r>
            <a:r>
              <a:rPr dirty="0" sz="1150"/>
              <a:t>urban</a:t>
            </a:r>
            <a:r>
              <a:rPr dirty="0" sz="1150" spc="-30"/>
              <a:t> </a:t>
            </a:r>
            <a:r>
              <a:rPr dirty="0" sz="1150"/>
              <a:t>users</a:t>
            </a:r>
            <a:r>
              <a:rPr dirty="0" sz="1150" spc="-20"/>
              <a:t> </a:t>
            </a:r>
            <a:r>
              <a:rPr dirty="0" sz="1150"/>
              <a:t>across</a:t>
            </a:r>
            <a:r>
              <a:rPr dirty="0" sz="1150" spc="-20"/>
              <a:t> </a:t>
            </a:r>
            <a:r>
              <a:rPr dirty="0" sz="1150" spc="-10"/>
              <a:t>India.</a:t>
            </a:r>
            <a:endParaRPr sz="1150"/>
          </a:p>
          <a:p>
            <a:pPr marL="63500">
              <a:lnSpc>
                <a:spcPct val="100000"/>
              </a:lnSpc>
              <a:spcBef>
                <a:spcPts val="1055"/>
              </a:spcBef>
            </a:pPr>
            <a:r>
              <a:rPr dirty="0" sz="1150"/>
              <a:t>Citizens</a:t>
            </a:r>
            <a:r>
              <a:rPr dirty="0" sz="1150" spc="-45"/>
              <a:t> </a:t>
            </a:r>
            <a:r>
              <a:rPr dirty="0" sz="1150"/>
              <a:t>can</a:t>
            </a:r>
            <a:r>
              <a:rPr dirty="0" sz="1150" spc="-20"/>
              <a:t> </a:t>
            </a:r>
            <a:r>
              <a:rPr dirty="0" sz="1150"/>
              <a:t>check</a:t>
            </a:r>
            <a:r>
              <a:rPr dirty="0" sz="1150" spc="-30"/>
              <a:t> </a:t>
            </a:r>
            <a:r>
              <a:rPr dirty="0" sz="1150"/>
              <a:t>their</a:t>
            </a:r>
            <a:r>
              <a:rPr dirty="0" sz="1150" spc="-25"/>
              <a:t> </a:t>
            </a:r>
            <a:r>
              <a:rPr dirty="0" sz="1150" spc="-10"/>
              <a:t>eligibility,</a:t>
            </a:r>
            <a:r>
              <a:rPr dirty="0" sz="1150" spc="-40"/>
              <a:t> </a:t>
            </a:r>
            <a:r>
              <a:rPr dirty="0" sz="1150"/>
              <a:t>submit</a:t>
            </a:r>
            <a:r>
              <a:rPr dirty="0" sz="1150" spc="-35"/>
              <a:t> </a:t>
            </a:r>
            <a:r>
              <a:rPr dirty="0" sz="1150"/>
              <a:t>applications,</a:t>
            </a:r>
            <a:r>
              <a:rPr dirty="0" sz="1150" spc="-50"/>
              <a:t> </a:t>
            </a:r>
            <a:r>
              <a:rPr dirty="0" sz="1150"/>
              <a:t>and</a:t>
            </a:r>
            <a:r>
              <a:rPr dirty="0" sz="1150" spc="-35"/>
              <a:t> </a:t>
            </a:r>
            <a:r>
              <a:rPr dirty="0" sz="1150"/>
              <a:t>track</a:t>
            </a:r>
            <a:r>
              <a:rPr dirty="0" sz="1150" spc="-10"/>
              <a:t> </a:t>
            </a:r>
            <a:r>
              <a:rPr dirty="0" sz="1150"/>
              <a:t>application</a:t>
            </a:r>
            <a:r>
              <a:rPr dirty="0" sz="1150" spc="-45"/>
              <a:t> </a:t>
            </a:r>
            <a:r>
              <a:rPr dirty="0" sz="1150"/>
              <a:t>status</a:t>
            </a:r>
            <a:r>
              <a:rPr dirty="0" sz="1150" spc="-20"/>
              <a:t> </a:t>
            </a:r>
            <a:r>
              <a:rPr dirty="0" sz="1150"/>
              <a:t>in</a:t>
            </a:r>
            <a:r>
              <a:rPr dirty="0" sz="1150" spc="-45"/>
              <a:t> </a:t>
            </a:r>
            <a:r>
              <a:rPr dirty="0" sz="1150"/>
              <a:t>their</a:t>
            </a:r>
            <a:r>
              <a:rPr dirty="0" sz="1150" spc="-30"/>
              <a:t> </a:t>
            </a:r>
            <a:r>
              <a:rPr dirty="0" sz="1150"/>
              <a:t>preferred</a:t>
            </a:r>
            <a:r>
              <a:rPr dirty="0" sz="1150" spc="10"/>
              <a:t> </a:t>
            </a:r>
            <a:r>
              <a:rPr dirty="0" sz="1150" spc="-10"/>
              <a:t>language</a:t>
            </a:r>
            <a:r>
              <a:rPr dirty="0" sz="1500" spc="-10"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  <a:p>
            <a:pPr marL="256540" indent="-193040">
              <a:lnSpc>
                <a:spcPct val="100000"/>
              </a:lnSpc>
              <a:spcBef>
                <a:spcPts val="1165"/>
              </a:spcBef>
              <a:buFont typeface="Times New Roman"/>
              <a:buAutoNum type="arabicPeriod" startAt="4"/>
              <a:tabLst>
                <a:tab pos="256540" algn="l"/>
              </a:tabLst>
            </a:pPr>
            <a:r>
              <a:rPr dirty="0" sz="1500"/>
              <a:t>Fraud</a:t>
            </a:r>
            <a:r>
              <a:rPr dirty="0" sz="1500" spc="80"/>
              <a:t> </a:t>
            </a:r>
            <a:r>
              <a:rPr dirty="0" sz="1500"/>
              <a:t>Detection</a:t>
            </a:r>
            <a:r>
              <a:rPr dirty="0" sz="1500" spc="40"/>
              <a:t> </a:t>
            </a:r>
            <a:r>
              <a:rPr dirty="0" sz="1500"/>
              <a:t>and</a:t>
            </a:r>
            <a:r>
              <a:rPr dirty="0" sz="1500" spc="45"/>
              <a:t> </a:t>
            </a:r>
            <a:r>
              <a:rPr dirty="0" sz="1500"/>
              <a:t>Beneficiary</a:t>
            </a:r>
            <a:r>
              <a:rPr dirty="0" sz="1500" spc="60"/>
              <a:t> </a:t>
            </a:r>
            <a:r>
              <a:rPr dirty="0" sz="1500" spc="-10"/>
              <a:t>Verification</a:t>
            </a:r>
            <a:endParaRPr sz="1500"/>
          </a:p>
          <a:p>
            <a:pPr marL="63500" marR="78740">
              <a:lnSpc>
                <a:spcPts val="2240"/>
              </a:lnSpc>
              <a:spcBef>
                <a:spcPts val="229"/>
              </a:spcBef>
            </a:pPr>
            <a:r>
              <a:rPr dirty="0" sz="1150"/>
              <a:t>The</a:t>
            </a:r>
            <a:r>
              <a:rPr dirty="0" sz="1150" spc="-40"/>
              <a:t> </a:t>
            </a:r>
            <a:r>
              <a:rPr dirty="0" sz="1150" spc="15"/>
              <a:t>s</a:t>
            </a:r>
            <a:r>
              <a:rPr dirty="0" sz="1150" spc="5"/>
              <a:t>y</a:t>
            </a:r>
            <a:r>
              <a:rPr dirty="0" sz="1150" spc="15"/>
              <a:t>ste</a:t>
            </a:r>
            <a:r>
              <a:rPr dirty="0" sz="1150" spc="-735"/>
              <a:t>m</a:t>
            </a:r>
            <a:r>
              <a:rPr dirty="0" baseline="16666" sz="2250" spc="37" b="0">
                <a:latin typeface="Arial MT"/>
                <a:cs typeface="Arial MT"/>
              </a:rPr>
              <a:t>·</a:t>
            </a:r>
            <a:r>
              <a:rPr dirty="0" baseline="16666" sz="2250" spc="165" b="0">
                <a:latin typeface="Arial MT"/>
                <a:cs typeface="Arial MT"/>
              </a:rPr>
              <a:t> </a:t>
            </a:r>
            <a:r>
              <a:rPr dirty="0" sz="1150"/>
              <a:t>can</a:t>
            </a:r>
            <a:r>
              <a:rPr dirty="0" sz="1150" spc="-35"/>
              <a:t> </a:t>
            </a:r>
            <a:r>
              <a:rPr dirty="0" sz="1150"/>
              <a:t>incorporate</a:t>
            </a:r>
            <a:r>
              <a:rPr dirty="0" sz="1150" spc="-55"/>
              <a:t> </a:t>
            </a:r>
            <a:r>
              <a:rPr dirty="0" sz="1150"/>
              <a:t>fraud</a:t>
            </a:r>
            <a:r>
              <a:rPr dirty="0" sz="1150" spc="-35"/>
              <a:t> </a:t>
            </a:r>
            <a:r>
              <a:rPr dirty="0" sz="1150"/>
              <a:t>detection</a:t>
            </a:r>
            <a:r>
              <a:rPr dirty="0" sz="1150" spc="-60"/>
              <a:t> </a:t>
            </a:r>
            <a:r>
              <a:rPr dirty="0" sz="1150"/>
              <a:t>mechanisms</a:t>
            </a:r>
            <a:r>
              <a:rPr dirty="0" sz="1150" spc="-30"/>
              <a:t> </a:t>
            </a:r>
            <a:r>
              <a:rPr dirty="0" sz="1150"/>
              <a:t>to</a:t>
            </a:r>
            <a:r>
              <a:rPr dirty="0" sz="1150" spc="-45"/>
              <a:t> </a:t>
            </a:r>
            <a:r>
              <a:rPr dirty="0" sz="1150"/>
              <a:t>identify</a:t>
            </a:r>
            <a:r>
              <a:rPr dirty="0" sz="1150" spc="-55"/>
              <a:t> </a:t>
            </a:r>
            <a:r>
              <a:rPr dirty="0" sz="1150"/>
              <a:t>duplicate</a:t>
            </a:r>
            <a:r>
              <a:rPr dirty="0" sz="1150" spc="-65"/>
              <a:t> </a:t>
            </a:r>
            <a:r>
              <a:rPr dirty="0" sz="1150"/>
              <a:t>or</a:t>
            </a:r>
            <a:r>
              <a:rPr dirty="0" sz="1150" spc="-45"/>
              <a:t> </a:t>
            </a:r>
            <a:r>
              <a:rPr dirty="0" sz="1150"/>
              <a:t>ineligible</a:t>
            </a:r>
            <a:r>
              <a:rPr dirty="0" sz="1150" spc="-80"/>
              <a:t> </a:t>
            </a:r>
            <a:r>
              <a:rPr dirty="0" sz="1150"/>
              <a:t>beneficiaries,</a:t>
            </a:r>
            <a:r>
              <a:rPr dirty="0" sz="1150" spc="-30"/>
              <a:t> </a:t>
            </a:r>
            <a:r>
              <a:rPr dirty="0" sz="1150"/>
              <a:t>ensuring</a:t>
            </a:r>
            <a:r>
              <a:rPr dirty="0" sz="1150" spc="-60"/>
              <a:t> </a:t>
            </a:r>
            <a:r>
              <a:rPr dirty="0" sz="1150" spc="-20"/>
              <a:t>that </a:t>
            </a:r>
            <a:r>
              <a:rPr dirty="0" sz="1150"/>
              <a:t>welfare</a:t>
            </a:r>
            <a:r>
              <a:rPr dirty="0" sz="1150" spc="-35"/>
              <a:t> </a:t>
            </a:r>
            <a:r>
              <a:rPr dirty="0" sz="1150"/>
              <a:t>benefits</a:t>
            </a:r>
            <a:r>
              <a:rPr dirty="0" sz="1150" spc="-55"/>
              <a:t> </a:t>
            </a:r>
            <a:r>
              <a:rPr dirty="0" sz="1150"/>
              <a:t>reach</a:t>
            </a:r>
            <a:r>
              <a:rPr dirty="0" sz="1150" spc="-10"/>
              <a:t> </a:t>
            </a:r>
            <a:r>
              <a:rPr dirty="0" sz="1150"/>
              <a:t>only</a:t>
            </a:r>
            <a:r>
              <a:rPr dirty="0" sz="1150" spc="-55"/>
              <a:t> </a:t>
            </a:r>
            <a:r>
              <a:rPr dirty="0" sz="1150"/>
              <a:t>eligible</a:t>
            </a:r>
            <a:r>
              <a:rPr dirty="0" sz="1150" spc="-55"/>
              <a:t> </a:t>
            </a:r>
            <a:r>
              <a:rPr dirty="0" sz="1150"/>
              <a:t>citizens</a:t>
            </a:r>
            <a:r>
              <a:rPr dirty="0" sz="1150" spc="-45"/>
              <a:t> </a:t>
            </a:r>
            <a:r>
              <a:rPr dirty="0" sz="1150"/>
              <a:t>and</a:t>
            </a:r>
            <a:r>
              <a:rPr dirty="0" sz="1150" spc="-40"/>
              <a:t> </a:t>
            </a:r>
            <a:r>
              <a:rPr dirty="0" sz="1150"/>
              <a:t>improving</a:t>
            </a:r>
            <a:r>
              <a:rPr dirty="0" sz="1150" spc="-20"/>
              <a:t> </a:t>
            </a:r>
            <a:r>
              <a:rPr dirty="0" sz="1150"/>
              <a:t>transparency</a:t>
            </a:r>
            <a:r>
              <a:rPr dirty="0" sz="1150" spc="-25"/>
              <a:t> </a:t>
            </a:r>
            <a:r>
              <a:rPr dirty="0" sz="1150"/>
              <a:t>in</a:t>
            </a:r>
            <a:r>
              <a:rPr dirty="0" sz="1150" spc="-35"/>
              <a:t> </a:t>
            </a:r>
            <a:r>
              <a:rPr dirty="0" sz="1150"/>
              <a:t>scheme</a:t>
            </a:r>
            <a:r>
              <a:rPr dirty="0" sz="1150" spc="-15"/>
              <a:t> </a:t>
            </a:r>
            <a:r>
              <a:rPr dirty="0" sz="1150" spc="-10"/>
              <a:t>implementation.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82829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b="0">
                <a:latin typeface="Calibri"/>
                <a:cs typeface="Calibri"/>
              </a:rPr>
              <a:t>SCREEN</a:t>
            </a:r>
            <a:r>
              <a:rPr dirty="0" sz="3600" spc="15" b="0">
                <a:latin typeface="Calibri"/>
                <a:cs typeface="Calibri"/>
              </a:rPr>
              <a:t> </a:t>
            </a:r>
            <a:r>
              <a:rPr dirty="0" sz="3600" spc="-20" b="0">
                <a:latin typeface="Calibri"/>
                <a:cs typeface="Calibri"/>
              </a:rPr>
              <a:t>SHOTS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048" y="2092451"/>
            <a:ext cx="8458200" cy="46040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119" y="2987930"/>
            <a:ext cx="1727901" cy="8509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5864" y="3114003"/>
            <a:ext cx="182879" cy="1828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689378"/>
            <a:ext cx="10058400" cy="36561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306" y="2369384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 h="0">
                <a:moveTo>
                  <a:pt x="0" y="0"/>
                </a:moveTo>
                <a:lnTo>
                  <a:pt x="1306960" y="0"/>
                </a:lnTo>
              </a:path>
            </a:pathLst>
          </a:custGeom>
          <a:ln w="14183">
            <a:solidFill>
              <a:srgbClr val="2857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4205" y="2249614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 h="0">
                <a:moveTo>
                  <a:pt x="0" y="0"/>
                </a:moveTo>
                <a:lnTo>
                  <a:pt x="96169" y="0"/>
                </a:lnTo>
              </a:path>
            </a:pathLst>
          </a:custGeom>
          <a:ln w="14183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24205" y="2173971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 h="0">
                <a:moveTo>
                  <a:pt x="0" y="0"/>
                </a:moveTo>
                <a:lnTo>
                  <a:pt x="96169" y="0"/>
                </a:lnTo>
              </a:path>
            </a:pathLst>
          </a:custGeom>
          <a:ln w="14183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043100" y="1562517"/>
            <a:ext cx="102870" cy="0"/>
          </a:xfrm>
          <a:custGeom>
            <a:avLst/>
            <a:gdLst/>
            <a:ahLst/>
            <a:cxnLst/>
            <a:rect l="l" t="t" r="r" b="b"/>
            <a:pathLst>
              <a:path w="102870" h="0">
                <a:moveTo>
                  <a:pt x="0" y="0"/>
                </a:moveTo>
                <a:lnTo>
                  <a:pt x="102475" y="0"/>
                </a:lnTo>
              </a:path>
            </a:pathLst>
          </a:custGeom>
          <a:ln w="14183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043100" y="1473478"/>
            <a:ext cx="102870" cy="96520"/>
            <a:chOff x="9043100" y="1473478"/>
            <a:chExt cx="102870" cy="96520"/>
          </a:xfrm>
        </p:grpSpPr>
        <p:sp>
          <p:nvSpPr>
            <p:cNvPr id="10" name="object 10"/>
            <p:cNvSpPr/>
            <p:nvPr/>
          </p:nvSpPr>
          <p:spPr>
            <a:xfrm>
              <a:off x="9043100" y="1473478"/>
              <a:ext cx="102870" cy="96520"/>
            </a:xfrm>
            <a:custGeom>
              <a:avLst/>
              <a:gdLst/>
              <a:ahLst/>
              <a:cxnLst/>
              <a:rect l="l" t="t" r="r" b="b"/>
              <a:pathLst>
                <a:path w="102870" h="96519">
                  <a:moveTo>
                    <a:pt x="0" y="7091"/>
                  </a:moveTo>
                  <a:lnTo>
                    <a:pt x="102475" y="7091"/>
                  </a:lnTo>
                </a:path>
                <a:path w="102870" h="96519">
                  <a:moveTo>
                    <a:pt x="7094" y="96130"/>
                  </a:moveTo>
                  <a:lnTo>
                    <a:pt x="7094" y="0"/>
                  </a:lnTo>
                </a:path>
              </a:pathLst>
            </a:custGeom>
            <a:ln w="14186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38481" y="1473478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w="0" h="96519">
                  <a:moveTo>
                    <a:pt x="0" y="96130"/>
                  </a:moveTo>
                  <a:lnTo>
                    <a:pt x="0" y="0"/>
                  </a:lnTo>
                </a:path>
              </a:pathLst>
            </a:custGeom>
            <a:ln w="14188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9358411" y="1562517"/>
            <a:ext cx="102870" cy="0"/>
          </a:xfrm>
          <a:custGeom>
            <a:avLst/>
            <a:gdLst/>
            <a:ahLst/>
            <a:cxnLst/>
            <a:rect l="l" t="t" r="r" b="b"/>
            <a:pathLst>
              <a:path w="102870" h="0">
                <a:moveTo>
                  <a:pt x="0" y="0"/>
                </a:moveTo>
                <a:lnTo>
                  <a:pt x="102475" y="0"/>
                </a:lnTo>
              </a:path>
            </a:pathLst>
          </a:custGeom>
          <a:ln w="14183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358411" y="1480569"/>
            <a:ext cx="102870" cy="0"/>
          </a:xfrm>
          <a:custGeom>
            <a:avLst/>
            <a:gdLst/>
            <a:ahLst/>
            <a:cxnLst/>
            <a:rect l="l" t="t" r="r" b="b"/>
            <a:pathLst>
              <a:path w="102870" h="0">
                <a:moveTo>
                  <a:pt x="0" y="0"/>
                </a:moveTo>
                <a:lnTo>
                  <a:pt x="102475" y="0"/>
                </a:lnTo>
              </a:path>
            </a:pathLst>
          </a:custGeom>
          <a:ln w="14183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5117" y="2912286"/>
            <a:ext cx="113511" cy="1134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3136" y="3183342"/>
            <a:ext cx="113511" cy="10716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380" y="3467007"/>
            <a:ext cx="113511" cy="10716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42311" y="3158127"/>
            <a:ext cx="107205" cy="10085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58411" y="1473478"/>
            <a:ext cx="573864" cy="961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90897" y="2912286"/>
            <a:ext cx="107205" cy="1134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66571" y="3183342"/>
            <a:ext cx="113511" cy="10716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692640" y="2842945"/>
            <a:ext cx="69368" cy="6303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62984" y="5213119"/>
            <a:ext cx="990074" cy="693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52148" y="6328864"/>
            <a:ext cx="428822" cy="7564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2430" y="1481357"/>
            <a:ext cx="100899" cy="8825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08948" y="1166174"/>
            <a:ext cx="378372" cy="9455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83668" y="2166880"/>
            <a:ext cx="436705" cy="9612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18785" y="1468749"/>
            <a:ext cx="372066" cy="10716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64738" y="2155847"/>
            <a:ext cx="1671144" cy="11346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349882" y="1136797"/>
            <a:ext cx="5778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D2D2D"/>
                </a:solidFill>
                <a:latin typeface="Calibri"/>
                <a:cs typeface="Calibri"/>
              </a:rPr>
              <a:t>IBM</a:t>
            </a:r>
            <a:r>
              <a:rPr dirty="0" sz="800" spc="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32323"/>
                </a:solidFill>
                <a:latin typeface="Calibri"/>
                <a:cs typeface="Calibri"/>
              </a:rPr>
              <a:t>watsonx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0199" y="1435826"/>
            <a:ext cx="202565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solidFill>
                  <a:srgbClr val="282828"/>
                </a:solidFill>
                <a:latin typeface="Calibri"/>
                <a:cs typeface="Calibri"/>
              </a:rPr>
              <a:t>httpc</a:t>
            </a:r>
            <a:r>
              <a:rPr dirty="0" sz="850" spc="42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282828"/>
                </a:solidFill>
                <a:latin typeface="Calibri"/>
                <a:cs typeface="Calibri"/>
              </a:rPr>
              <a:t>//cloud.ibm.com/watsonx/prnj</a:t>
            </a:r>
            <a:r>
              <a:rPr dirty="0" sz="850" spc="-10" i="1">
                <a:solidFill>
                  <a:srgbClr val="646464"/>
                </a:solidFill>
                <a:latin typeface="Calibri"/>
                <a:cs typeface="Calibri"/>
              </a:rPr>
              <a:t>ects/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64718" y="1435826"/>
            <a:ext cx="14941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solidFill>
                  <a:srgbClr val="565656"/>
                </a:solidFill>
                <a:latin typeface="Arial MT"/>
                <a:cs typeface="Arial MT"/>
              </a:rPr>
              <a:t>/7271-7?22-56fe-</a:t>
            </a:r>
            <a:r>
              <a:rPr dirty="0" sz="850" spc="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565656"/>
                </a:solidFill>
                <a:latin typeface="Arial MT"/>
                <a:cs typeface="Arial MT"/>
              </a:rPr>
              <a:t>b64e</a:t>
            </a:r>
            <a:r>
              <a:rPr dirty="0" sz="8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979797"/>
                </a:solidFill>
                <a:latin typeface="Arial MT"/>
                <a:cs typeface="Arial MT"/>
              </a:rPr>
              <a:t>-</a:t>
            </a:r>
            <a:r>
              <a:rPr dirty="0" sz="850" spc="-10">
                <a:solidFill>
                  <a:srgbClr val="545454"/>
                </a:solidFill>
                <a:latin typeface="Arial MT"/>
                <a:cs typeface="Arial MT"/>
              </a:rPr>
              <a:t>19771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830" y="2113074"/>
            <a:ext cx="5046345" cy="490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3F6B8C"/>
                </a:solidFill>
                <a:latin typeface="Calibri"/>
                <a:cs typeface="Calibri"/>
              </a:rPr>
              <a:t>Projects</a:t>
            </a:r>
            <a:r>
              <a:rPr dirty="0" sz="950" spc="450">
                <a:solidFill>
                  <a:srgbClr val="3F6B8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50" spc="37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86790"/>
                </a:solidFill>
                <a:latin typeface="Calibri"/>
                <a:cs typeface="Calibri"/>
              </a:rPr>
              <a:t>predicting</a:t>
            </a:r>
            <a:r>
              <a:rPr dirty="0" sz="950" spc="60">
                <a:solidFill>
                  <a:srgbClr val="38679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48CAC"/>
                </a:solidFill>
                <a:latin typeface="Calibri"/>
                <a:cs typeface="Calibri"/>
              </a:rPr>
              <a:t>eligibility</a:t>
            </a:r>
            <a:r>
              <a:rPr dirty="0" sz="950" spc="65">
                <a:solidFill>
                  <a:srgbClr val="648CA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5279"/>
                </a:solidFill>
                <a:latin typeface="Calibri"/>
                <a:cs typeface="Calibri"/>
              </a:rPr>
              <a:t>for</a:t>
            </a:r>
            <a:r>
              <a:rPr dirty="0" sz="950" spc="15">
                <a:solidFill>
                  <a:srgbClr val="235279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C3D56"/>
                </a:solidFill>
                <a:latin typeface="Calibri"/>
                <a:cs typeface="Calibri"/>
              </a:rPr>
              <a:t>NSAP</a:t>
            </a:r>
            <a:r>
              <a:rPr dirty="0" sz="950" spc="45">
                <a:solidFill>
                  <a:srgbClr val="1C3D56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4D7595"/>
                </a:solidFill>
                <a:latin typeface="Calibri"/>
                <a:cs typeface="Calibri"/>
              </a:rPr>
              <a:t>schemes</a:t>
            </a:r>
            <a:r>
              <a:rPr dirty="0" sz="950" spc="30">
                <a:solidFill>
                  <a:srgbClr val="4D759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689A5"/>
                </a:solidFill>
                <a:latin typeface="Calibri"/>
                <a:cs typeface="Calibri"/>
              </a:rPr>
              <a:t>project</a:t>
            </a:r>
            <a:r>
              <a:rPr dirty="0" sz="950" spc="459">
                <a:solidFill>
                  <a:srgbClr val="6689A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B3B3B"/>
                </a:solidFill>
                <a:latin typeface="Calibri"/>
                <a:cs typeface="Calibri"/>
              </a:rPr>
              <a:t>/</a:t>
            </a:r>
            <a:r>
              <a:rPr dirty="0" sz="950" spc="3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predicting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etigit›itity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-3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NSAP</a:t>
            </a:r>
            <a:r>
              <a:rPr dirty="0" sz="950" spc="-10">
                <a:latin typeface="Calibri"/>
                <a:cs typeface="Calibri"/>
              </a:rPr>
              <a:t> schemes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5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tabLst>
                <a:tab pos="1343660" algn="l"/>
              </a:tabLst>
            </a:pPr>
            <a:r>
              <a:rPr dirty="0" sz="850" spc="10">
                <a:latin typeface="Calibri"/>
                <a:cs typeface="Calibri"/>
              </a:rPr>
              <a:t>Experiment</a:t>
            </a:r>
            <a:r>
              <a:rPr dirty="0" sz="850" spc="32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summary</a:t>
            </a:r>
            <a:r>
              <a:rPr dirty="0" sz="850">
                <a:latin typeface="Calibri"/>
                <a:cs typeface="Calibri"/>
              </a:rPr>
              <a:t>	</a:t>
            </a:r>
            <a:r>
              <a:rPr dirty="0" sz="850" spc="10">
                <a:solidFill>
                  <a:srgbClr val="677E9E"/>
                </a:solidFill>
                <a:latin typeface="Calibri"/>
                <a:cs typeface="Calibri"/>
              </a:rPr>
              <a:t>Pipeline</a:t>
            </a:r>
            <a:r>
              <a:rPr dirty="0" sz="850" spc="195">
                <a:solidFill>
                  <a:srgbClr val="677E9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5980A1"/>
                </a:solidFill>
                <a:latin typeface="Calibri"/>
                <a:cs typeface="Calibri"/>
              </a:rPr>
              <a:t>comparison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623" y="4368729"/>
            <a:ext cx="98425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latin typeface="Calibri"/>
                <a:cs typeface="Calibri"/>
              </a:rPr>
              <a:t>Leaderboard</a:t>
            </a:r>
            <a:r>
              <a:rPr dirty="0" sz="1150" spc="185">
                <a:latin typeface="Calibri"/>
                <a:cs typeface="Calibri"/>
              </a:rPr>
              <a:t>  </a:t>
            </a:r>
            <a:r>
              <a:rPr dirty="0" sz="1150" spc="5">
                <a:solidFill>
                  <a:srgbClr val="0F0F0F"/>
                </a:solidFill>
                <a:latin typeface="Calibri"/>
                <a:cs typeface="Calibri"/>
              </a:rPr>
              <a:t>9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4786" y="4757061"/>
            <a:ext cx="30924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35">
                <a:latin typeface="Courier New"/>
                <a:cs typeface="Courier New"/>
              </a:rPr>
              <a:t>Name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8635" y="5164566"/>
            <a:ext cx="50990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">
                <a:latin typeface="Calibri"/>
                <a:cs typeface="Calibri"/>
              </a:rPr>
              <a:t>Pipeline</a:t>
            </a:r>
            <a:r>
              <a:rPr dirty="0" sz="850" spc="220">
                <a:latin typeface="Calibri"/>
                <a:cs typeface="Calibri"/>
              </a:rPr>
              <a:t> </a:t>
            </a:r>
            <a:r>
              <a:rPr dirty="0" sz="850" spc="5">
                <a:solidFill>
                  <a:srgbClr val="0C0C0C"/>
                </a:solidFill>
                <a:latin typeface="Calibri"/>
                <a:cs typeface="Calibri"/>
              </a:rPr>
              <a:t>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7532" y="5523349"/>
            <a:ext cx="50927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latin typeface="Calibri"/>
                <a:cs typeface="Calibri"/>
              </a:rPr>
              <a:t>Pipeline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161616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8635" y="5908396"/>
            <a:ext cx="50673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">
                <a:latin typeface="Calibri"/>
                <a:cs typeface="Calibri"/>
              </a:rPr>
              <a:t>Pipeline</a:t>
            </a:r>
            <a:r>
              <a:rPr dirty="0" sz="850" spc="195">
                <a:latin typeface="Calibri"/>
                <a:cs typeface="Calibri"/>
              </a:rPr>
              <a:t> </a:t>
            </a:r>
            <a:r>
              <a:rPr dirty="0" sz="850" spc="5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8359" y="6277028"/>
            <a:ext cx="5035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20">
                <a:latin typeface="Calibri"/>
                <a:cs typeface="Calibri"/>
              </a:rPr>
              <a:t>Pipeline</a:t>
            </a:r>
            <a:r>
              <a:rPr dirty="0" sz="850" spc="80">
                <a:latin typeface="Calibri"/>
                <a:cs typeface="Calibri"/>
              </a:rPr>
              <a:t> </a:t>
            </a:r>
            <a:r>
              <a:rPr dirty="0" sz="850" spc="5"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15025" y="4773477"/>
            <a:ext cx="499109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>
                <a:latin typeface="Calibri"/>
                <a:cs typeface="Calibri"/>
              </a:rPr>
              <a:t>Algorithm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42615" y="5138301"/>
            <a:ext cx="509905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5265" algn="l"/>
              </a:tabLst>
            </a:pPr>
            <a:r>
              <a:rPr dirty="0" sz="1050" spc="-50">
                <a:solidFill>
                  <a:srgbClr val="6D6D6D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6D6D6D"/>
                </a:solidFill>
                <a:latin typeface="Calibri"/>
                <a:cs typeface="Calibri"/>
              </a:rPr>
              <a:t>	</a:t>
            </a:r>
            <a:r>
              <a:rPr dirty="0" sz="1050" spc="-25">
                <a:latin typeface="Calibri"/>
                <a:cs typeface="Calibri"/>
              </a:rPr>
              <a:t>nidge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10965" y="5520066"/>
            <a:ext cx="44259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solidFill>
                  <a:srgbClr val="6B6B6B"/>
                </a:solidFill>
                <a:latin typeface="Calibri"/>
                <a:cs typeface="Calibri"/>
              </a:rPr>
              <a:t>O</a:t>
            </a:r>
            <a:r>
              <a:rPr dirty="0" sz="950" spc="195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Calibri"/>
                <a:cs typeface="Calibri"/>
              </a:rPr>
              <a:t>Ridge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72698" y="5901830"/>
            <a:ext cx="473709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6B6B6B"/>
                </a:solidFill>
                <a:latin typeface="Calibri"/>
                <a:cs typeface="Calibri"/>
              </a:rPr>
              <a:t>0</a:t>
            </a:r>
            <a:r>
              <a:rPr dirty="0" sz="900" spc="275">
                <a:solidFill>
                  <a:srgbClr val="6B6B6B"/>
                </a:solidFill>
                <a:latin typeface="Calibri"/>
                <a:cs typeface="Calibri"/>
              </a:rPr>
              <a:t>  </a:t>
            </a:r>
            <a:r>
              <a:rPr dirty="0" sz="900" spc="-10">
                <a:latin typeface="Calibri"/>
                <a:cs typeface="Calibri"/>
              </a:rPr>
              <a:t>flidge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75128" y="6273745"/>
            <a:ext cx="47752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696969"/>
                </a:solidFill>
                <a:latin typeface="Consolas"/>
                <a:cs typeface="Consolas"/>
              </a:rPr>
              <a:t>0</a:t>
            </a:r>
            <a:r>
              <a:rPr dirty="0" sz="900" spc="350">
                <a:solidFill>
                  <a:srgbClr val="696969"/>
                </a:solidFill>
                <a:latin typeface="Consolas"/>
                <a:cs typeface="Consolas"/>
              </a:rPr>
              <a:t> </a:t>
            </a:r>
            <a:r>
              <a:rPr dirty="0" sz="900" spc="-55">
                <a:latin typeface="Consolas"/>
                <a:cs typeface="Consolas"/>
              </a:rPr>
              <a:t>Ridge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49667" y="3490684"/>
            <a:ext cx="9321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latin typeface="Calibri"/>
                <a:cs typeface="Calibri"/>
              </a:rPr>
              <a:t>PEN5IOI'J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DATA.csv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43709" y="4687453"/>
            <a:ext cx="902969" cy="3149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950" spc="60">
                <a:latin typeface="Calibri"/>
                <a:cs typeface="Calibri"/>
              </a:rPr>
              <a:t>RNSE</a:t>
            </a:r>
            <a:r>
              <a:rPr dirty="0" sz="950" spc="-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(Optimized)</a:t>
            </a:r>
            <a:endParaRPr sz="95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Cross</a:t>
            </a:r>
            <a:r>
              <a:rPr dirty="0" sz="750" spc="17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Calibri"/>
                <a:cs typeface="Calibri"/>
              </a:rPr>
              <a:t>validation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46120" y="5154717"/>
            <a:ext cx="49403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0">
                <a:latin typeface="Consolas"/>
                <a:cs typeface="Consolas"/>
              </a:rPr>
              <a:t>1321539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42817" y="5523349"/>
            <a:ext cx="4953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45">
                <a:latin typeface="Courier New"/>
                <a:cs typeface="Courier New"/>
              </a:rPr>
              <a:t>l3ZL665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44984" y="5905376"/>
            <a:ext cx="495934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70">
                <a:latin typeface="Calibri"/>
                <a:cs typeface="Calibri"/>
              </a:rPr>
              <a:t>16Z4.B52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240020" y="6263896"/>
            <a:ext cx="50292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40">
                <a:solidFill>
                  <a:srgbClr val="0C0C0C"/>
                </a:solidFill>
                <a:latin typeface="Courier New"/>
                <a:cs typeface="Courier New"/>
              </a:rPr>
              <a:t>16248B2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24058" y="1445675"/>
            <a:ext cx="61341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565656"/>
                </a:solidFill>
                <a:latin typeface="Calibri"/>
                <a:cs typeface="Calibri"/>
              </a:rPr>
              <a:t>/experiment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80548" y="2431277"/>
            <a:ext cx="8826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latin typeface="Calibri"/>
                <a:cs typeface="Calibri"/>
              </a:rPr>
              <a:t>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44287" y="2440732"/>
            <a:ext cx="221996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2923" sz="1425">
                <a:latin typeface="Calibri"/>
                <a:cs typeface="Calibri"/>
              </a:rPr>
              <a:t>Rank</a:t>
            </a:r>
            <a:r>
              <a:rPr dirty="0" baseline="2923" sz="1425" spc="-60">
                <a:latin typeface="Calibri"/>
                <a:cs typeface="Calibri"/>
              </a:rPr>
              <a:t> </a:t>
            </a:r>
            <a:r>
              <a:rPr dirty="0" baseline="2923" sz="1425">
                <a:latin typeface="Calibri"/>
                <a:cs typeface="Calibri"/>
              </a:rPr>
              <a:t>by:</a:t>
            </a:r>
            <a:r>
              <a:rPr dirty="0" baseline="2923" sz="1425" spc="240">
                <a:latin typeface="Calibri"/>
                <a:cs typeface="Calibri"/>
              </a:rPr>
              <a:t> </a:t>
            </a:r>
            <a:r>
              <a:rPr dirty="0" baseline="2923" sz="1425" spc="-15">
                <a:latin typeface="Calibri"/>
                <a:cs typeface="Calibri"/>
              </a:rPr>
              <a:t>Root</a:t>
            </a:r>
            <a:r>
              <a:rPr dirty="0" baseline="2923" sz="1425" spc="7">
                <a:latin typeface="Calibri"/>
                <a:cs typeface="Calibri"/>
              </a:rPr>
              <a:t> </a:t>
            </a:r>
            <a:r>
              <a:rPr dirty="0" baseline="2923" sz="1425" spc="-15">
                <a:solidFill>
                  <a:srgbClr val="161616"/>
                </a:solidFill>
                <a:latin typeface="Calibri"/>
                <a:cs typeface="Calibri"/>
              </a:rPr>
              <a:t>mean</a:t>
            </a:r>
            <a:r>
              <a:rPr dirty="0" baseline="2923" sz="1425" spc="1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baseline="2923" sz="1425" spc="-15">
                <a:latin typeface="Calibri"/>
                <a:cs typeface="Calibri"/>
              </a:rPr>
              <a:t>squared</a:t>
            </a:r>
            <a:r>
              <a:rPr dirty="0" baseline="2923" sz="1425" spc="44">
                <a:latin typeface="Calibri"/>
                <a:cs typeface="Calibri"/>
              </a:rPr>
              <a:t> </a:t>
            </a:r>
            <a:r>
              <a:rPr dirty="0" baseline="2923" sz="1425" spc="-15">
                <a:latin typeface="Calibri"/>
                <a:cs typeface="Calibri"/>
              </a:rPr>
              <a:t>error</a:t>
            </a:r>
            <a:r>
              <a:rPr dirty="0" baseline="2923" sz="1425" spc="52"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11111"/>
                </a:solidFill>
                <a:latin typeface="Calibri"/>
                <a:cs typeface="Calibri"/>
              </a:rPr>
              <a:t>t</a:t>
            </a:r>
            <a:r>
              <a:rPr dirty="0" baseline="2923" sz="1425">
                <a:solidFill>
                  <a:srgbClr val="111111"/>
                </a:solidFill>
                <a:latin typeface="Calibri"/>
                <a:cs typeface="Calibri"/>
              </a:rPr>
              <a:t>RN5E)</a:t>
            </a:r>
            <a:r>
              <a:rPr dirty="0" baseline="2923" sz="1425" spc="3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baseline="2923" sz="1425" spc="-75">
                <a:latin typeface="Calibri"/>
                <a:cs typeface="Calibri"/>
              </a:rPr>
              <a:t>4</a:t>
            </a:r>
            <a:endParaRPr baseline="2923" sz="1425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88006" y="3361328"/>
            <a:ext cx="14033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7589A7"/>
                </a:solidFill>
                <a:latin typeface="Courier New"/>
                <a:cs typeface="Courier New"/>
              </a:rPr>
              <a:t>O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42384" y="2765560"/>
            <a:ext cx="1573530" cy="7626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330"/>
              </a:spcBef>
            </a:pPr>
            <a:r>
              <a:rPr dirty="0" sz="800">
                <a:latin typeface="Calibri"/>
                <a:cs typeface="Calibri"/>
              </a:rPr>
              <a:t>Savnd</a:t>
            </a:r>
            <a:r>
              <a:rPr dirty="0" sz="800" spc="1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fflodel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successfully.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8300"/>
              </a:lnSpc>
              <a:spcBef>
                <a:spcPts val="195"/>
              </a:spcBef>
            </a:pPr>
            <a:r>
              <a:rPr dirty="0" sz="850">
                <a:latin typeface="Calibri"/>
                <a:cs typeface="Calibri"/>
              </a:rPr>
              <a:t>P3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83838"/>
                </a:solidFill>
                <a:latin typeface="Calibri"/>
                <a:cs typeface="Calibri"/>
              </a:rPr>
              <a:t>-</a:t>
            </a:r>
            <a:r>
              <a:rPr dirty="0" sz="850" spc="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Ridge:</a:t>
            </a:r>
            <a:r>
              <a:rPr dirty="0" sz="850" spc="5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predict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ng</a:t>
            </a:r>
            <a:r>
              <a:rPr dirty="0" sz="850" spc="-35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61616"/>
                </a:solidFill>
                <a:latin typeface="Calibri"/>
                <a:cs typeface="Calibri"/>
              </a:rPr>
              <a:t>eligibility</a:t>
            </a:r>
            <a:r>
              <a:rPr dirty="0" sz="850" spc="6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2D2D2D"/>
                </a:solidFill>
                <a:latin typeface="Calibri"/>
                <a:cs typeface="Calibri"/>
              </a:rPr>
              <a:t>for</a:t>
            </a:r>
            <a:r>
              <a:rPr dirty="0" sz="850" spc="50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NSAP</a:t>
            </a:r>
            <a:r>
              <a:rPr dirty="0" sz="850" spc="70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0C0C0C"/>
                </a:solidFill>
                <a:latin typeface="Calibri"/>
                <a:cs typeface="Calibri"/>
              </a:rPr>
              <a:t>schemes</a:t>
            </a:r>
            <a:r>
              <a:rPr dirty="0" sz="850" spc="1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0C0C0C"/>
                </a:solidFill>
                <a:latin typeface="Calibri"/>
                <a:cs typeface="Calibri"/>
              </a:rPr>
              <a:t>was</a:t>
            </a:r>
            <a:r>
              <a:rPr dirty="0" sz="850" spc="1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successfully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2A2A2A"/>
                </a:solidFill>
                <a:latin typeface="Calibri"/>
                <a:cs typeface="Calibri"/>
              </a:rPr>
              <a:t>saved</a:t>
            </a:r>
            <a:r>
              <a:rPr dirty="0" sz="800" spc="9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dirty="0" sz="800" spc="1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latin typeface="Calibri"/>
                <a:cs typeface="Calibri"/>
              </a:rPr>
              <a:t>predicting</a:t>
            </a:r>
            <a:r>
              <a:rPr dirty="0" sz="800" spc="85">
                <a:latin typeface="Calibri"/>
                <a:cs typeface="Calibri"/>
              </a:rPr>
              <a:t> </a:t>
            </a:r>
            <a:r>
              <a:rPr dirty="0" sz="800" spc="10">
                <a:latin typeface="Calibri"/>
                <a:cs typeface="Calibri"/>
              </a:rPr>
              <a:t>eligibility</a:t>
            </a:r>
            <a:r>
              <a:rPr dirty="0" sz="800" spc="125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for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NSAP </a:t>
            </a:r>
            <a:r>
              <a:rPr dirty="0" sz="900" spc="-10">
                <a:latin typeface="Calibri"/>
                <a:cs typeface="Calibri"/>
              </a:rPr>
              <a:t>schemes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F1F1F"/>
                </a:solidFill>
                <a:latin typeface="Calibri"/>
                <a:cs typeface="Calibri"/>
              </a:rPr>
              <a:t>project.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51708" y="3611110"/>
            <a:ext cx="4432935" cy="5943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05075">
              <a:lnSpc>
                <a:spcPct val="100000"/>
              </a:lnSpc>
              <a:spcBef>
                <a:spcPts val="125"/>
              </a:spcBef>
            </a:pPr>
            <a:r>
              <a:rPr dirty="0" u="heavy" sz="750" spc="50">
                <a:solidFill>
                  <a:srgbClr val="213F79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View</a:t>
            </a:r>
            <a:r>
              <a:rPr dirty="0" u="heavy" sz="750" spc="80">
                <a:solidFill>
                  <a:srgbClr val="213F79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750">
                <a:solidFill>
                  <a:srgbClr val="697E9E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in</a:t>
            </a:r>
            <a:r>
              <a:rPr dirty="0" sz="750" spc="50">
                <a:solidFill>
                  <a:srgbClr val="697E9E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5D79A1"/>
                </a:solidFill>
                <a:latin typeface="Calibri"/>
                <a:cs typeface="Calibri"/>
              </a:rPr>
              <a:t>proj</a:t>
            </a:r>
            <a:r>
              <a:rPr dirty="0" u="heavy" sz="750" spc="-10">
                <a:solidFill>
                  <a:srgbClr val="5D79A1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ect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850" spc="20">
                <a:solidFill>
                  <a:srgbClr val="131313"/>
                </a:solidFill>
                <a:latin typeface="Calibri"/>
                <a:cs typeface="Calibri"/>
              </a:rPr>
              <a:t>P3</a:t>
            </a:r>
            <a:r>
              <a:rPr dirty="0" sz="850" spc="39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850" spc="20">
                <a:solidFill>
                  <a:srgbClr val="2F2F2F"/>
                </a:solidFill>
                <a:latin typeface="Calibri"/>
                <a:cs typeface="Calibri"/>
              </a:rPr>
              <a:t>-</a:t>
            </a:r>
            <a:r>
              <a:rPr dirty="0" sz="850" spc="114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850" spc="20">
                <a:latin typeface="Calibri"/>
                <a:cs typeface="Calibri"/>
              </a:rPr>
              <a:t>Ridge:</a:t>
            </a:r>
            <a:r>
              <a:rPr dirty="0" sz="850" spc="25">
                <a:latin typeface="Calibri"/>
                <a:cs typeface="Calibri"/>
              </a:rPr>
              <a:t> </a:t>
            </a:r>
            <a:r>
              <a:rPr dirty="0" sz="850" spc="20">
                <a:latin typeface="Calibri"/>
                <a:cs typeface="Calibri"/>
              </a:rPr>
              <a:t>predicting</a:t>
            </a:r>
            <a:r>
              <a:rPr dirty="0" sz="850" spc="70">
                <a:latin typeface="Calibri"/>
                <a:cs typeface="Calibri"/>
              </a:rPr>
              <a:t> </a:t>
            </a:r>
            <a:r>
              <a:rPr dirty="0" sz="850" spc="20">
                <a:latin typeface="Calibri"/>
                <a:cs typeface="Calibri"/>
              </a:rPr>
              <a:t>eligibility</a:t>
            </a:r>
            <a:r>
              <a:rPr dirty="0" sz="850" spc="125">
                <a:latin typeface="Calibri"/>
                <a:cs typeface="Calibri"/>
              </a:rPr>
              <a:t> </a:t>
            </a:r>
            <a:r>
              <a:rPr dirty="0" sz="850" spc="10">
                <a:latin typeface="Calibri"/>
                <a:cs typeface="Calibri"/>
              </a:rPr>
              <a:t>for</a:t>
            </a:r>
            <a:r>
              <a:rPr dirty="0" sz="850" spc="60">
                <a:latin typeface="Calibri"/>
                <a:cs typeface="Calibri"/>
              </a:rPr>
              <a:t> </a:t>
            </a:r>
            <a:r>
              <a:rPr dirty="0" sz="850" spc="75">
                <a:solidFill>
                  <a:srgbClr val="0F0F0F"/>
                </a:solidFill>
                <a:latin typeface="Calibri"/>
                <a:cs typeface="Calibri"/>
              </a:rPr>
              <a:t>NSAP</a:t>
            </a:r>
            <a:r>
              <a:rPr dirty="0" sz="850" spc="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850" spc="20">
                <a:solidFill>
                  <a:srgbClr val="1D1D1D"/>
                </a:solidFill>
                <a:latin typeface="Calibri"/>
                <a:cs typeface="Calibri"/>
              </a:rPr>
              <a:t>schemes</a:t>
            </a:r>
            <a:r>
              <a:rPr dirty="0" sz="850" spc="7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latin typeface="Calibri"/>
                <a:cs typeface="Calibri"/>
              </a:rPr>
              <a:t>was</a:t>
            </a:r>
            <a:r>
              <a:rPr dirty="0" sz="850" spc="85">
                <a:latin typeface="Calibri"/>
                <a:cs typeface="Calibri"/>
              </a:rPr>
              <a:t> </a:t>
            </a:r>
            <a:r>
              <a:rPr dirty="0" sz="850" spc="20">
                <a:latin typeface="Calibri"/>
                <a:cs typeface="Calibri"/>
              </a:rPr>
              <a:t>successfully</a:t>
            </a:r>
            <a:r>
              <a:rPr dirty="0" sz="850" spc="135">
                <a:latin typeface="Calibri"/>
                <a:cs typeface="Calibri"/>
              </a:rPr>
              <a:t> </a:t>
            </a:r>
            <a:r>
              <a:rPr dirty="0" sz="850" spc="20">
                <a:solidFill>
                  <a:srgbClr val="111111"/>
                </a:solidFill>
                <a:latin typeface="Calibri"/>
                <a:cs typeface="Calibri"/>
              </a:rPr>
              <a:t>saved...View</a:t>
            </a:r>
            <a:r>
              <a:rPr dirty="0" sz="850" spc="1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850" spc="20">
                <a:solidFill>
                  <a:srgbClr val="64729A"/>
                </a:solidFill>
                <a:latin typeface="Calibri"/>
                <a:cs typeface="Calibri"/>
              </a:rPr>
              <a:t>in</a:t>
            </a:r>
            <a:r>
              <a:rPr dirty="0" sz="850" spc="-5">
                <a:solidFill>
                  <a:srgbClr val="64729A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28AB1"/>
                </a:solidFill>
                <a:latin typeface="Calibri"/>
                <a:cs typeface="Calibri"/>
              </a:rPr>
              <a:t>project</a:t>
            </a:r>
            <a:endParaRPr sz="850">
              <a:latin typeface="Calibri"/>
              <a:cs typeface="Calibri"/>
            </a:endParaRPr>
          </a:p>
          <a:p>
            <a:pPr marL="2447925">
              <a:lnSpc>
                <a:spcPct val="100000"/>
              </a:lnSpc>
              <a:spcBef>
                <a:spcPts val="645"/>
              </a:spcBef>
              <a:tabLst>
                <a:tab pos="3505200" algn="l"/>
              </a:tabLst>
            </a:pPr>
            <a:r>
              <a:rPr dirty="0" sz="850">
                <a:solidFill>
                  <a:srgbClr val="333B60"/>
                </a:solidFill>
                <a:latin typeface="Calibri"/>
                <a:cs typeface="Calibri"/>
              </a:rPr>
              <a:t>View</a:t>
            </a:r>
            <a:r>
              <a:rPr dirty="0" sz="850" spc="45">
                <a:solidFill>
                  <a:srgbClr val="333B60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626985"/>
                </a:solidFill>
                <a:latin typeface="Calibri"/>
                <a:cs typeface="Calibri"/>
              </a:rPr>
              <a:t>log</a:t>
            </a:r>
            <a:r>
              <a:rPr dirty="0" sz="850">
                <a:solidFill>
                  <a:srgbClr val="626985"/>
                </a:solidFill>
                <a:latin typeface="Calibri"/>
                <a:cs typeface="Calibri"/>
              </a:rPr>
              <a:t>	</a:t>
            </a:r>
            <a:r>
              <a:rPr dirty="0" sz="850">
                <a:solidFill>
                  <a:srgbClr val="878CAC"/>
                </a:solidFill>
                <a:latin typeface="Calibri"/>
                <a:cs typeface="Calibri"/>
              </a:rPr>
              <a:t>Save</a:t>
            </a:r>
            <a:r>
              <a:rPr dirty="0" sz="850" spc="150">
                <a:solidFill>
                  <a:srgbClr val="878CAC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7C7CA1"/>
                </a:solidFill>
                <a:latin typeface="Calibri"/>
                <a:cs typeface="Calibri"/>
              </a:rPr>
              <a:t>code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758090" y="1762828"/>
            <a:ext cx="15811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60">
                <a:latin typeface="Courier New"/>
                <a:cs typeface="Courier New"/>
              </a:rPr>
              <a:t>DA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877568" y="4773477"/>
            <a:ext cx="73723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>
                <a:latin typeface="Calibri"/>
                <a:cs typeface="Calibri"/>
              </a:rPr>
              <a:t>Enhancements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41734" y="5536744"/>
            <a:ext cx="5695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025" algn="l"/>
              </a:tabLst>
            </a:pPr>
            <a:r>
              <a:rPr dirty="0" sz="800">
                <a:latin typeface="Calibri"/>
                <a:cs typeface="Calibri"/>
              </a:rPr>
              <a:t>HPO-</a:t>
            </a:r>
            <a:r>
              <a:rPr dirty="0" sz="800" spc="-50">
                <a:latin typeface="Calibri"/>
                <a:cs typeface="Calibri"/>
              </a:rPr>
              <a:t>1</a:t>
            </a:r>
            <a:r>
              <a:rPr dirty="0" sz="800">
                <a:latin typeface="Calibri"/>
                <a:cs typeface="Calibri"/>
              </a:rPr>
              <a:t>	</a:t>
            </a:r>
            <a:r>
              <a:rPr dirty="0" sz="800" spc="-25">
                <a:latin typeface="Calibri"/>
                <a:cs typeface="Calibri"/>
              </a:rPr>
              <a:t>FE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41182" y="5902093"/>
            <a:ext cx="3003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35">
                <a:latin typeface="Calibri"/>
                <a:cs typeface="Calibri"/>
              </a:rPr>
              <a:t>HPO—</a:t>
            </a:r>
            <a:r>
              <a:rPr dirty="0" sz="850" spc="-50"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77292" y="6270462"/>
            <a:ext cx="27495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20">
                <a:solidFill>
                  <a:srgbClr val="131313"/>
                </a:solidFill>
                <a:latin typeface="Calibri"/>
                <a:cs typeface="Calibri"/>
              </a:rPr>
              <a:t>None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30346" y="4780043"/>
            <a:ext cx="52768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55">
                <a:latin typeface="Calibri"/>
                <a:cs typeface="Calibri"/>
              </a:rPr>
              <a:t>Build</a:t>
            </a:r>
            <a:r>
              <a:rPr dirty="0" sz="850" spc="-70"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35060" y="5148150"/>
            <a:ext cx="46799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Calibri"/>
                <a:cs typeface="Calibri"/>
              </a:rPr>
              <a:t>00:00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57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35522" y="5533199"/>
            <a:ext cx="464184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40">
                <a:solidFill>
                  <a:srgbClr val="0E0E0E"/>
                </a:solidFill>
                <a:latin typeface="Calibri"/>
                <a:cs typeface="Calibri"/>
              </a:rPr>
              <a:t>00:00:31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32415" y="5905113"/>
            <a:ext cx="46482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0">
                <a:solidFill>
                  <a:srgbClr val="131313"/>
                </a:solidFill>
                <a:latin typeface="Cambria"/>
                <a:cs typeface="Cambria"/>
              </a:rPr>
              <a:t>00:00:OS</a:t>
            </a:r>
            <a:endParaRPr sz="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528" y="4648973"/>
            <a:ext cx="171038" cy="5589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6112" y="4648973"/>
            <a:ext cx="105254" cy="5589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6091" y="3557418"/>
            <a:ext cx="105254" cy="1650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55872" y="2742039"/>
            <a:ext cx="263136" cy="13151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1052102"/>
            <a:ext cx="10052050" cy="375285"/>
            <a:chOff x="0" y="1052102"/>
            <a:chExt cx="10052050" cy="37528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58560" y="1177038"/>
              <a:ext cx="1934055" cy="1249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052102"/>
              <a:ext cx="10052050" cy="375285"/>
            </a:xfrm>
            <a:custGeom>
              <a:avLst/>
              <a:gdLst/>
              <a:ahLst/>
              <a:cxnLst/>
              <a:rect l="l" t="t" r="r" b="b"/>
              <a:pathLst>
                <a:path w="10052050" h="375284">
                  <a:moveTo>
                    <a:pt x="10051815" y="374811"/>
                  </a:moveTo>
                  <a:lnTo>
                    <a:pt x="0" y="374811"/>
                  </a:lnTo>
                  <a:lnTo>
                    <a:pt x="0" y="0"/>
                  </a:lnTo>
                  <a:lnTo>
                    <a:pt x="10051815" y="0"/>
                  </a:lnTo>
                  <a:lnTo>
                    <a:pt x="10051815" y="374811"/>
                  </a:lnTo>
                  <a:close/>
                </a:path>
              </a:pathLst>
            </a:custGeom>
            <a:solidFill>
              <a:srgbClr val="3D42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6307" y="1137671"/>
            <a:ext cx="6858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"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982" y="1137671"/>
            <a:ext cx="83248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î</a:t>
            </a:r>
            <a:r>
              <a:rPr dirty="0" sz="9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BM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95">
                <a:solidFill>
                  <a:srgbClr val="FFFFFF"/>
                </a:solidFill>
                <a:latin typeface="Arial MT"/>
                <a:cs typeface="Arial MT"/>
              </a:rPr>
              <a:t>watsonx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97991" y="6332335"/>
            <a:ext cx="1460500" cy="387985"/>
            <a:chOff x="8597991" y="6332335"/>
            <a:chExt cx="1460500" cy="38798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7991" y="6332335"/>
              <a:ext cx="1460408" cy="38796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7991" y="6332335"/>
              <a:ext cx="1460408" cy="38796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17087" y="3945380"/>
            <a:ext cx="322580" cy="328930"/>
            <a:chOff x="217087" y="3945380"/>
            <a:chExt cx="322580" cy="32893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401" y="3945380"/>
              <a:ext cx="59205" cy="526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3401" y="4188679"/>
              <a:ext cx="59205" cy="8548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7087" y="4004561"/>
              <a:ext cx="322342" cy="17754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98393" y="3116850"/>
            <a:ext cx="72362" cy="7233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04972" y="3379876"/>
            <a:ext cx="65784" cy="7233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04972" y="3905927"/>
            <a:ext cx="59205" cy="723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04972" y="4168951"/>
            <a:ext cx="65784" cy="7890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11551" y="4438553"/>
            <a:ext cx="52627" cy="7233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04972" y="5497230"/>
            <a:ext cx="59205" cy="6575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52304" y="3116850"/>
            <a:ext cx="552587" cy="7233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52304" y="4438553"/>
            <a:ext cx="710469" cy="7233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663855" y="1538697"/>
            <a:ext cx="1960368" cy="10521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30244" y="3218773"/>
            <a:ext cx="1180825" cy="8219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045727" y="3639614"/>
            <a:ext cx="855194" cy="8219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17087" y="4359645"/>
            <a:ext cx="85519" cy="9863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453185" y="1906934"/>
            <a:ext cx="605214" cy="34850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34266" y="1500608"/>
            <a:ext cx="527621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20">
                <a:solidFill>
                  <a:srgbClr val="90A5CF"/>
                </a:solidFill>
                <a:latin typeface="Calibri"/>
                <a:cs typeface="Calibri"/>
              </a:rPr>
              <a:t>Projects</a:t>
            </a:r>
            <a:r>
              <a:rPr dirty="0" sz="900" spc="350">
                <a:solidFill>
                  <a:srgbClr val="90A5C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7C7C7C"/>
                </a:solidFill>
                <a:latin typeface="Calibri"/>
                <a:cs typeface="Calibri"/>
              </a:rPr>
              <a:t>/</a:t>
            </a:r>
            <a:r>
              <a:rPr dirty="0" sz="900" spc="40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495B89"/>
                </a:solidFill>
                <a:latin typeface="Calibri"/>
                <a:cs typeface="Calibri"/>
              </a:rPr>
              <a:t>preclicting</a:t>
            </a:r>
            <a:r>
              <a:rPr dirty="0" sz="900" spc="120">
                <a:solidFill>
                  <a:srgbClr val="495B89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5980B8"/>
                </a:solidFill>
                <a:latin typeface="Calibri"/>
                <a:cs typeface="Calibri"/>
              </a:rPr>
              <a:t>eligibility</a:t>
            </a:r>
            <a:r>
              <a:rPr dirty="0" sz="900" spc="125">
                <a:solidFill>
                  <a:srgbClr val="5980B8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526EA3"/>
                </a:solidFill>
                <a:latin typeface="Calibri"/>
                <a:cs typeface="Calibri"/>
              </a:rPr>
              <a:t>fnr</a:t>
            </a:r>
            <a:r>
              <a:rPr dirty="0" sz="900" spc="35">
                <a:solidFill>
                  <a:srgbClr val="526EA3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6080C3"/>
                </a:solidFill>
                <a:latin typeface="Calibri"/>
                <a:cs typeface="Calibri"/>
              </a:rPr>
              <a:t>NSAP</a:t>
            </a:r>
            <a:r>
              <a:rPr dirty="0" sz="900" spc="45">
                <a:solidFill>
                  <a:srgbClr val="6080C3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5B7CAC"/>
                </a:solidFill>
                <a:latin typeface="Calibri"/>
                <a:cs typeface="Calibri"/>
              </a:rPr>
              <a:t>schemes</a:t>
            </a:r>
            <a:r>
              <a:rPr dirty="0" sz="900" spc="70">
                <a:solidFill>
                  <a:srgbClr val="5B7CAC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3656A1"/>
                </a:solidFill>
                <a:latin typeface="Calibri"/>
                <a:cs typeface="Calibri"/>
              </a:rPr>
              <a:t>project</a:t>
            </a:r>
            <a:r>
              <a:rPr dirty="0" sz="900" spc="440">
                <a:solidFill>
                  <a:srgbClr val="3656A1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727272"/>
                </a:solidFill>
                <a:latin typeface="Calibri"/>
                <a:cs typeface="Calibri"/>
              </a:rPr>
              <a:t>/</a:t>
            </a:r>
            <a:r>
              <a:rPr dirty="0" sz="900" spc="455">
                <a:solidFill>
                  <a:srgbClr val="727272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Calibri"/>
                <a:cs typeface="Calibri"/>
              </a:rPr>
              <a:t>precl</a:t>
            </a:r>
            <a:r>
              <a:rPr dirty="0" sz="900" spc="20">
                <a:solidFill>
                  <a:srgbClr val="343434"/>
                </a:solidFill>
                <a:latin typeface="Calibri"/>
                <a:cs typeface="Calibri"/>
              </a:rPr>
              <a:t>icting</a:t>
            </a:r>
            <a:r>
              <a:rPr dirty="0" sz="900" spc="4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313131"/>
                </a:solidFill>
                <a:latin typeface="Calibri"/>
                <a:cs typeface="Calibri"/>
              </a:rPr>
              <a:t>Etigihility</a:t>
            </a:r>
            <a:r>
              <a:rPr dirty="0" sz="900" spc="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313131"/>
                </a:solidFill>
                <a:latin typeface="Calibri"/>
                <a:cs typeface="Calibri"/>
              </a:rPr>
              <a:t>for</a:t>
            </a:r>
            <a:r>
              <a:rPr dirty="0" sz="900" spc="3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900" spc="105">
                <a:solidFill>
                  <a:srgbClr val="343434"/>
                </a:solidFill>
                <a:latin typeface="Calibri"/>
                <a:cs typeface="Calibri"/>
              </a:rPr>
              <a:t>NASP</a:t>
            </a:r>
            <a:r>
              <a:rPr dirty="0" sz="900" spc="4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1A1A1A"/>
                </a:solidFill>
                <a:latin typeface="Calibri"/>
                <a:cs typeface="Calibri"/>
              </a:rPr>
              <a:t>schemes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744" y="1935879"/>
            <a:ext cx="172910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135">
                <a:latin typeface="Calibri"/>
                <a:cs typeface="Calibri"/>
              </a:rPr>
              <a:t>Prediction</a:t>
            </a:r>
            <a:r>
              <a:rPr dirty="0" sz="1500" spc="175">
                <a:latin typeface="Calibri"/>
                <a:cs typeface="Calibri"/>
              </a:rPr>
              <a:t> </a:t>
            </a:r>
            <a:r>
              <a:rPr dirty="0" sz="1500" spc="140">
                <a:latin typeface="Calibri"/>
                <a:cs typeface="Calibri"/>
              </a:rPr>
              <a:t>results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8863" y="2523303"/>
            <a:ext cx="1081405" cy="44323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70"/>
              </a:spcBef>
            </a:pPr>
            <a:r>
              <a:rPr dirty="0" sz="850" spc="10">
                <a:latin typeface="Calibri"/>
                <a:cs typeface="Calibri"/>
              </a:rPr>
              <a:t>Prediction</a:t>
            </a:r>
            <a:r>
              <a:rPr dirty="0" sz="850" spc="170"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242424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700" spc="60">
                <a:latin typeface="Calibri"/>
                <a:cs typeface="Calibri"/>
              </a:rPr>
              <a:t>Regression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8413" y="5262419"/>
            <a:ext cx="495300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Arial MT"/>
                <a:cs typeface="Arial MT"/>
              </a:rPr>
              <a:t>15168.63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1565" y="5423706"/>
            <a:ext cx="83820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latin typeface="Calibri"/>
                <a:cs typeface="Calibri"/>
              </a:rPr>
              <a:t>Prediction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value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4384" y="5248720"/>
            <a:ext cx="5029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70">
                <a:solidFill>
                  <a:srgbClr val="080808"/>
                </a:solidFill>
                <a:latin typeface="Courier New"/>
                <a:cs typeface="Courier New"/>
              </a:rPr>
              <a:t>15i83.40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52436" y="2469419"/>
            <a:ext cx="1816735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110" marR="5080" indent="-233045">
              <a:lnSpc>
                <a:spcPct val="141400"/>
              </a:lnSpc>
              <a:spcBef>
                <a:spcPts val="100"/>
              </a:spcBef>
              <a:tabLst>
                <a:tab pos="1229360" algn="l"/>
              </a:tabLst>
            </a:pPr>
            <a:r>
              <a:rPr dirty="0" sz="900">
                <a:latin typeface="Calibri"/>
                <a:cs typeface="Calibri"/>
              </a:rPr>
              <a:t>Display</a:t>
            </a:r>
            <a:r>
              <a:rPr dirty="0" sz="900" spc="4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C0C0C"/>
                </a:solidFill>
                <a:latin typeface="Calibri"/>
                <a:cs typeface="Calibri"/>
              </a:rPr>
              <a:t>format</a:t>
            </a:r>
            <a:r>
              <a:rPr dirty="0" sz="900" spc="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9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prediction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results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Table</a:t>
            </a:r>
            <a:r>
              <a:rPr dirty="0" sz="900" spc="24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view</a:t>
            </a:r>
            <a:r>
              <a:rPr dirty="0" sz="900">
                <a:latin typeface="Calibri"/>
                <a:cs typeface="Calibri"/>
              </a:rPr>
              <a:t>	</a:t>
            </a:r>
            <a:r>
              <a:rPr dirty="0" sz="900" spc="150">
                <a:latin typeface="Calibri"/>
                <a:cs typeface="Calibri"/>
              </a:rPr>
              <a:t>ISDN</a:t>
            </a:r>
            <a:r>
              <a:rPr dirty="0" sz="90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view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29900" y="3322059"/>
            <a:ext cx="74168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65">
                <a:latin typeface="Calibri"/>
                <a:cs typeface="Calibri"/>
              </a:rPr>
              <a:t>15183.40625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25873" y="3843543"/>
            <a:ext cx="1031240" cy="4387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>
                <a:latin typeface="Courier New"/>
                <a:cs typeface="Courier New"/>
              </a:rPr>
              <a:t>15181.568359375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950">
                <a:latin typeface="Courier New"/>
                <a:cs typeface="Courier New"/>
              </a:rPr>
              <a:t>1</a:t>
            </a:r>
            <a:r>
              <a:rPr dirty="0" sz="950" spc="480">
                <a:latin typeface="Courier New"/>
                <a:cs typeface="Courier New"/>
              </a:rPr>
              <a:t> </a:t>
            </a:r>
            <a:r>
              <a:rPr dirty="0" sz="950" spc="-10">
                <a:latin typeface="Courier New"/>
                <a:cs typeface="Courier New"/>
              </a:rPr>
              <a:t>S3.40G25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09427" y="1503166"/>
            <a:ext cx="42227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E59A1"/>
                </a:solidFill>
                <a:latin typeface="Calibri"/>
                <a:cs typeface="Calibri"/>
              </a:rPr>
              <a:t>upgrade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67976" y="2705959"/>
            <a:ext cx="80454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Calibri"/>
                <a:cs typeface="Calibri"/>
              </a:rPr>
              <a:t>Show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0A0A"/>
                </a:solidFill>
                <a:latin typeface="Calibri"/>
                <a:cs typeface="Calibri"/>
              </a:rPr>
              <a:t>input</a:t>
            </a:r>
            <a:r>
              <a:rPr dirty="0" sz="900" spc="-1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oata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7" y="1139952"/>
            <a:ext cx="10032492" cy="55763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0" y="3318856"/>
            <a:ext cx="4463934" cy="1500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344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himabindu kanuri</dc:creator>
  <dc:title>Microsoft PowerPoint - ANNAMDEVULA DP PROJECT 1</dc:title>
  <dcterms:created xsi:type="dcterms:W3CDTF">2026-06-12T14:33:47Z</dcterms:created>
  <dcterms:modified xsi:type="dcterms:W3CDTF">2026-06-12T14:33:47Z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LastSaved">
    <vt:filetime>2026-06-12T00:00:00Z</vt:filetime>
  </property>
  <property fmtid="{D5CDD505-2E9C-101B-9397-08002B2CF9AE}" pid="5" name="Producer">
    <vt:lpwstr>Microsoft: Print To PDF</vt:lpwstr>
  </property>
</Properties>
</file>